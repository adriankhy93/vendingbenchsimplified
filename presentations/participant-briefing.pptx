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participants. The deliverable is an agent harness: the software that turns model decisions into reliable business actions. This briefing is based on the current implementation. Event-specific submission and model policies are still to be announced. Suggested presentation time: about 20 minutes plus questions; reference slides are optional.</a:t>
            </a:r>
          </a:p>
          <a:p/>
          <a:p>
            <a:r>
              <a:t>Implementation references: README.md, plan.md sections 1, 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harness is more than a prompt. It includes orchestration, memory, provider integration, and error handling. Participants should not change the test definition or the simulation to improve a score. Model eligibility, compute allowances, and the submission interface will be announced by the organizers; do not imply they have already been finalized.</a:t>
            </a:r>
          </a:p>
          <a:p/>
          <a:p>
            <a:r>
              <a:t>Implementation references: src/harness/runner.py, src/vending/environments.py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pre-generated environment is an initial definition, not a running checkpoint. Each episode gets a separate environment ID and starts empty. Identical definitions and seeds reproduce the market; action choices change sales opportunities. Identical action sequences reproduce the business simulation until real-time expiry intervenes. The number of official repeats, compute conditions, and tie-breaks remain organizer decisions. Freeze these before comparing submissions.</a:t>
            </a:r>
          </a:p>
          <a:p/>
          <a:p>
            <a:r>
              <a:t>Implementation references: src/vending/environments.py, src/vending/registry.py, docs/environments.md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Observations expose the complete public catalog and initial listed quotes. Participants can discover costs by negotiating and demand by observing sales. Do not distribute the private test JSON, private service artifacts, or evaluator configuration to participant harnesses. The local MVP does not enforce this boundary through authentication or a sandbox; organizers must enforce it through deployment and file access. This operational point is expanded in the organizer checklist, not presented as an already implemented security guarantee.</a:t>
            </a:r>
          </a:p>
          <a:p/>
          <a:p>
            <a:r>
              <a:t>Implementation references: src/vending/engine.py: catalog and observe, plan.md sections 3, 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numeric settings here are current defaults, not guaranteed hidden-test settings. Catalog size, fees, machine shape, capacity, and action costs are configurable. The engine requires a positive selling price before stocking. There is no separate logistics pipeline. Purchases and inventory transfers are all-or-nothing.</a:t>
            </a:r>
          </a:p>
          <a:p/>
          <a:p>
            <a:r>
              <a:t>Implementation references: src/vending/config.py, src/vending/engine.py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demand tick is five minutes. An action applies its immediate effects first, then advances time and resolves sales. Status/result reads do not advance business time. The separate harness watchdog is slightly longer than the environment runtime to allow cleanup. Do not confuse that grace period with extra business time. The environment may terminate earlier after repeated fee failures.</a:t>
            </a:r>
          </a:p>
          <a:p/>
          <a:p>
            <a:r>
              <a:t>Implementation references: src/vending/engine.py: execute and advance, src/vending/registry.py, src/harness/runner.py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Accepted offers debit spendable cash and add a storage lot immediately. Counteroffers do neither. At midnight, available spendable cash pays existing fee arrears before the current fee; partial payment creates debt. A current fee not fully paid increments the failure streak. A fully paid current fee resets it. Uncollected machine cash cannot pay the fee automatically. Multiple slots raise availability but do not multiply demand.</a:t>
            </a:r>
          </a:p>
          <a:p/>
          <a:p>
            <a:r>
              <a:t>Implementation references: src/vending/engine.py: apply and advance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Suppliers follow deterministic policies. Patient suppliers counter out-of-range offers, impatient suppliers can return no_reply, and pushy-patient suppliers may add an upsell. This deck does not disclose particular supplier types, pair minimums, or category assignments in the test. Supplier stock is unlimited, but the quantity cap and spendable cash limit purchases. A no_reply outcome is not a network timeout.</a:t>
            </a:r>
          </a:p>
          <a:p/>
          <a:p>
            <a:r>
              <a:t>Implementation references: src/vending/suppliers.py, src/vending/engine.py: make_offer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is Poisson with a constant-elasticity price adjustment and a repeating day multiplier. The parameters are private. The diagram is qualitative, not a plot of hidden test demand. Product demand is independent with no substitution. Selling-price bounds are returned in the public catalog; the default range is 0.25 to 5 times reference, rounded to integer cents. Reference price is a comparison anchor, not a guarantee of the most profitable selling price.</a:t>
            </a:r>
          </a:p>
          <a:p/>
          <a:p>
            <a:r>
              <a:t>Implementation references: src/vending/demand.py, src/vending/engine.py: bounds and advance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unsold units are valued at their actual acquisition cost, in storage and in machine slots. Purchasing exchanges equal cash and inventory value and does not create immediate profit. Raising retail prices does not revalue stock. Cash collection and inventory transfers preserve score. Selling recognizes revenue minus acquisition cost; completed-day fees reduce net assets. Fee debt is subtracted so failing to pay does not improve the score. The example is invented arithmetic, not a test result.</a:t>
            </a:r>
          </a:p>
          <a:p/>
          <a:p>
            <a:r>
              <a:t>Implementation references: src/vending/scoring.py, src/vending/models.py: FIFO transfer, src/vending/engine.py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costs are configurable; read observe.rules.durations. Public reads implemented as actions cost time, unlike HTTP status/result reads. Avoid repeatedly observing everything when a smaller state update is sufficient. Unknown actions and schema errors do not advance simulated time. End-day called at midnight advances a full day. All effects and incidental sales are returned in the common action envelope.</a:t>
            </a:r>
          </a:p>
          <a:p/>
          <a:p>
            <a:r>
              <a:t>Implementation references: src/vending/config.py: DURATIONS, src/vending/models.py: ACTIONS, src/vending/engine.py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starter provides an HTTP client, three scripted policies, bounded deterministic context summaries, isolated Markdown memory, a runner, and an optional model adapter. Teams can redesign the harness rather than inherit every starter choice. Keep at most one environment action in flight. If a provider returns multiple tool calls, process them serially and stop on termination. A local memory write uses model tokens but no simulated minutes. Remember the model is a policy component inside a controlled execution loop.</a:t>
            </a:r>
          </a:p>
          <a:p/>
          <a:p>
            <a:r>
              <a:t>Implementation references: src/harness/runner.py, src/harness/context.py, src/harness/agents.py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identical action and payload with the same idempotency key replays while the environment is running, without a second purchase or time advance. A changed payload conflicts. After termination, known actions are rejected even for a replay key. Unknown actions remain 404. For 409, distinguish idempotency conflicts from unavailable lifecycle state by inspecting the error code and status. The current client retries transport errors at most twice; creation has no idempotency contract and should not be blindly retried. Timeout/expiry can occur during inference, so do not assume a tool call remains eligible after a long model response.</a:t>
            </a:r>
          </a:p>
          <a:p/>
          <a:p>
            <a:r>
              <a:t>Implementation references: src/harness/client.py, src/harness/watchdog.py, src/vending/registry.py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starter uses a conservative UTF-8 byte-based input reservation plus overhead. It can stop early instead of knowingly exceeding the budget. The 1,000 ceiling counts policy calls, not necessarily environment actions; the initialization observe is separate. The 100,000 target and two-hour duration have not been calibrated through a paid full-duration model run. Do not present them as a measured performance guarantee or a finalized event rule. Full-run score and incomplete/truncated diagnostics should remain distinguishable.</a:t>
            </a:r>
          </a:p>
          <a:p/>
          <a:p>
            <a:r>
              <a:t>Implementation references: src/harness/runner.py: RunConfig and run, docs/calibration.md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action that crosses midnight retains its model cost on the day inference began. Invalid/empty responses, local memory writes, and failures still count toward token usage. A call which is never executed after a stop is logged as a no-action record so totals reconcile. The new action fields are start_sim_time and token_usage, with model_call and attribution. Usage records carry simulated decision time; summary.usage.tokens_by_day stores daily totals. Input token usage includes provider-reported cached input where available.</a:t>
            </a:r>
          </a:p>
          <a:p/>
          <a:p>
            <a:r>
              <a:t>Implementation references: src/harness/usage.py, src/harness/runner.py, src/viewer/tokens.py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these commands from the repository root with a Python environment activated. Use python3 -m venv .venv first if appropriate. The test extra contains pytest, not the optional model SDK. Idle, listed, and negotiating policies need no model credentials. Teams implementing their own harness can reuse typed action schemas and the HTTP client. Private test definitions should remain with the evaluator; the saved-environment convenience command reads local definition files and is a development workflow, not an isolated grading boundary.</a:t>
            </a:r>
          </a:p>
          <a:p/>
          <a:p>
            <a:r>
              <a:t>Implementation references: README.md, scripts/run_environment.sh, scripts/view_runs.sh, pyproject.toml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dashboard to find one concrete failure mode: redundant observations, unfunded purchases, too little fee liquidity, slow decisions, or context growing faster than useful progress. The machine display is the last observed snapshot, not a reconstructed final inventory. Unfinished means no final summary was written and does not prove the process is still alive. Truncated scores can come from trusted pre-deletion snapshots and remain explicitly incomplete. A human may inspect practice configuration, but the test evaluator view is not an extra tool for participant policies.</a:t>
            </a:r>
          </a:p>
          <a:p/>
          <a:p>
            <a:r>
              <a:t>Implementation references: src/viewer/api.py, src/viewer/store.py, README.md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recommended readiness checklist, not a finalized submission contract. Organizers must announce the invocation protocol, lifecycle ownership, model allowance, runtime/token enforcement, test repeats, deadline, and treatment of truncated or infrastructure-failed runs. The supplied runner writes config.json, actions.jsonl, usage.jsonl, memory.md, and summary.json; participant harnesses should preserve equivalent auditability under the final contract. Close the core briefing by inviting questions about the environment interface and the harness boundary.</a:t>
            </a:r>
          </a:p>
          <a:p/>
          <a:p>
            <a:r>
              <a:t>Implementation references: plan.md section 9, src/harness/runner.py, README.md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Known actions return 410 on ended environments and 409 on unavailable ones. Unknown IDs/actions are 404. Invalid JSON is 400; schema/identifier errors are 422. Domain refusals are ordinary 200 results. Status contains only state; it does not contain a score. Retrieve result before deletion. If the harness stops while running, a trusted service-side deletion snapshot supports truncated accounting; there is no post-delete result endpoint. Exactly who owns creation and deletion during the event must be specified in the organizer's test handoff.</a:t>
            </a:r>
          </a:p>
          <a:p/>
          <a:p>
            <a:r>
              <a:t>Implementation references: src/vending/api.py, src/vending/registry.py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to src/vending/models.py for the shared typed schemas. Quantities and offer prices must be positive integers, and the configured quantity cap applies. Selling prices must respect the product's public bounds. Boolean values are not valid integer amounts. A 200 response includes action_id, state, sim_time, elapsed_minutes, result, events, metrics, and termination_reason, with score on terminal accepted actions. There is no arbitrary Python method dispatch or hidden evaluator action available to the policy.</a:t>
            </a:r>
          </a:p>
          <a:p/>
          <a:p>
            <a:r>
              <a:t>Implementation references: src/vending/models.py, src/vending/engine.py: validate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invented interaction, not a revealed test quote. The response omits envelope fields and counteroffer terms for readability. To accept the counteroffer, submit a new make_offer action with a new idempotency key because its payload differs. Only retries of the identical original request reuse purchase-0001. Log the actual full response and preserve its incidental sales events.</a:t>
            </a:r>
          </a:p>
          <a:p/>
          <a:p>
            <a:r>
              <a:t>Implementation references: src/vending/models.py, src/vending/engine.py, src/harness/client.py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CAEFA1"/>
                </a:solidFill>
                <a:latin typeface="DejaVu Sans"/>
              </a:defRPr>
            </a:pPr>
            <a:r>
              <a:t>PARTICIPANT BRIEFING</a:t>
            </a:r>
          </a:p>
        </p:txBody>
      </p:sp>
      <p:sp>
        <p:nvSpPr>
          <p:cNvPr id="4" name="Rectangle 3"/>
          <p:cNvSpPr/>
          <p:nvPr/>
        </p:nvSpPr>
        <p:spPr>
          <a:xfrm>
            <a:off x="660400" y="965200"/>
            <a:ext cx="762000" cy="63500"/>
          </a:xfrm>
          <a:prstGeom prst="rect">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0400" y="1485900"/>
            <a:ext cx="7747000" cy="2184400"/>
          </a:xfrm>
          <a:prstGeom prst="rect">
            <a:avLst/>
          </a:prstGeom>
          <a:noFill/>
        </p:spPr>
        <p:txBody>
          <a:bodyPr wrap="none" lIns="0" rIns="0" tIns="0" bIns="0">
            <a:spAutoFit/>
          </a:bodyPr>
          <a:lstStyle/>
          <a:p>
            <a:pPr>
              <a:lnSpc>
                <a:spcPts val="5473"/>
              </a:lnSpc>
              <a:spcBef>
                <a:spcPts val="0"/>
              </a:spcBef>
              <a:spcAft>
                <a:spcPts val="0"/>
              </a:spcAft>
              <a:defRPr sz="4600" b="1">
                <a:solidFill>
                  <a:srgbClr val="FFFFFF"/>
                </a:solidFill>
                <a:latin typeface="DejaVu Sans"/>
              </a:defRPr>
            </a:pPr>
            <a:r>
              <a:t>Build the harness.</a:t>
            </a:r>
          </a:p>
          <a:p>
            <a:pPr>
              <a:lnSpc>
                <a:spcPts val="5473"/>
              </a:lnSpc>
              <a:spcBef>
                <a:spcPts val="0"/>
              </a:spcBef>
              <a:spcAft>
                <a:spcPts val="0"/>
              </a:spcAft>
              <a:defRPr sz="4600" b="1">
                <a:solidFill>
                  <a:srgbClr val="FFFFFF"/>
                </a:solidFill>
                <a:latin typeface="DejaVu Sans"/>
              </a:defRPr>
            </a:pPr>
            <a:r>
              <a:t>Run the business.</a:t>
            </a:r>
          </a:p>
        </p:txBody>
      </p:sp>
      <p:sp>
        <p:nvSpPr>
          <p:cNvPr id="6" name="TextBox 5"/>
          <p:cNvSpPr txBox="1"/>
          <p:nvPr/>
        </p:nvSpPr>
        <p:spPr>
          <a:xfrm>
            <a:off x="698500" y="3822700"/>
            <a:ext cx="6731000" cy="546100"/>
          </a:xfrm>
          <a:prstGeom prst="rect">
            <a:avLst/>
          </a:prstGeom>
          <a:noFill/>
        </p:spPr>
        <p:txBody>
          <a:bodyPr wrap="none" lIns="0" rIns="0" tIns="0" bIns="0">
            <a:spAutoFit/>
          </a:bodyPr>
          <a:lstStyle/>
          <a:p>
            <a:pPr>
              <a:lnSpc>
                <a:spcPts val="2413"/>
              </a:lnSpc>
              <a:spcBef>
                <a:spcPts val="0"/>
              </a:spcBef>
              <a:spcAft>
                <a:spcPts val="0"/>
              </a:spcAft>
              <a:defRPr sz="1900" b="0">
                <a:solidFill>
                  <a:srgbClr val="CAEFA1"/>
                </a:solidFill>
                <a:latin typeface="DejaVu Sans"/>
              </a:defRPr>
            </a:pPr>
            <a:r>
              <a:t>Vending Bench · Harness Design Challenge</a:t>
            </a:r>
          </a:p>
        </p:txBody>
      </p:sp>
      <p:sp>
        <p:nvSpPr>
          <p:cNvPr id="7" name="TextBox 6"/>
          <p:cNvSpPr txBox="1"/>
          <p:nvPr/>
        </p:nvSpPr>
        <p:spPr>
          <a:xfrm>
            <a:off x="698500" y="4610100"/>
            <a:ext cx="6477000" cy="977900"/>
          </a:xfrm>
          <a:prstGeom prst="rect">
            <a:avLst/>
          </a:prstGeom>
          <a:noFill/>
        </p:spPr>
        <p:txBody>
          <a:bodyPr wrap="none" lIns="0" rIns="0" tIns="0" bIns="0">
            <a:spAutoFit/>
          </a:bodyPr>
          <a:lstStyle/>
          <a:p>
            <a:pPr>
              <a:lnSpc>
                <a:spcPts val="2940"/>
              </a:lnSpc>
              <a:spcBef>
                <a:spcPts val="0"/>
              </a:spcBef>
              <a:spcAft>
                <a:spcPts val="0"/>
              </a:spcAft>
              <a:defRPr sz="2100" b="0">
                <a:solidFill>
                  <a:srgbClr val="FFFFFF"/>
                </a:solidFill>
                <a:latin typeface="DejaVu Sans"/>
              </a:defRPr>
            </a:pPr>
            <a:r>
              <a:t>Your system will operate a vending machine in</a:t>
            </a:r>
          </a:p>
          <a:p>
            <a:pPr>
              <a:lnSpc>
                <a:spcPts val="2940"/>
              </a:lnSpc>
              <a:spcBef>
                <a:spcPts val="0"/>
              </a:spcBef>
              <a:spcAft>
                <a:spcPts val="0"/>
              </a:spcAft>
              <a:defRPr sz="2100" b="0">
                <a:solidFill>
                  <a:srgbClr val="FFFFFF"/>
                </a:solidFill>
                <a:latin typeface="DejaVu Sans"/>
              </a:defRPr>
            </a:pPr>
            <a:r>
              <a:t>an organizer-selected test environment.</a:t>
            </a:r>
          </a:p>
        </p:txBody>
      </p:sp>
      <p:sp>
        <p:nvSpPr>
          <p:cNvPr id="8" name="Rounded Rectangle 7"/>
          <p:cNvSpPr/>
          <p:nvPr/>
        </p:nvSpPr>
        <p:spPr>
          <a:xfrm>
            <a:off x="8559800" y="1117600"/>
            <a:ext cx="2768600" cy="4381500"/>
          </a:xfrm>
          <a:prstGeom prst="roundRect">
            <a:avLst>
              <a:gd name="adj" fmla="val 8256"/>
            </a:avLst>
          </a:prstGeom>
          <a:solidFill>
            <a:srgbClr val="193F45"/>
          </a:solidFill>
          <a:ln w="8890">
            <a:solidFill>
              <a:srgbClr val="3553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801100" y="1435100"/>
            <a:ext cx="2286000" cy="4191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04300" y="1562100"/>
            <a:ext cx="2032000" cy="215900"/>
          </a:xfrm>
          <a:prstGeom prst="rect">
            <a:avLst/>
          </a:prstGeom>
          <a:noFill/>
        </p:spPr>
        <p:txBody>
          <a:bodyPr wrap="none" lIns="0" rIns="0" tIns="0" bIns="0">
            <a:spAutoFit/>
          </a:bodyPr>
          <a:lstStyle/>
          <a:p>
            <a:pPr>
              <a:lnSpc>
                <a:spcPts val="1524"/>
              </a:lnSpc>
              <a:spcBef>
                <a:spcPts val="0"/>
              </a:spcBef>
              <a:spcAft>
                <a:spcPts val="0"/>
              </a:spcAft>
              <a:defRPr sz="1200" b="1">
                <a:solidFill>
                  <a:srgbClr val="173A42"/>
                </a:solidFill>
                <a:latin typeface="DejaVu Sans"/>
              </a:defRPr>
            </a:pPr>
            <a:r>
              <a:t>YOUR AGENT</a:t>
            </a:r>
          </a:p>
        </p:txBody>
      </p:sp>
      <p:sp>
        <p:nvSpPr>
          <p:cNvPr id="11" name="Rounded Rectangle 10"/>
          <p:cNvSpPr/>
          <p:nvPr/>
        </p:nvSpPr>
        <p:spPr>
          <a:xfrm>
            <a:off x="8813800" y="21336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029700" y="2235200"/>
            <a:ext cx="190500" cy="2794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75800" y="21336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791700" y="2235200"/>
            <a:ext cx="190500" cy="279400"/>
          </a:xfrm>
          <a:prstGeom prst="roundRect">
            <a:avLst>
              <a:gd name="adj" fmla="val 15000"/>
            </a:avLst>
          </a:prstGeom>
          <a:solidFill>
            <a:srgbClr val="71A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337800" y="21336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553700" y="2235200"/>
            <a:ext cx="190500" cy="279400"/>
          </a:xfrm>
          <a:prstGeom prst="roundRect">
            <a:avLst>
              <a:gd name="adj" fmla="val 15000"/>
            </a:avLst>
          </a:prstGeom>
          <a:solidFill>
            <a:srgbClr val="71A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13800" y="27305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29700" y="2832100"/>
            <a:ext cx="190500" cy="279400"/>
          </a:xfrm>
          <a:prstGeom prst="roundRect">
            <a:avLst>
              <a:gd name="adj" fmla="val 15000"/>
            </a:avLst>
          </a:prstGeom>
          <a:solidFill>
            <a:srgbClr val="71A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75800" y="27305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91700" y="2832100"/>
            <a:ext cx="190500" cy="279400"/>
          </a:xfrm>
          <a:prstGeom prst="roundRect">
            <a:avLst>
              <a:gd name="adj" fmla="val 15000"/>
            </a:avLst>
          </a:prstGeom>
          <a:solidFill>
            <a:srgbClr val="71A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337800" y="27305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553700" y="2832100"/>
            <a:ext cx="190500" cy="2794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13800" y="33274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29700" y="3429000"/>
            <a:ext cx="190500" cy="279400"/>
          </a:xfrm>
          <a:prstGeom prst="roundRect">
            <a:avLst>
              <a:gd name="adj" fmla="val 15000"/>
            </a:avLst>
          </a:prstGeom>
          <a:solidFill>
            <a:srgbClr val="71A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75800" y="33274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91700" y="3429000"/>
            <a:ext cx="190500" cy="2794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337800" y="33274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553700" y="3429000"/>
            <a:ext cx="190500" cy="279400"/>
          </a:xfrm>
          <a:prstGeom prst="roundRect">
            <a:avLst>
              <a:gd name="adj" fmla="val 15000"/>
            </a:avLst>
          </a:prstGeom>
          <a:solidFill>
            <a:srgbClr val="71A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813800" y="39243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29700" y="4025900"/>
            <a:ext cx="190500" cy="2794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75800" y="39243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791700" y="4025900"/>
            <a:ext cx="190500" cy="279400"/>
          </a:xfrm>
          <a:prstGeom prst="roundRect">
            <a:avLst>
              <a:gd name="adj" fmla="val 15000"/>
            </a:avLst>
          </a:prstGeom>
          <a:solidFill>
            <a:srgbClr val="71A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337800" y="3924300"/>
            <a:ext cx="609600" cy="457200"/>
          </a:xfrm>
          <a:prstGeom prst="roundRect">
            <a:avLst>
              <a:gd name="adj" fmla="val 13888"/>
            </a:avLst>
          </a:prstGeom>
          <a:solidFill>
            <a:srgbClr val="294E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553700" y="4025900"/>
            <a:ext cx="190500" cy="279400"/>
          </a:xfrm>
          <a:prstGeom prst="roundRect">
            <a:avLst>
              <a:gd name="adj" fmla="val 15000"/>
            </a:avLst>
          </a:prstGeom>
          <a:solidFill>
            <a:srgbClr val="71A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839200" y="4749800"/>
            <a:ext cx="1524000" cy="203200"/>
          </a:xfrm>
          <a:prstGeom prst="roundRect">
            <a:avLst>
              <a:gd name="adj" fmla="val 15000"/>
            </a:avLst>
          </a:prstGeom>
          <a:solidFill>
            <a:srgbClr val="102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642600" y="4711700"/>
            <a:ext cx="254000" cy="2794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660400" y="6565900"/>
            <a:ext cx="10871200" cy="0"/>
          </a:xfrm>
          <a:prstGeom prst="line">
            <a:avLst/>
          </a:prstGeom>
          <a:ln w="8255">
            <a:solidFill>
              <a:srgbClr val="32515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A6C1C6"/>
                </a:solidFill>
                <a:latin typeface="DejaVu Sans"/>
              </a:defRPr>
            </a:pPr>
            <a:r>
              <a:t>VENDING BENCH  /  PARTICIPANT BRIEFING</a:t>
            </a:r>
          </a:p>
        </p:txBody>
      </p:sp>
      <p:sp>
        <p:nvSpPr>
          <p:cNvPr id="39" name="TextBox 38"/>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CAEFA1"/>
                </a:solidFill>
                <a:latin typeface="DejaVu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01 / THE ASSIGNMENT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You design the harness. We fix the market.</a:t>
            </a:r>
          </a:p>
        </p:txBody>
      </p:sp>
      <p:sp>
        <p:nvSpPr>
          <p:cNvPr id="5" name="Rounded Rectangle 4"/>
          <p:cNvSpPr/>
          <p:nvPr/>
        </p:nvSpPr>
        <p:spPr>
          <a:xfrm>
            <a:off x="660400" y="2209800"/>
            <a:ext cx="5308600" cy="3352800"/>
          </a:xfrm>
          <a:prstGeom prst="roundRect">
            <a:avLst>
              <a:gd name="adj" fmla="val 37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60400" y="2209800"/>
            <a:ext cx="5308600" cy="50800"/>
          </a:xfrm>
          <a:prstGeom prst="rect">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9800" y="24892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YOUR DESIGN SPACE</a:t>
            </a:r>
          </a:p>
        </p:txBody>
      </p:sp>
      <p:sp>
        <p:nvSpPr>
          <p:cNvPr id="8" name="Rounded Rectangle 7"/>
          <p:cNvSpPr/>
          <p:nvPr/>
        </p:nvSpPr>
        <p:spPr>
          <a:xfrm>
            <a:off x="939800" y="30734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8400" y="29972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Prompts and decision policy</a:t>
            </a:r>
          </a:p>
        </p:txBody>
      </p:sp>
      <p:sp>
        <p:nvSpPr>
          <p:cNvPr id="10" name="Rounded Rectangle 9"/>
          <p:cNvSpPr/>
          <p:nvPr/>
        </p:nvSpPr>
        <p:spPr>
          <a:xfrm>
            <a:off x="939800" y="3429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8400" y="3352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Context, memory, and planning</a:t>
            </a:r>
          </a:p>
        </p:txBody>
      </p:sp>
      <p:sp>
        <p:nvSpPr>
          <p:cNvPr id="12" name="Rounded Rectangle 11"/>
          <p:cNvSpPr/>
          <p:nvPr/>
        </p:nvSpPr>
        <p:spPr>
          <a:xfrm>
            <a:off x="939800" y="3784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8400" y="3708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Tool routing and validation</a:t>
            </a:r>
          </a:p>
        </p:txBody>
      </p:sp>
      <p:sp>
        <p:nvSpPr>
          <p:cNvPr id="14" name="Rounded Rectangle 13"/>
          <p:cNvSpPr/>
          <p:nvPr/>
        </p:nvSpPr>
        <p:spPr>
          <a:xfrm>
            <a:off x="939800" y="4140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8400" y="4064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Retries, budgets, and logging</a:t>
            </a:r>
          </a:p>
        </p:txBody>
      </p:sp>
      <p:sp>
        <p:nvSpPr>
          <p:cNvPr id="16" name="Rounded Rectangle 15"/>
          <p:cNvSpPr/>
          <p:nvPr/>
        </p:nvSpPr>
        <p:spPr>
          <a:xfrm>
            <a:off x="6223000" y="2209800"/>
            <a:ext cx="5308600" cy="3352800"/>
          </a:xfrm>
          <a:prstGeom prst="roundRect">
            <a:avLst>
              <a:gd name="adj" fmla="val 37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23000" y="2209800"/>
            <a:ext cx="5308600" cy="50800"/>
          </a:xfrm>
          <a:prstGeom prst="rect">
            <a:avLst/>
          </a:prstGeom>
          <a:solidFill>
            <a:srgbClr val="5E8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2400" y="24892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557079"/>
                </a:solidFill>
                <a:latin typeface="DejaVu Sans"/>
              </a:defRPr>
            </a:pPr>
            <a:r>
              <a:t>ORGANIZER-CONTROLLED TEST</a:t>
            </a:r>
          </a:p>
        </p:txBody>
      </p:sp>
      <p:sp>
        <p:nvSpPr>
          <p:cNvPr id="19" name="Rounded Rectangle 18"/>
          <p:cNvSpPr/>
          <p:nvPr/>
        </p:nvSpPr>
        <p:spPr>
          <a:xfrm>
            <a:off x="6502400" y="30734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1000" y="29972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Saved environment and seed</a:t>
            </a:r>
          </a:p>
        </p:txBody>
      </p:sp>
      <p:sp>
        <p:nvSpPr>
          <p:cNvPr id="21" name="Rounded Rectangle 20"/>
          <p:cNvSpPr/>
          <p:nvPr/>
        </p:nvSpPr>
        <p:spPr>
          <a:xfrm>
            <a:off x="6502400" y="3429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1000" y="3352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Products, suppliers, and economics</a:t>
            </a:r>
          </a:p>
        </p:txBody>
      </p:sp>
      <p:sp>
        <p:nvSpPr>
          <p:cNvPr id="23" name="Rounded Rectangle 22"/>
          <p:cNvSpPr/>
          <p:nvPr/>
        </p:nvSpPr>
        <p:spPr>
          <a:xfrm>
            <a:off x="6502400" y="3784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1000" y="3708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Machine rules and real-time deadline</a:t>
            </a:r>
          </a:p>
        </p:txBody>
      </p:sp>
      <p:sp>
        <p:nvSpPr>
          <p:cNvPr id="25" name="Rounded Rectangle 24"/>
          <p:cNvSpPr/>
          <p:nvPr/>
        </p:nvSpPr>
        <p:spPr>
          <a:xfrm>
            <a:off x="6502400" y="4140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31000" y="4064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Evaluation access and run conditions</a:t>
            </a:r>
          </a:p>
        </p:txBody>
      </p:sp>
      <p:sp>
        <p:nvSpPr>
          <p:cNvPr id="27" name="Rounded Rectangle 26"/>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Optimize final net assets using the public interaction interface.</a:t>
            </a:r>
          </a:p>
        </p:txBody>
      </p:sp>
      <p:cxnSp>
        <p:nvCxnSpPr>
          <p:cNvPr id="29" name="Connector 28"/>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1" name="TextBox 30"/>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01 / THE ASSIGNMENT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One saved definition. A fresh episode each run.</a:t>
            </a:r>
          </a:p>
        </p:txBody>
      </p:sp>
      <p:sp>
        <p:nvSpPr>
          <p:cNvPr id="5" name="Rounded Rectangle 4"/>
          <p:cNvSpPr/>
          <p:nvPr/>
        </p:nvSpPr>
        <p:spPr>
          <a:xfrm>
            <a:off x="660400" y="2349500"/>
            <a:ext cx="2555875" cy="2971800"/>
          </a:xfrm>
          <a:prstGeom prst="roundRect">
            <a:avLst>
              <a:gd name="adj" fmla="val 496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89000"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7900"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01</a:t>
            </a:r>
          </a:p>
        </p:txBody>
      </p:sp>
      <p:sp>
        <p:nvSpPr>
          <p:cNvPr id="8" name="TextBox 7"/>
          <p:cNvSpPr txBox="1"/>
          <p:nvPr/>
        </p:nvSpPr>
        <p:spPr>
          <a:xfrm>
            <a:off x="889000" y="3314700"/>
            <a:ext cx="2098675" cy="419100"/>
          </a:xfrm>
          <a:prstGeom prst="rect">
            <a:avLst/>
          </a:prstGeom>
          <a:noFill/>
        </p:spPr>
        <p:txBody>
          <a:bodyPr wrap="none" lIns="0" rIns="0" tIns="0" bIns="0">
            <a:spAutoFit/>
          </a:bodyPr>
          <a:lstStyle/>
          <a:p>
            <a:pPr>
              <a:lnSpc>
                <a:spcPts val="2794"/>
              </a:lnSpc>
              <a:spcBef>
                <a:spcPts val="0"/>
              </a:spcBef>
              <a:spcAft>
                <a:spcPts val="0"/>
              </a:spcAft>
              <a:defRPr sz="2200" b="1">
                <a:solidFill>
                  <a:srgbClr val="173A42"/>
                </a:solidFill>
                <a:latin typeface="DejaVu Sans"/>
              </a:defRPr>
            </a:pPr>
            <a:r>
              <a:t>Practice</a:t>
            </a:r>
          </a:p>
        </p:txBody>
      </p:sp>
      <p:sp>
        <p:nvSpPr>
          <p:cNvPr id="9" name="TextBox 8"/>
          <p:cNvSpPr txBox="1"/>
          <p:nvPr/>
        </p:nvSpPr>
        <p:spPr>
          <a:xfrm>
            <a:off x="889000" y="3873500"/>
            <a:ext cx="2098675" cy="1333500"/>
          </a:xfrm>
          <a:prstGeom prst="rect">
            <a:avLst/>
          </a:prstGeom>
          <a:noFill/>
        </p:spPr>
        <p:txBody>
          <a:bodyPr wrap="none" lIns="0" rIns="0" tIns="0" bIns="0">
            <a:spAutoFit/>
          </a:bodyPr>
          <a:lstStyle/>
          <a:p>
            <a:pPr>
              <a:lnSpc>
                <a:spcPts val="2261"/>
              </a:lnSpc>
              <a:spcBef>
                <a:spcPts val="0"/>
              </a:spcBef>
              <a:spcAft>
                <a:spcPts val="0"/>
              </a:spcAft>
              <a:defRPr sz="1700" b="0">
                <a:solidFill>
                  <a:srgbClr val="173A42"/>
                </a:solidFill>
                <a:latin typeface="DejaVu Sans"/>
              </a:defRPr>
            </a:pPr>
            <a:r>
              <a:t>Develop on the</a:t>
            </a:r>
          </a:p>
          <a:p>
            <a:pPr>
              <a:lnSpc>
                <a:spcPts val="2261"/>
              </a:lnSpc>
              <a:spcBef>
                <a:spcPts val="0"/>
              </a:spcBef>
              <a:spcAft>
                <a:spcPts val="0"/>
              </a:spcAft>
              <a:defRPr sz="1700" b="0">
                <a:solidFill>
                  <a:srgbClr val="173A42"/>
                </a:solidFill>
                <a:latin typeface="DejaVu Sans"/>
              </a:defRPr>
            </a:pPr>
            <a:r>
              <a:t>supplied practice</a:t>
            </a:r>
          </a:p>
          <a:p>
            <a:pPr>
              <a:lnSpc>
                <a:spcPts val="2261"/>
              </a:lnSpc>
              <a:spcBef>
                <a:spcPts val="0"/>
              </a:spcBef>
              <a:spcAft>
                <a:spcPts val="0"/>
              </a:spcAft>
              <a:defRPr sz="1700" b="0">
                <a:solidFill>
                  <a:srgbClr val="173A42"/>
                </a:solidFill>
                <a:latin typeface="DejaVu Sans"/>
              </a:defRPr>
            </a:pPr>
            <a:r>
              <a:t>environment.</a:t>
            </a:r>
          </a:p>
        </p:txBody>
      </p:sp>
      <p:sp>
        <p:nvSpPr>
          <p:cNvPr id="10" name="TextBox 9"/>
          <p:cNvSpPr txBox="1"/>
          <p:nvPr/>
        </p:nvSpPr>
        <p:spPr>
          <a:xfrm>
            <a:off x="3267075"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11" name="Rounded Rectangle 10"/>
          <p:cNvSpPr/>
          <p:nvPr/>
        </p:nvSpPr>
        <p:spPr>
          <a:xfrm>
            <a:off x="3432175" y="2349500"/>
            <a:ext cx="2555875" cy="2971800"/>
          </a:xfrm>
          <a:prstGeom prst="roundRect">
            <a:avLst>
              <a:gd name="adj" fmla="val 496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60775"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675"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02</a:t>
            </a:r>
          </a:p>
        </p:txBody>
      </p:sp>
      <p:sp>
        <p:nvSpPr>
          <p:cNvPr id="14" name="TextBox 13"/>
          <p:cNvSpPr txBox="1"/>
          <p:nvPr/>
        </p:nvSpPr>
        <p:spPr>
          <a:xfrm>
            <a:off x="3660775" y="3314700"/>
            <a:ext cx="2098675" cy="419100"/>
          </a:xfrm>
          <a:prstGeom prst="rect">
            <a:avLst/>
          </a:prstGeom>
          <a:noFill/>
        </p:spPr>
        <p:txBody>
          <a:bodyPr wrap="none" lIns="0" rIns="0" tIns="0" bIns="0">
            <a:spAutoFit/>
          </a:bodyPr>
          <a:lstStyle/>
          <a:p>
            <a:pPr>
              <a:lnSpc>
                <a:spcPts val="2794"/>
              </a:lnSpc>
              <a:spcBef>
                <a:spcPts val="0"/>
              </a:spcBef>
              <a:spcAft>
                <a:spcPts val="0"/>
              </a:spcAft>
              <a:defRPr sz="2200" b="1">
                <a:solidFill>
                  <a:srgbClr val="173A42"/>
                </a:solidFill>
                <a:latin typeface="DejaVu Sans"/>
              </a:defRPr>
            </a:pPr>
            <a:r>
              <a:t>Freeze</a:t>
            </a:r>
          </a:p>
        </p:txBody>
      </p:sp>
      <p:sp>
        <p:nvSpPr>
          <p:cNvPr id="15" name="TextBox 14"/>
          <p:cNvSpPr txBox="1"/>
          <p:nvPr/>
        </p:nvSpPr>
        <p:spPr>
          <a:xfrm>
            <a:off x="3660775" y="3873500"/>
            <a:ext cx="2098675" cy="1333500"/>
          </a:xfrm>
          <a:prstGeom prst="rect">
            <a:avLst/>
          </a:prstGeom>
          <a:noFill/>
        </p:spPr>
        <p:txBody>
          <a:bodyPr wrap="none" lIns="0" rIns="0" tIns="0" bIns="0">
            <a:spAutoFit/>
          </a:bodyPr>
          <a:lstStyle/>
          <a:p>
            <a:pPr>
              <a:lnSpc>
                <a:spcPts val="2261"/>
              </a:lnSpc>
              <a:spcBef>
                <a:spcPts val="0"/>
              </a:spcBef>
              <a:spcAft>
                <a:spcPts val="0"/>
              </a:spcAft>
              <a:defRPr sz="1700" b="0">
                <a:solidFill>
                  <a:srgbClr val="173A42"/>
                </a:solidFill>
                <a:latin typeface="DejaVu Sans"/>
              </a:defRPr>
            </a:pPr>
            <a:r>
              <a:t>Package the</a:t>
            </a:r>
          </a:p>
          <a:p>
            <a:pPr>
              <a:lnSpc>
                <a:spcPts val="2261"/>
              </a:lnSpc>
              <a:spcBef>
                <a:spcPts val="0"/>
              </a:spcBef>
              <a:spcAft>
                <a:spcPts val="0"/>
              </a:spcAft>
              <a:defRPr sz="1700" b="0">
                <a:solidFill>
                  <a:srgbClr val="173A42"/>
                </a:solidFill>
                <a:latin typeface="DejaVu Sans"/>
              </a:defRPr>
            </a:pPr>
            <a:r>
              <a:t>harness and record</a:t>
            </a:r>
          </a:p>
          <a:p>
            <a:pPr>
              <a:lnSpc>
                <a:spcPts val="2261"/>
              </a:lnSpc>
              <a:spcBef>
                <a:spcPts val="0"/>
              </a:spcBef>
              <a:spcAft>
                <a:spcPts val="0"/>
              </a:spcAft>
              <a:defRPr sz="1700" b="0">
                <a:solidFill>
                  <a:srgbClr val="173A42"/>
                </a:solidFill>
                <a:latin typeface="DejaVu Sans"/>
              </a:defRPr>
            </a:pPr>
            <a:r>
              <a:t>its configuration.</a:t>
            </a:r>
          </a:p>
        </p:txBody>
      </p:sp>
      <p:sp>
        <p:nvSpPr>
          <p:cNvPr id="16" name="TextBox 15"/>
          <p:cNvSpPr txBox="1"/>
          <p:nvPr/>
        </p:nvSpPr>
        <p:spPr>
          <a:xfrm>
            <a:off x="6038850"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17" name="Rounded Rectangle 16"/>
          <p:cNvSpPr/>
          <p:nvPr/>
        </p:nvSpPr>
        <p:spPr>
          <a:xfrm>
            <a:off x="6203950" y="2349500"/>
            <a:ext cx="2555875" cy="2971800"/>
          </a:xfrm>
          <a:prstGeom prst="roundRect">
            <a:avLst>
              <a:gd name="adj" fmla="val 496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32550"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21450"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03</a:t>
            </a:r>
          </a:p>
        </p:txBody>
      </p:sp>
      <p:sp>
        <p:nvSpPr>
          <p:cNvPr id="20" name="TextBox 19"/>
          <p:cNvSpPr txBox="1"/>
          <p:nvPr/>
        </p:nvSpPr>
        <p:spPr>
          <a:xfrm>
            <a:off x="6432550" y="3314700"/>
            <a:ext cx="2098675" cy="419100"/>
          </a:xfrm>
          <a:prstGeom prst="rect">
            <a:avLst/>
          </a:prstGeom>
          <a:noFill/>
        </p:spPr>
        <p:txBody>
          <a:bodyPr wrap="none" lIns="0" rIns="0" tIns="0" bIns="0">
            <a:spAutoFit/>
          </a:bodyPr>
          <a:lstStyle/>
          <a:p>
            <a:pPr>
              <a:lnSpc>
                <a:spcPts val="2794"/>
              </a:lnSpc>
              <a:spcBef>
                <a:spcPts val="0"/>
              </a:spcBef>
              <a:spcAft>
                <a:spcPts val="0"/>
              </a:spcAft>
              <a:defRPr sz="2200" b="1">
                <a:solidFill>
                  <a:srgbClr val="173A42"/>
                </a:solidFill>
                <a:latin typeface="DejaVu Sans"/>
              </a:defRPr>
            </a:pPr>
            <a:r>
              <a:t>Evaluate</a:t>
            </a:r>
          </a:p>
        </p:txBody>
      </p:sp>
      <p:sp>
        <p:nvSpPr>
          <p:cNvPr id="21" name="TextBox 20"/>
          <p:cNvSpPr txBox="1"/>
          <p:nvPr/>
        </p:nvSpPr>
        <p:spPr>
          <a:xfrm>
            <a:off x="6432550" y="3873500"/>
            <a:ext cx="2098675" cy="1333500"/>
          </a:xfrm>
          <a:prstGeom prst="rect">
            <a:avLst/>
          </a:prstGeom>
          <a:noFill/>
        </p:spPr>
        <p:txBody>
          <a:bodyPr wrap="none" lIns="0" rIns="0" tIns="0" bIns="0">
            <a:spAutoFit/>
          </a:bodyPr>
          <a:lstStyle/>
          <a:p>
            <a:pPr>
              <a:lnSpc>
                <a:spcPts val="2261"/>
              </a:lnSpc>
              <a:spcBef>
                <a:spcPts val="0"/>
              </a:spcBef>
              <a:spcAft>
                <a:spcPts val="0"/>
              </a:spcAft>
              <a:defRPr sz="1700" b="0">
                <a:solidFill>
                  <a:srgbClr val="173A42"/>
                </a:solidFill>
                <a:latin typeface="DejaVu Sans"/>
              </a:defRPr>
            </a:pPr>
            <a:r>
              <a:t>Run against the</a:t>
            </a:r>
          </a:p>
          <a:p>
            <a:pPr>
              <a:lnSpc>
                <a:spcPts val="2261"/>
              </a:lnSpc>
              <a:spcBef>
                <a:spcPts val="0"/>
              </a:spcBef>
              <a:spcAft>
                <a:spcPts val="0"/>
              </a:spcAft>
              <a:defRPr sz="1700" b="0">
                <a:solidFill>
                  <a:srgbClr val="173A42"/>
                </a:solidFill>
                <a:latin typeface="DejaVu Sans"/>
              </a:defRPr>
            </a:pPr>
            <a:r>
              <a:t>organizer-selected</a:t>
            </a:r>
          </a:p>
          <a:p>
            <a:pPr>
              <a:lnSpc>
                <a:spcPts val="2261"/>
              </a:lnSpc>
              <a:spcBef>
                <a:spcPts val="0"/>
              </a:spcBef>
              <a:spcAft>
                <a:spcPts val="0"/>
              </a:spcAft>
              <a:defRPr sz="1700" b="0">
                <a:solidFill>
                  <a:srgbClr val="173A42"/>
                </a:solidFill>
                <a:latin typeface="DejaVu Sans"/>
              </a:defRPr>
            </a:pPr>
            <a:r>
              <a:t>test definition.</a:t>
            </a:r>
          </a:p>
        </p:txBody>
      </p:sp>
      <p:sp>
        <p:nvSpPr>
          <p:cNvPr id="22" name="TextBox 21"/>
          <p:cNvSpPr txBox="1"/>
          <p:nvPr/>
        </p:nvSpPr>
        <p:spPr>
          <a:xfrm>
            <a:off x="8810625"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23" name="Rounded Rectangle 22"/>
          <p:cNvSpPr/>
          <p:nvPr/>
        </p:nvSpPr>
        <p:spPr>
          <a:xfrm>
            <a:off x="8975725" y="2349500"/>
            <a:ext cx="2555875" cy="2971800"/>
          </a:xfrm>
          <a:prstGeom prst="roundRect">
            <a:avLst>
              <a:gd name="adj" fmla="val 496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04325"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3225"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04</a:t>
            </a:r>
          </a:p>
        </p:txBody>
      </p:sp>
      <p:sp>
        <p:nvSpPr>
          <p:cNvPr id="26" name="TextBox 25"/>
          <p:cNvSpPr txBox="1"/>
          <p:nvPr/>
        </p:nvSpPr>
        <p:spPr>
          <a:xfrm>
            <a:off x="9204325" y="3314700"/>
            <a:ext cx="2098675" cy="419100"/>
          </a:xfrm>
          <a:prstGeom prst="rect">
            <a:avLst/>
          </a:prstGeom>
          <a:noFill/>
        </p:spPr>
        <p:txBody>
          <a:bodyPr wrap="none" lIns="0" rIns="0" tIns="0" bIns="0">
            <a:spAutoFit/>
          </a:bodyPr>
          <a:lstStyle/>
          <a:p>
            <a:pPr>
              <a:lnSpc>
                <a:spcPts val="2794"/>
              </a:lnSpc>
              <a:spcBef>
                <a:spcPts val="0"/>
              </a:spcBef>
              <a:spcAft>
                <a:spcPts val="0"/>
              </a:spcAft>
              <a:defRPr sz="2200" b="1">
                <a:solidFill>
                  <a:srgbClr val="173A42"/>
                </a:solidFill>
                <a:latin typeface="DejaVu Sans"/>
              </a:defRPr>
            </a:pPr>
            <a:r>
              <a:t>Inspect</a:t>
            </a:r>
          </a:p>
        </p:txBody>
      </p:sp>
      <p:sp>
        <p:nvSpPr>
          <p:cNvPr id="27" name="TextBox 26"/>
          <p:cNvSpPr txBox="1"/>
          <p:nvPr/>
        </p:nvSpPr>
        <p:spPr>
          <a:xfrm>
            <a:off x="9204325" y="3873500"/>
            <a:ext cx="2098675" cy="1333500"/>
          </a:xfrm>
          <a:prstGeom prst="rect">
            <a:avLst/>
          </a:prstGeom>
          <a:noFill/>
        </p:spPr>
        <p:txBody>
          <a:bodyPr wrap="none" lIns="0" rIns="0" tIns="0" bIns="0">
            <a:spAutoFit/>
          </a:bodyPr>
          <a:lstStyle/>
          <a:p>
            <a:pPr>
              <a:lnSpc>
                <a:spcPts val="2261"/>
              </a:lnSpc>
              <a:spcBef>
                <a:spcPts val="0"/>
              </a:spcBef>
              <a:spcAft>
                <a:spcPts val="0"/>
              </a:spcAft>
              <a:defRPr sz="1700" b="0">
                <a:solidFill>
                  <a:srgbClr val="173A42"/>
                </a:solidFill>
                <a:latin typeface="DejaVu Sans"/>
              </a:defRPr>
            </a:pPr>
            <a:r>
              <a:t>Review the score,</a:t>
            </a:r>
          </a:p>
          <a:p>
            <a:pPr>
              <a:lnSpc>
                <a:spcPts val="2261"/>
              </a:lnSpc>
              <a:spcBef>
                <a:spcPts val="0"/>
              </a:spcBef>
              <a:spcAft>
                <a:spcPts val="0"/>
              </a:spcAft>
              <a:defRPr sz="1700" b="0">
                <a:solidFill>
                  <a:srgbClr val="173A42"/>
                </a:solidFill>
                <a:latin typeface="DejaVu Sans"/>
              </a:defRPr>
            </a:pPr>
            <a:r>
              <a:t>completion state,</a:t>
            </a:r>
          </a:p>
          <a:p>
            <a:pPr>
              <a:lnSpc>
                <a:spcPts val="2261"/>
              </a:lnSpc>
              <a:spcBef>
                <a:spcPts val="0"/>
              </a:spcBef>
              <a:spcAft>
                <a:spcPts val="0"/>
              </a:spcAft>
              <a:defRPr sz="1700" b="0">
                <a:solidFill>
                  <a:srgbClr val="173A42"/>
                </a:solidFill>
                <a:latin typeface="DejaVu Sans"/>
              </a:defRPr>
            </a:pPr>
            <a:r>
              <a:t>and action trace.</a:t>
            </a:r>
          </a:p>
        </p:txBody>
      </p:sp>
      <p:sp>
        <p:nvSpPr>
          <p:cNvPr id="28" name="Rounded Rectangle 27"/>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Reusing a definition resets cash, stock, simulated time, and the real-time deadline.</a:t>
            </a:r>
          </a:p>
        </p:txBody>
      </p:sp>
      <p:cxnSp>
        <p:nvCxnSpPr>
          <p:cNvPr id="30" name="Connector 29"/>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2" name="TextBox 31"/>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02 / THE ENVIRONMENT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Learn from quotes and realized sales.</a:t>
            </a:r>
          </a:p>
        </p:txBody>
      </p:sp>
      <p:sp>
        <p:nvSpPr>
          <p:cNvPr id="5" name="Rounded Rectangle 4"/>
          <p:cNvSpPr/>
          <p:nvPr/>
        </p:nvSpPr>
        <p:spPr>
          <a:xfrm>
            <a:off x="660400" y="2209800"/>
            <a:ext cx="5308600" cy="3352800"/>
          </a:xfrm>
          <a:prstGeom prst="roundRect">
            <a:avLst>
              <a:gd name="adj" fmla="val 37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60400" y="2209800"/>
            <a:ext cx="5308600" cy="50800"/>
          </a:xfrm>
          <a:prstGeom prst="rect">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9800" y="24892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AVAILABLE TO YOUR HARNESS</a:t>
            </a:r>
          </a:p>
        </p:txBody>
      </p:sp>
      <p:sp>
        <p:nvSpPr>
          <p:cNvPr id="8" name="Rounded Rectangle 7"/>
          <p:cNvSpPr/>
          <p:nvPr/>
        </p:nvSpPr>
        <p:spPr>
          <a:xfrm>
            <a:off x="939800" y="30734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8400" y="29972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Product names and reference prices</a:t>
            </a:r>
          </a:p>
        </p:txBody>
      </p:sp>
      <p:sp>
        <p:nvSpPr>
          <p:cNvPr id="10" name="Rounded Rectangle 9"/>
          <p:cNvSpPr/>
          <p:nvPr/>
        </p:nvSpPr>
        <p:spPr>
          <a:xfrm>
            <a:off x="939800" y="3429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8400" y="3352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Listed quotes and negotiation replies</a:t>
            </a:r>
          </a:p>
        </p:txBody>
      </p:sp>
      <p:sp>
        <p:nvSpPr>
          <p:cNvPr id="12" name="Rounded Rectangle 11"/>
          <p:cNvSpPr/>
          <p:nvPr/>
        </p:nvSpPr>
        <p:spPr>
          <a:xfrm>
            <a:off x="939800" y="3784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8400" y="3708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Balances, stock, and selling prices</a:t>
            </a:r>
          </a:p>
        </p:txBody>
      </p:sp>
      <p:sp>
        <p:nvSpPr>
          <p:cNvPr id="14" name="Rounded Rectangle 13"/>
          <p:cNvSpPr/>
          <p:nvPr/>
        </p:nvSpPr>
        <p:spPr>
          <a:xfrm>
            <a:off x="939800" y="4140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8400" y="4064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Realized sales, time costs, and rules</a:t>
            </a:r>
          </a:p>
        </p:txBody>
      </p:sp>
      <p:sp>
        <p:nvSpPr>
          <p:cNvPr id="16" name="Rounded Rectangle 15"/>
          <p:cNvSpPr/>
          <p:nvPr/>
        </p:nvSpPr>
        <p:spPr>
          <a:xfrm>
            <a:off x="6223000" y="2209800"/>
            <a:ext cx="5308600" cy="3352800"/>
          </a:xfrm>
          <a:prstGeom prst="roundRect">
            <a:avLst>
              <a:gd name="adj" fmla="val 37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23000" y="2209800"/>
            <a:ext cx="5308600" cy="50800"/>
          </a:xfrm>
          <a:prstGeom prst="rect">
            <a:avLst/>
          </a:prstGeom>
          <a:solidFill>
            <a:srgbClr val="5E8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2400" y="24892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557079"/>
                </a:solidFill>
                <a:latin typeface="DejaVu Sans"/>
              </a:defRPr>
            </a:pPr>
            <a:r>
              <a:t>KEPT WITH THE EVALUATOR</a:t>
            </a:r>
          </a:p>
        </p:txBody>
      </p:sp>
      <p:sp>
        <p:nvSpPr>
          <p:cNvPr id="19" name="Rounded Rectangle 18"/>
          <p:cNvSpPr/>
          <p:nvPr/>
        </p:nvSpPr>
        <p:spPr>
          <a:xfrm>
            <a:off x="6502400" y="30734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1000" y="29972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Supplier minimums and category labels</a:t>
            </a:r>
          </a:p>
        </p:txBody>
      </p:sp>
      <p:sp>
        <p:nvSpPr>
          <p:cNvPr id="21" name="Rounded Rectangle 20"/>
          <p:cNvSpPr/>
          <p:nvPr/>
        </p:nvSpPr>
        <p:spPr>
          <a:xfrm>
            <a:off x="6502400" y="3429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1000" y="3352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Latent demand and elasticity</a:t>
            </a:r>
          </a:p>
        </p:txBody>
      </p:sp>
      <p:sp>
        <p:nvSpPr>
          <p:cNvPr id="23" name="Rounded Rectangle 22"/>
          <p:cNvSpPr/>
          <p:nvPr/>
        </p:nvSpPr>
        <p:spPr>
          <a:xfrm>
            <a:off x="6502400" y="3784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1000" y="3708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Seed and future demand stream</a:t>
            </a:r>
          </a:p>
        </p:txBody>
      </p:sp>
      <p:sp>
        <p:nvSpPr>
          <p:cNvPr id="25" name="Rounded Rectangle 24"/>
          <p:cNvSpPr/>
          <p:nvPr/>
        </p:nvSpPr>
        <p:spPr>
          <a:xfrm>
            <a:off x="6502400" y="4140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31000" y="4064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Private test definition and service logs</a:t>
            </a:r>
          </a:p>
        </p:txBody>
      </p:sp>
      <p:sp>
        <p:nvSpPr>
          <p:cNvPr id="27" name="Rounded Rectangle 26"/>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Treat the public API as the information boundary for the test.</a:t>
            </a:r>
          </a:p>
        </p:txBody>
      </p:sp>
      <p:cxnSp>
        <p:nvCxnSpPr>
          <p:cNvPr id="29" name="Connector 28"/>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1" name="TextBox 30"/>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02 / THE ENVIRONMENT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A small business with tight operating</a:t>
            </a:r>
          </a:p>
          <a:p>
            <a:pPr>
              <a:lnSpc>
                <a:spcPts val="3596"/>
              </a:lnSpc>
              <a:spcBef>
                <a:spcPts val="0"/>
              </a:spcBef>
              <a:spcAft>
                <a:spcPts val="0"/>
              </a:spcAft>
              <a:defRPr sz="3100" b="1">
                <a:solidFill>
                  <a:srgbClr val="173A42"/>
                </a:solidFill>
                <a:latin typeface="DejaVu Sans"/>
              </a:defRPr>
            </a:pPr>
            <a:r>
              <a:t>constraints.</a:t>
            </a:r>
          </a:p>
        </p:txBody>
      </p:sp>
      <p:sp>
        <p:nvSpPr>
          <p:cNvPr id="5" name="Rounded Rectangle 4"/>
          <p:cNvSpPr/>
          <p:nvPr/>
        </p:nvSpPr>
        <p:spPr>
          <a:xfrm>
            <a:off x="660400" y="2247900"/>
            <a:ext cx="2565400"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2451100"/>
            <a:ext cx="2133600" cy="622300"/>
          </a:xfrm>
          <a:prstGeom prst="rect">
            <a:avLst/>
          </a:prstGeom>
          <a:noFill/>
        </p:spPr>
        <p:txBody>
          <a:bodyPr wrap="none" lIns="0" rIns="0" tIns="0" bIns="0">
            <a:spAutoFit/>
          </a:bodyPr>
          <a:lstStyle/>
          <a:p>
            <a:pPr>
              <a:lnSpc>
                <a:spcPts val="3429"/>
              </a:lnSpc>
              <a:spcBef>
                <a:spcPts val="0"/>
              </a:spcBef>
              <a:spcAft>
                <a:spcPts val="0"/>
              </a:spcAft>
              <a:defRPr sz="2700" b="1">
                <a:solidFill>
                  <a:srgbClr val="008C7B"/>
                </a:solidFill>
                <a:latin typeface="DejaVu Sans"/>
              </a:defRPr>
            </a:pPr>
            <a:r>
              <a:t>$500</a:t>
            </a:r>
          </a:p>
        </p:txBody>
      </p:sp>
      <p:sp>
        <p:nvSpPr>
          <p:cNvPr id="7" name="TextBox 6"/>
          <p:cNvSpPr txBox="1"/>
          <p:nvPr/>
        </p:nvSpPr>
        <p:spPr>
          <a:xfrm>
            <a:off x="876300" y="3187700"/>
            <a:ext cx="2133600" cy="546100"/>
          </a:xfrm>
          <a:prstGeom prst="rect">
            <a:avLst/>
          </a:prstGeom>
          <a:noFill/>
        </p:spPr>
        <p:txBody>
          <a:bodyPr wrap="none" lIns="0" rIns="0" tIns="0" bIns="0">
            <a:spAutoFit/>
          </a:bodyPr>
          <a:lstStyle/>
          <a:p>
            <a:pPr>
              <a:lnSpc>
                <a:spcPts val="1714"/>
              </a:lnSpc>
              <a:spcBef>
                <a:spcPts val="0"/>
              </a:spcBef>
              <a:spcAft>
                <a:spcPts val="0"/>
              </a:spcAft>
              <a:defRPr sz="1350" b="0">
                <a:solidFill>
                  <a:srgbClr val="557079"/>
                </a:solidFill>
                <a:latin typeface="DejaVu Sans"/>
              </a:defRPr>
            </a:pPr>
            <a:r>
              <a:t>Starting spendable cash</a:t>
            </a:r>
          </a:p>
        </p:txBody>
      </p:sp>
      <p:sp>
        <p:nvSpPr>
          <p:cNvPr id="8" name="Rounded Rectangle 7"/>
          <p:cNvSpPr/>
          <p:nvPr/>
        </p:nvSpPr>
        <p:spPr>
          <a:xfrm>
            <a:off x="3429000" y="2247900"/>
            <a:ext cx="2565400"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44900" y="2451100"/>
            <a:ext cx="2133600" cy="622300"/>
          </a:xfrm>
          <a:prstGeom prst="rect">
            <a:avLst/>
          </a:prstGeom>
          <a:noFill/>
        </p:spPr>
        <p:txBody>
          <a:bodyPr wrap="none" lIns="0" rIns="0" tIns="0" bIns="0">
            <a:spAutoFit/>
          </a:bodyPr>
          <a:lstStyle/>
          <a:p>
            <a:pPr>
              <a:lnSpc>
                <a:spcPts val="3429"/>
              </a:lnSpc>
              <a:spcBef>
                <a:spcPts val="0"/>
              </a:spcBef>
              <a:spcAft>
                <a:spcPts val="0"/>
              </a:spcAft>
              <a:defRPr sz="2700" b="1">
                <a:solidFill>
                  <a:srgbClr val="008C7B"/>
                </a:solidFill>
                <a:latin typeface="DejaVu Sans"/>
              </a:defRPr>
            </a:pPr>
            <a:r>
              <a:t>$2 / day</a:t>
            </a:r>
          </a:p>
        </p:txBody>
      </p:sp>
      <p:sp>
        <p:nvSpPr>
          <p:cNvPr id="10" name="TextBox 9"/>
          <p:cNvSpPr txBox="1"/>
          <p:nvPr/>
        </p:nvSpPr>
        <p:spPr>
          <a:xfrm>
            <a:off x="3644900" y="3187700"/>
            <a:ext cx="2133600" cy="546100"/>
          </a:xfrm>
          <a:prstGeom prst="rect">
            <a:avLst/>
          </a:prstGeom>
          <a:noFill/>
        </p:spPr>
        <p:txBody>
          <a:bodyPr wrap="none" lIns="0" rIns="0" tIns="0" bIns="0">
            <a:spAutoFit/>
          </a:bodyPr>
          <a:lstStyle/>
          <a:p>
            <a:pPr>
              <a:lnSpc>
                <a:spcPts val="1714"/>
              </a:lnSpc>
              <a:spcBef>
                <a:spcPts val="0"/>
              </a:spcBef>
              <a:spcAft>
                <a:spcPts val="0"/>
              </a:spcAft>
              <a:defRPr sz="1350" b="0">
                <a:solidFill>
                  <a:srgbClr val="557079"/>
                </a:solidFill>
                <a:latin typeface="DejaVu Sans"/>
              </a:defRPr>
            </a:pPr>
            <a:r>
              <a:t>Fee paid from</a:t>
            </a:r>
          </a:p>
          <a:p>
            <a:pPr>
              <a:lnSpc>
                <a:spcPts val="1714"/>
              </a:lnSpc>
              <a:spcBef>
                <a:spcPts val="0"/>
              </a:spcBef>
              <a:spcAft>
                <a:spcPts val="0"/>
              </a:spcAft>
              <a:defRPr sz="1350" b="0">
                <a:solidFill>
                  <a:srgbClr val="557079"/>
                </a:solidFill>
                <a:latin typeface="DejaVu Sans"/>
              </a:defRPr>
            </a:pPr>
            <a:r>
              <a:t>spendable cash</a:t>
            </a:r>
          </a:p>
        </p:txBody>
      </p:sp>
      <p:sp>
        <p:nvSpPr>
          <p:cNvPr id="11" name="Rounded Rectangle 10"/>
          <p:cNvSpPr/>
          <p:nvPr/>
        </p:nvSpPr>
        <p:spPr>
          <a:xfrm>
            <a:off x="6197600" y="2247900"/>
            <a:ext cx="2565400"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3500" y="2451100"/>
            <a:ext cx="2133600" cy="622300"/>
          </a:xfrm>
          <a:prstGeom prst="rect">
            <a:avLst/>
          </a:prstGeom>
          <a:noFill/>
        </p:spPr>
        <p:txBody>
          <a:bodyPr wrap="none" lIns="0" rIns="0" tIns="0" bIns="0">
            <a:spAutoFit/>
          </a:bodyPr>
          <a:lstStyle/>
          <a:p>
            <a:pPr>
              <a:lnSpc>
                <a:spcPts val="3429"/>
              </a:lnSpc>
              <a:spcBef>
                <a:spcPts val="0"/>
              </a:spcBef>
              <a:spcAft>
                <a:spcPts val="0"/>
              </a:spcAft>
              <a:defRPr sz="2700" b="1">
                <a:solidFill>
                  <a:srgbClr val="008C7B"/>
                </a:solidFill>
                <a:latin typeface="DejaVu Sans"/>
              </a:defRPr>
            </a:pPr>
            <a:r>
              <a:t>120 units</a:t>
            </a:r>
          </a:p>
        </p:txBody>
      </p:sp>
      <p:sp>
        <p:nvSpPr>
          <p:cNvPr id="13" name="TextBox 12"/>
          <p:cNvSpPr txBox="1"/>
          <p:nvPr/>
        </p:nvSpPr>
        <p:spPr>
          <a:xfrm>
            <a:off x="6413500" y="3187700"/>
            <a:ext cx="2133600" cy="546100"/>
          </a:xfrm>
          <a:prstGeom prst="rect">
            <a:avLst/>
          </a:prstGeom>
          <a:noFill/>
        </p:spPr>
        <p:txBody>
          <a:bodyPr wrap="none" lIns="0" rIns="0" tIns="0" bIns="0">
            <a:spAutoFit/>
          </a:bodyPr>
          <a:lstStyle/>
          <a:p>
            <a:pPr>
              <a:lnSpc>
                <a:spcPts val="1714"/>
              </a:lnSpc>
              <a:spcBef>
                <a:spcPts val="0"/>
              </a:spcBef>
              <a:spcAft>
                <a:spcPts val="0"/>
              </a:spcAft>
              <a:defRPr sz="1350" b="0">
                <a:solidFill>
                  <a:srgbClr val="557079"/>
                </a:solidFill>
                <a:latin typeface="DejaVu Sans"/>
              </a:defRPr>
            </a:pPr>
            <a:r>
              <a:t>4 rows × 3 slots × 10</a:t>
            </a:r>
          </a:p>
          <a:p>
            <a:pPr>
              <a:lnSpc>
                <a:spcPts val="1714"/>
              </a:lnSpc>
              <a:spcBef>
                <a:spcPts val="0"/>
              </a:spcBef>
              <a:spcAft>
                <a:spcPts val="0"/>
              </a:spcAft>
              <a:defRPr sz="1350" b="0">
                <a:solidFill>
                  <a:srgbClr val="557079"/>
                </a:solidFill>
                <a:latin typeface="DejaVu Sans"/>
              </a:defRPr>
            </a:pPr>
            <a:r>
              <a:t>units</a:t>
            </a:r>
          </a:p>
        </p:txBody>
      </p:sp>
      <p:sp>
        <p:nvSpPr>
          <p:cNvPr id="14" name="Rounded Rectangle 13"/>
          <p:cNvSpPr/>
          <p:nvPr/>
        </p:nvSpPr>
        <p:spPr>
          <a:xfrm>
            <a:off x="8966200" y="2247900"/>
            <a:ext cx="2565400"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2100" y="2451100"/>
            <a:ext cx="2133600" cy="622300"/>
          </a:xfrm>
          <a:prstGeom prst="rect">
            <a:avLst/>
          </a:prstGeom>
          <a:noFill/>
        </p:spPr>
        <p:txBody>
          <a:bodyPr wrap="none" lIns="0" rIns="0" tIns="0" bIns="0">
            <a:spAutoFit/>
          </a:bodyPr>
          <a:lstStyle/>
          <a:p>
            <a:pPr>
              <a:lnSpc>
                <a:spcPts val="3429"/>
              </a:lnSpc>
              <a:spcBef>
                <a:spcPts val="0"/>
              </a:spcBef>
              <a:spcAft>
                <a:spcPts val="0"/>
              </a:spcAft>
              <a:defRPr sz="2700" b="1">
                <a:solidFill>
                  <a:srgbClr val="008C7B"/>
                </a:solidFill>
                <a:latin typeface="DejaVu Sans"/>
              </a:defRPr>
            </a:pPr>
            <a:r>
              <a:t>10 + 10</a:t>
            </a:r>
          </a:p>
        </p:txBody>
      </p:sp>
      <p:sp>
        <p:nvSpPr>
          <p:cNvPr id="16" name="TextBox 15"/>
          <p:cNvSpPr txBox="1"/>
          <p:nvPr/>
        </p:nvSpPr>
        <p:spPr>
          <a:xfrm>
            <a:off x="9182100" y="3187700"/>
            <a:ext cx="2133600" cy="546100"/>
          </a:xfrm>
          <a:prstGeom prst="rect">
            <a:avLst/>
          </a:prstGeom>
          <a:noFill/>
        </p:spPr>
        <p:txBody>
          <a:bodyPr wrap="none" lIns="0" rIns="0" tIns="0" bIns="0">
            <a:spAutoFit/>
          </a:bodyPr>
          <a:lstStyle/>
          <a:p>
            <a:pPr>
              <a:lnSpc>
                <a:spcPts val="1714"/>
              </a:lnSpc>
              <a:spcBef>
                <a:spcPts val="0"/>
              </a:spcBef>
              <a:spcAft>
                <a:spcPts val="0"/>
              </a:spcAft>
              <a:defRPr sz="1350" b="0">
                <a:solidFill>
                  <a:srgbClr val="557079"/>
                </a:solidFill>
                <a:latin typeface="DejaVu Sans"/>
              </a:defRPr>
            </a:pPr>
            <a:r>
              <a:t>Products and suppliers</a:t>
            </a:r>
          </a:p>
        </p:txBody>
      </p:sp>
      <p:sp>
        <p:nvSpPr>
          <p:cNvPr id="17" name="Rounded Rectangle 16"/>
          <p:cNvSpPr/>
          <p:nvPr/>
        </p:nvSpPr>
        <p:spPr>
          <a:xfrm>
            <a:off x="736600" y="42037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5200" y="4127500"/>
            <a:ext cx="104648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One product per slot; several slots may hold the same product.</a:t>
            </a:r>
          </a:p>
        </p:txBody>
      </p:sp>
      <p:sp>
        <p:nvSpPr>
          <p:cNvPr id="19" name="Rounded Rectangle 18"/>
          <p:cNvSpPr/>
          <p:nvPr/>
        </p:nvSpPr>
        <p:spPr>
          <a:xfrm>
            <a:off x="736600" y="4648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5200" y="4572000"/>
            <a:ext cx="104648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Storage is unlimited. Delivery is immediate. Products do not spoil.</a:t>
            </a:r>
          </a:p>
        </p:txBody>
      </p:sp>
      <p:sp>
        <p:nvSpPr>
          <p:cNvPr id="21" name="Rounded Rectangle 20"/>
          <p:cNvSpPr/>
          <p:nvPr/>
        </p:nvSpPr>
        <p:spPr>
          <a:xfrm>
            <a:off x="736600" y="50927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5200" y="5016500"/>
            <a:ext cx="104648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Collect machine cash to make it spendable.</a:t>
            </a:r>
          </a:p>
        </p:txBody>
      </p:sp>
      <p:sp>
        <p:nvSpPr>
          <p:cNvPr id="23" name="Rounded Rectangle 22"/>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Reference defaults shown. Read the selected environment's public rules at startup.</a:t>
            </a:r>
          </a:p>
        </p:txBody>
      </p:sp>
      <p:cxnSp>
        <p:nvCxnSpPr>
          <p:cNvPr id="25" name="Connector 24"/>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27" name="TextBox 26"/>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02 / THE ENVIRONMENT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There are two clocks to manage.</a:t>
            </a:r>
          </a:p>
        </p:txBody>
      </p:sp>
      <p:sp>
        <p:nvSpPr>
          <p:cNvPr id="5" name="Rounded Rectangle 4"/>
          <p:cNvSpPr/>
          <p:nvPr/>
        </p:nvSpPr>
        <p:spPr>
          <a:xfrm>
            <a:off x="660400" y="2209800"/>
            <a:ext cx="5308600" cy="3352800"/>
          </a:xfrm>
          <a:prstGeom prst="roundRect">
            <a:avLst>
              <a:gd name="adj" fmla="val 37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60400" y="2209800"/>
            <a:ext cx="5308600" cy="50800"/>
          </a:xfrm>
          <a:prstGeom prst="rect">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9800" y="24892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REAL TIME</a:t>
            </a:r>
          </a:p>
        </p:txBody>
      </p:sp>
      <p:sp>
        <p:nvSpPr>
          <p:cNvPr id="8" name="Rounded Rectangle 7"/>
          <p:cNvSpPr/>
          <p:nvPr/>
        </p:nvSpPr>
        <p:spPr>
          <a:xfrm>
            <a:off x="939800" y="30734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8400" y="29972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Default: 2 hours from environment creation</a:t>
            </a:r>
          </a:p>
        </p:txBody>
      </p:sp>
      <p:sp>
        <p:nvSpPr>
          <p:cNvPr id="10" name="Rounded Rectangle 9"/>
          <p:cNvSpPr/>
          <p:nvPr/>
        </p:nvSpPr>
        <p:spPr>
          <a:xfrm>
            <a:off x="939800" y="3429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8400" y="3352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Thinking and network latency use this</a:t>
            </a:r>
          </a:p>
          <a:p>
            <a:pPr>
              <a:lnSpc>
                <a:spcPts val="2160"/>
              </a:lnSpc>
              <a:spcBef>
                <a:spcPts val="0"/>
              </a:spcBef>
              <a:spcAft>
                <a:spcPts val="0"/>
              </a:spcAft>
              <a:defRPr sz="1600" b="0">
                <a:solidFill>
                  <a:srgbClr val="173A42"/>
                </a:solidFill>
                <a:latin typeface="DejaVu Sans"/>
              </a:defRPr>
            </a:pPr>
            <a:r>
              <a:t>budget</a:t>
            </a:r>
          </a:p>
        </p:txBody>
      </p:sp>
      <p:sp>
        <p:nvSpPr>
          <p:cNvPr id="12" name="Rounded Rectangle 11"/>
          <p:cNvSpPr/>
          <p:nvPr/>
        </p:nvSpPr>
        <p:spPr>
          <a:xfrm>
            <a:off x="939800" y="405892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8400" y="398272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After expiry, actions are rejected</a:t>
            </a:r>
          </a:p>
        </p:txBody>
      </p:sp>
      <p:sp>
        <p:nvSpPr>
          <p:cNvPr id="14" name="Rounded Rectangle 13"/>
          <p:cNvSpPr/>
          <p:nvPr/>
        </p:nvSpPr>
        <p:spPr>
          <a:xfrm>
            <a:off x="939800" y="441452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8400" y="433832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No automatic simulation of unplayed days</a:t>
            </a:r>
          </a:p>
        </p:txBody>
      </p:sp>
      <p:sp>
        <p:nvSpPr>
          <p:cNvPr id="16" name="Rounded Rectangle 15"/>
          <p:cNvSpPr/>
          <p:nvPr/>
        </p:nvSpPr>
        <p:spPr>
          <a:xfrm>
            <a:off x="6223000" y="2209800"/>
            <a:ext cx="5308600" cy="3352800"/>
          </a:xfrm>
          <a:prstGeom prst="roundRect">
            <a:avLst>
              <a:gd name="adj" fmla="val 37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23000" y="2209800"/>
            <a:ext cx="5308600" cy="50800"/>
          </a:xfrm>
          <a:prstGeom prst="rect">
            <a:avLst/>
          </a:prstGeom>
          <a:solidFill>
            <a:srgbClr val="5E8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2400" y="24892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557079"/>
                </a:solidFill>
                <a:latin typeface="DejaVu Sans"/>
              </a:defRPr>
            </a:pPr>
            <a:r>
              <a:t>SIMULATED TIME</a:t>
            </a:r>
          </a:p>
        </p:txBody>
      </p:sp>
      <p:sp>
        <p:nvSpPr>
          <p:cNvPr id="19" name="Rounded Rectangle 18"/>
          <p:cNvSpPr/>
          <p:nvPr/>
        </p:nvSpPr>
        <p:spPr>
          <a:xfrm>
            <a:off x="6502400" y="30734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1000" y="29972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Advances only through environment actions</a:t>
            </a:r>
          </a:p>
        </p:txBody>
      </p:sp>
      <p:sp>
        <p:nvSpPr>
          <p:cNvPr id="21" name="Rounded Rectangle 20"/>
          <p:cNvSpPr/>
          <p:nvPr/>
        </p:nvSpPr>
        <p:spPr>
          <a:xfrm>
            <a:off x="6502400" y="3429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1000" y="3352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Sales resolve in fixed intervals</a:t>
            </a:r>
          </a:p>
        </p:txBody>
      </p:sp>
      <p:sp>
        <p:nvSpPr>
          <p:cNvPr id="23" name="Rounded Rectangle 22"/>
          <p:cNvSpPr/>
          <p:nvPr/>
        </p:nvSpPr>
        <p:spPr>
          <a:xfrm>
            <a:off x="6502400" y="3784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1000" y="3708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Midnight triggers fees and debt accounting</a:t>
            </a:r>
          </a:p>
        </p:txBody>
      </p:sp>
      <p:sp>
        <p:nvSpPr>
          <p:cNvPr id="25" name="Rounded Rectangle 24"/>
          <p:cNvSpPr/>
          <p:nvPr/>
        </p:nvSpPr>
        <p:spPr>
          <a:xfrm>
            <a:off x="6502400" y="4140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31000" y="4064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end_day advances to the next midnight</a:t>
            </a:r>
          </a:p>
        </p:txBody>
      </p:sp>
      <p:sp>
        <p:nvSpPr>
          <p:cNvPr id="27" name="Rounded Rectangle 26"/>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Benchmark runs have no simulated-day cap. Practice smoke runs do.</a:t>
            </a:r>
          </a:p>
        </p:txBody>
      </p:sp>
      <p:cxnSp>
        <p:nvCxnSpPr>
          <p:cNvPr id="29" name="Connector 28"/>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1" name="TextBox 30"/>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02 / THE ENVIRONMENT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Keep the operating loop moving.</a:t>
            </a:r>
          </a:p>
        </p:txBody>
      </p:sp>
      <p:sp>
        <p:nvSpPr>
          <p:cNvPr id="5" name="Rounded Rectangle 4"/>
          <p:cNvSpPr/>
          <p:nvPr/>
        </p:nvSpPr>
        <p:spPr>
          <a:xfrm>
            <a:off x="660400" y="2349500"/>
            <a:ext cx="2555875" cy="2971800"/>
          </a:xfrm>
          <a:prstGeom prst="roundRect">
            <a:avLst>
              <a:gd name="adj" fmla="val 496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89000"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7900"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01</a:t>
            </a:r>
          </a:p>
        </p:txBody>
      </p:sp>
      <p:sp>
        <p:nvSpPr>
          <p:cNvPr id="8" name="TextBox 7"/>
          <p:cNvSpPr txBox="1"/>
          <p:nvPr/>
        </p:nvSpPr>
        <p:spPr>
          <a:xfrm>
            <a:off x="889000" y="3314700"/>
            <a:ext cx="2098675" cy="419100"/>
          </a:xfrm>
          <a:prstGeom prst="rect">
            <a:avLst/>
          </a:prstGeom>
          <a:noFill/>
        </p:spPr>
        <p:txBody>
          <a:bodyPr wrap="none" lIns="0" rIns="0" tIns="0" bIns="0">
            <a:spAutoFit/>
          </a:bodyPr>
          <a:lstStyle/>
          <a:p>
            <a:pPr>
              <a:lnSpc>
                <a:spcPts val="2794"/>
              </a:lnSpc>
              <a:spcBef>
                <a:spcPts val="0"/>
              </a:spcBef>
              <a:spcAft>
                <a:spcPts val="0"/>
              </a:spcAft>
              <a:defRPr sz="2200" b="1">
                <a:solidFill>
                  <a:srgbClr val="173A42"/>
                </a:solidFill>
                <a:latin typeface="DejaVu Sans"/>
              </a:defRPr>
            </a:pPr>
            <a:r>
              <a:t>Source</a:t>
            </a:r>
          </a:p>
        </p:txBody>
      </p:sp>
      <p:sp>
        <p:nvSpPr>
          <p:cNvPr id="9" name="TextBox 8"/>
          <p:cNvSpPr txBox="1"/>
          <p:nvPr/>
        </p:nvSpPr>
        <p:spPr>
          <a:xfrm>
            <a:off x="889000" y="3873500"/>
            <a:ext cx="2098675" cy="1333500"/>
          </a:xfrm>
          <a:prstGeom prst="rect">
            <a:avLst/>
          </a:prstGeom>
          <a:noFill/>
        </p:spPr>
        <p:txBody>
          <a:bodyPr wrap="none" lIns="0" rIns="0" tIns="0" bIns="0">
            <a:spAutoFit/>
          </a:bodyPr>
          <a:lstStyle/>
          <a:p>
            <a:pPr>
              <a:lnSpc>
                <a:spcPts val="2261"/>
              </a:lnSpc>
              <a:spcBef>
                <a:spcPts val="0"/>
              </a:spcBef>
              <a:spcAft>
                <a:spcPts val="0"/>
              </a:spcAft>
              <a:defRPr sz="1700" b="0">
                <a:solidFill>
                  <a:srgbClr val="173A42"/>
                </a:solidFill>
                <a:latin typeface="DejaVu Sans"/>
              </a:defRPr>
            </a:pPr>
            <a:r>
              <a:t>Compare quotes</a:t>
            </a:r>
          </a:p>
          <a:p>
            <a:pPr>
              <a:lnSpc>
                <a:spcPts val="2261"/>
              </a:lnSpc>
              <a:spcBef>
                <a:spcPts val="0"/>
              </a:spcBef>
              <a:spcAft>
                <a:spcPts val="0"/>
              </a:spcAft>
              <a:defRPr sz="1700" b="0">
                <a:solidFill>
                  <a:srgbClr val="173A42"/>
                </a:solidFill>
                <a:latin typeface="DejaVu Sans"/>
              </a:defRPr>
            </a:pPr>
            <a:r>
              <a:t>and submit an</a:t>
            </a:r>
          </a:p>
          <a:p>
            <a:pPr>
              <a:lnSpc>
                <a:spcPts val="2261"/>
              </a:lnSpc>
              <a:spcBef>
                <a:spcPts val="0"/>
              </a:spcBef>
              <a:spcAft>
                <a:spcPts val="0"/>
              </a:spcAft>
              <a:defRPr sz="1700" b="0">
                <a:solidFill>
                  <a:srgbClr val="173A42"/>
                </a:solidFill>
                <a:latin typeface="DejaVu Sans"/>
              </a:defRPr>
            </a:pPr>
            <a:r>
              <a:t>offer.</a:t>
            </a:r>
          </a:p>
        </p:txBody>
      </p:sp>
      <p:sp>
        <p:nvSpPr>
          <p:cNvPr id="10" name="TextBox 9"/>
          <p:cNvSpPr txBox="1"/>
          <p:nvPr/>
        </p:nvSpPr>
        <p:spPr>
          <a:xfrm>
            <a:off x="3267075"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11" name="Rounded Rectangle 10"/>
          <p:cNvSpPr/>
          <p:nvPr/>
        </p:nvSpPr>
        <p:spPr>
          <a:xfrm>
            <a:off x="3432175" y="2349500"/>
            <a:ext cx="2555875" cy="2971800"/>
          </a:xfrm>
          <a:prstGeom prst="roundRect">
            <a:avLst>
              <a:gd name="adj" fmla="val 496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60775"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675"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02</a:t>
            </a:r>
          </a:p>
        </p:txBody>
      </p:sp>
      <p:sp>
        <p:nvSpPr>
          <p:cNvPr id="14" name="TextBox 13"/>
          <p:cNvSpPr txBox="1"/>
          <p:nvPr/>
        </p:nvSpPr>
        <p:spPr>
          <a:xfrm>
            <a:off x="3660775" y="3314700"/>
            <a:ext cx="2098675" cy="419100"/>
          </a:xfrm>
          <a:prstGeom prst="rect">
            <a:avLst/>
          </a:prstGeom>
          <a:noFill/>
        </p:spPr>
        <p:txBody>
          <a:bodyPr wrap="none" lIns="0" rIns="0" tIns="0" bIns="0">
            <a:spAutoFit/>
          </a:bodyPr>
          <a:lstStyle/>
          <a:p>
            <a:pPr>
              <a:lnSpc>
                <a:spcPts val="2794"/>
              </a:lnSpc>
              <a:spcBef>
                <a:spcPts val="0"/>
              </a:spcBef>
              <a:spcAft>
                <a:spcPts val="0"/>
              </a:spcAft>
              <a:defRPr sz="2200" b="1">
                <a:solidFill>
                  <a:srgbClr val="173A42"/>
                </a:solidFill>
                <a:latin typeface="DejaVu Sans"/>
              </a:defRPr>
            </a:pPr>
            <a:r>
              <a:t>Prepare</a:t>
            </a:r>
          </a:p>
        </p:txBody>
      </p:sp>
      <p:sp>
        <p:nvSpPr>
          <p:cNvPr id="15" name="TextBox 14"/>
          <p:cNvSpPr txBox="1"/>
          <p:nvPr/>
        </p:nvSpPr>
        <p:spPr>
          <a:xfrm>
            <a:off x="3660775" y="3873500"/>
            <a:ext cx="2098675" cy="1333500"/>
          </a:xfrm>
          <a:prstGeom prst="rect">
            <a:avLst/>
          </a:prstGeom>
          <a:noFill/>
        </p:spPr>
        <p:txBody>
          <a:bodyPr wrap="none" lIns="0" rIns="0" tIns="0" bIns="0">
            <a:spAutoFit/>
          </a:bodyPr>
          <a:lstStyle/>
          <a:p>
            <a:pPr>
              <a:lnSpc>
                <a:spcPts val="2261"/>
              </a:lnSpc>
              <a:spcBef>
                <a:spcPts val="0"/>
              </a:spcBef>
              <a:spcAft>
                <a:spcPts val="0"/>
              </a:spcAft>
              <a:defRPr sz="1700" b="0">
                <a:solidFill>
                  <a:srgbClr val="173A42"/>
                </a:solidFill>
                <a:latin typeface="DejaVu Sans"/>
              </a:defRPr>
            </a:pPr>
            <a:r>
              <a:t>Set prices and</a:t>
            </a:r>
          </a:p>
          <a:p>
            <a:pPr>
              <a:lnSpc>
                <a:spcPts val="2261"/>
              </a:lnSpc>
              <a:spcBef>
                <a:spcPts val="0"/>
              </a:spcBef>
              <a:spcAft>
                <a:spcPts val="0"/>
              </a:spcAft>
              <a:defRPr sz="1700" b="0">
                <a:solidFill>
                  <a:srgbClr val="173A42"/>
                </a:solidFill>
                <a:latin typeface="DejaVu Sans"/>
              </a:defRPr>
            </a:pPr>
            <a:r>
              <a:t>move stock into</a:t>
            </a:r>
          </a:p>
          <a:p>
            <a:pPr>
              <a:lnSpc>
                <a:spcPts val="2261"/>
              </a:lnSpc>
              <a:spcBef>
                <a:spcPts val="0"/>
              </a:spcBef>
              <a:spcAft>
                <a:spcPts val="0"/>
              </a:spcAft>
              <a:defRPr sz="1700" b="0">
                <a:solidFill>
                  <a:srgbClr val="173A42"/>
                </a:solidFill>
                <a:latin typeface="DejaVu Sans"/>
              </a:defRPr>
            </a:pPr>
            <a:r>
              <a:t>slots.</a:t>
            </a:r>
          </a:p>
        </p:txBody>
      </p:sp>
      <p:sp>
        <p:nvSpPr>
          <p:cNvPr id="16" name="TextBox 15"/>
          <p:cNvSpPr txBox="1"/>
          <p:nvPr/>
        </p:nvSpPr>
        <p:spPr>
          <a:xfrm>
            <a:off x="6038850"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17" name="Rounded Rectangle 16"/>
          <p:cNvSpPr/>
          <p:nvPr/>
        </p:nvSpPr>
        <p:spPr>
          <a:xfrm>
            <a:off x="6203950" y="2349500"/>
            <a:ext cx="2555875" cy="2971800"/>
          </a:xfrm>
          <a:prstGeom prst="roundRect">
            <a:avLst>
              <a:gd name="adj" fmla="val 496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32550"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21450"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03</a:t>
            </a:r>
          </a:p>
        </p:txBody>
      </p:sp>
      <p:sp>
        <p:nvSpPr>
          <p:cNvPr id="20" name="TextBox 19"/>
          <p:cNvSpPr txBox="1"/>
          <p:nvPr/>
        </p:nvSpPr>
        <p:spPr>
          <a:xfrm>
            <a:off x="6432550" y="3314700"/>
            <a:ext cx="2098675" cy="419100"/>
          </a:xfrm>
          <a:prstGeom prst="rect">
            <a:avLst/>
          </a:prstGeom>
          <a:noFill/>
        </p:spPr>
        <p:txBody>
          <a:bodyPr wrap="none" lIns="0" rIns="0" tIns="0" bIns="0">
            <a:spAutoFit/>
          </a:bodyPr>
          <a:lstStyle/>
          <a:p>
            <a:pPr>
              <a:lnSpc>
                <a:spcPts val="2794"/>
              </a:lnSpc>
              <a:spcBef>
                <a:spcPts val="0"/>
              </a:spcBef>
              <a:spcAft>
                <a:spcPts val="0"/>
              </a:spcAft>
              <a:defRPr sz="2200" b="1">
                <a:solidFill>
                  <a:srgbClr val="173A42"/>
                </a:solidFill>
                <a:latin typeface="DejaVu Sans"/>
              </a:defRPr>
            </a:pPr>
            <a:r>
              <a:t>Sell</a:t>
            </a:r>
          </a:p>
        </p:txBody>
      </p:sp>
      <p:sp>
        <p:nvSpPr>
          <p:cNvPr id="21" name="TextBox 20"/>
          <p:cNvSpPr txBox="1"/>
          <p:nvPr/>
        </p:nvSpPr>
        <p:spPr>
          <a:xfrm>
            <a:off x="6432550" y="3873500"/>
            <a:ext cx="2098675" cy="1333500"/>
          </a:xfrm>
          <a:prstGeom prst="rect">
            <a:avLst/>
          </a:prstGeom>
          <a:noFill/>
        </p:spPr>
        <p:txBody>
          <a:bodyPr wrap="none" lIns="0" rIns="0" tIns="0" bIns="0">
            <a:spAutoFit/>
          </a:bodyPr>
          <a:lstStyle/>
          <a:p>
            <a:pPr>
              <a:lnSpc>
                <a:spcPts val="2261"/>
              </a:lnSpc>
              <a:spcBef>
                <a:spcPts val="0"/>
              </a:spcBef>
              <a:spcAft>
                <a:spcPts val="0"/>
              </a:spcAft>
              <a:defRPr sz="1700" b="0">
                <a:solidFill>
                  <a:srgbClr val="173A42"/>
                </a:solidFill>
                <a:latin typeface="DejaVu Sans"/>
              </a:defRPr>
            </a:pPr>
            <a:r>
              <a:t>Advance time and</a:t>
            </a:r>
          </a:p>
          <a:p>
            <a:pPr>
              <a:lnSpc>
                <a:spcPts val="2261"/>
              </a:lnSpc>
              <a:spcBef>
                <a:spcPts val="0"/>
              </a:spcBef>
              <a:spcAft>
                <a:spcPts val="0"/>
              </a:spcAft>
              <a:defRPr sz="1700" b="0">
                <a:solidFill>
                  <a:srgbClr val="173A42"/>
                </a:solidFill>
                <a:latin typeface="DejaVu Sans"/>
              </a:defRPr>
            </a:pPr>
            <a:r>
              <a:t>observe realized</a:t>
            </a:r>
          </a:p>
          <a:p>
            <a:pPr>
              <a:lnSpc>
                <a:spcPts val="2261"/>
              </a:lnSpc>
              <a:spcBef>
                <a:spcPts val="0"/>
              </a:spcBef>
              <a:spcAft>
                <a:spcPts val="0"/>
              </a:spcAft>
              <a:defRPr sz="1700" b="0">
                <a:solidFill>
                  <a:srgbClr val="173A42"/>
                </a:solidFill>
                <a:latin typeface="DejaVu Sans"/>
              </a:defRPr>
            </a:pPr>
            <a:r>
              <a:t>sales.</a:t>
            </a:r>
          </a:p>
        </p:txBody>
      </p:sp>
      <p:sp>
        <p:nvSpPr>
          <p:cNvPr id="22" name="TextBox 21"/>
          <p:cNvSpPr txBox="1"/>
          <p:nvPr/>
        </p:nvSpPr>
        <p:spPr>
          <a:xfrm>
            <a:off x="8810625"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23" name="Rounded Rectangle 22"/>
          <p:cNvSpPr/>
          <p:nvPr/>
        </p:nvSpPr>
        <p:spPr>
          <a:xfrm>
            <a:off x="8975725" y="2349500"/>
            <a:ext cx="2555875" cy="2971800"/>
          </a:xfrm>
          <a:prstGeom prst="roundRect">
            <a:avLst>
              <a:gd name="adj" fmla="val 496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04325"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3225"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04</a:t>
            </a:r>
          </a:p>
        </p:txBody>
      </p:sp>
      <p:sp>
        <p:nvSpPr>
          <p:cNvPr id="26" name="TextBox 25"/>
          <p:cNvSpPr txBox="1"/>
          <p:nvPr/>
        </p:nvSpPr>
        <p:spPr>
          <a:xfrm>
            <a:off x="9204325" y="3314700"/>
            <a:ext cx="2098675" cy="419100"/>
          </a:xfrm>
          <a:prstGeom prst="rect">
            <a:avLst/>
          </a:prstGeom>
          <a:noFill/>
        </p:spPr>
        <p:txBody>
          <a:bodyPr wrap="none" lIns="0" rIns="0" tIns="0" bIns="0">
            <a:spAutoFit/>
          </a:bodyPr>
          <a:lstStyle/>
          <a:p>
            <a:pPr>
              <a:lnSpc>
                <a:spcPts val="2794"/>
              </a:lnSpc>
              <a:spcBef>
                <a:spcPts val="0"/>
              </a:spcBef>
              <a:spcAft>
                <a:spcPts val="0"/>
              </a:spcAft>
              <a:defRPr sz="2200" b="1">
                <a:solidFill>
                  <a:srgbClr val="173A42"/>
                </a:solidFill>
                <a:latin typeface="DejaVu Sans"/>
              </a:defRPr>
            </a:pPr>
            <a:r>
              <a:t>Reinvest</a:t>
            </a:r>
          </a:p>
        </p:txBody>
      </p:sp>
      <p:sp>
        <p:nvSpPr>
          <p:cNvPr id="27" name="TextBox 26"/>
          <p:cNvSpPr txBox="1"/>
          <p:nvPr/>
        </p:nvSpPr>
        <p:spPr>
          <a:xfrm>
            <a:off x="9204325" y="3873500"/>
            <a:ext cx="2098675" cy="1333500"/>
          </a:xfrm>
          <a:prstGeom prst="rect">
            <a:avLst/>
          </a:prstGeom>
          <a:noFill/>
        </p:spPr>
        <p:txBody>
          <a:bodyPr wrap="none" lIns="0" rIns="0" tIns="0" bIns="0">
            <a:spAutoFit/>
          </a:bodyPr>
          <a:lstStyle/>
          <a:p>
            <a:pPr>
              <a:lnSpc>
                <a:spcPts val="2261"/>
              </a:lnSpc>
              <a:spcBef>
                <a:spcPts val="0"/>
              </a:spcBef>
              <a:spcAft>
                <a:spcPts val="0"/>
              </a:spcAft>
              <a:defRPr sz="1700" b="0">
                <a:solidFill>
                  <a:srgbClr val="173A42"/>
                </a:solidFill>
                <a:latin typeface="DejaVu Sans"/>
              </a:defRPr>
            </a:pPr>
            <a:r>
              <a:t>Collect cash, pay</a:t>
            </a:r>
          </a:p>
          <a:p>
            <a:pPr>
              <a:lnSpc>
                <a:spcPts val="2261"/>
              </a:lnSpc>
              <a:spcBef>
                <a:spcPts val="0"/>
              </a:spcBef>
              <a:spcAft>
                <a:spcPts val="0"/>
              </a:spcAft>
              <a:defRPr sz="1700" b="0">
                <a:solidFill>
                  <a:srgbClr val="173A42"/>
                </a:solidFill>
                <a:latin typeface="DejaVu Sans"/>
              </a:defRPr>
            </a:pPr>
            <a:r>
              <a:t>fees, and</a:t>
            </a:r>
          </a:p>
          <a:p>
            <a:pPr>
              <a:lnSpc>
                <a:spcPts val="2261"/>
              </a:lnSpc>
              <a:spcBef>
                <a:spcPts val="0"/>
              </a:spcBef>
              <a:spcAft>
                <a:spcPts val="0"/>
              </a:spcAft>
              <a:defRPr sz="1700" b="0">
                <a:solidFill>
                  <a:srgbClr val="173A42"/>
                </a:solidFill>
                <a:latin typeface="DejaVu Sans"/>
              </a:defRPr>
            </a:pPr>
            <a:r>
              <a:t>replenish.</a:t>
            </a:r>
          </a:p>
        </p:txBody>
      </p:sp>
      <p:sp>
        <p:nvSpPr>
          <p:cNvPr id="28" name="Rounded Rectangle 27"/>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At the default limit, 10 consecutive incomplete daily-fee payments end the episode.</a:t>
            </a:r>
          </a:p>
        </p:txBody>
      </p:sp>
      <p:cxnSp>
        <p:nvCxnSpPr>
          <p:cNvPr id="30" name="Connector 29"/>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2" name="TextBox 31"/>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02 / THE ENVIRONMENT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Negotiation produces structured outcomes.</a:t>
            </a:r>
          </a:p>
        </p:txBody>
      </p:sp>
      <p:sp>
        <p:nvSpPr>
          <p:cNvPr id="5" name="Rounded Rectangle 4"/>
          <p:cNvSpPr/>
          <p:nvPr/>
        </p:nvSpPr>
        <p:spPr>
          <a:xfrm>
            <a:off x="660400" y="2120900"/>
            <a:ext cx="10871200" cy="431800"/>
          </a:xfrm>
          <a:prstGeom prst="roundRect">
            <a:avLst>
              <a:gd name="adj" fmla="val 14705"/>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500" y="2247900"/>
            <a:ext cx="21590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OUTCOME</a:t>
            </a:r>
          </a:p>
        </p:txBody>
      </p:sp>
      <p:sp>
        <p:nvSpPr>
          <p:cNvPr id="7" name="TextBox 6"/>
          <p:cNvSpPr txBox="1"/>
          <p:nvPr/>
        </p:nvSpPr>
        <p:spPr>
          <a:xfrm>
            <a:off x="3302000" y="2247900"/>
            <a:ext cx="37465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MEANING</a:t>
            </a:r>
          </a:p>
        </p:txBody>
      </p:sp>
      <p:sp>
        <p:nvSpPr>
          <p:cNvPr id="8" name="TextBox 7"/>
          <p:cNvSpPr txBox="1"/>
          <p:nvPr/>
        </p:nvSpPr>
        <p:spPr>
          <a:xfrm>
            <a:off x="7366000" y="2247900"/>
            <a:ext cx="4013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BUSINESS EFFECT</a:t>
            </a:r>
          </a:p>
        </p:txBody>
      </p:sp>
      <p:sp>
        <p:nvSpPr>
          <p:cNvPr id="9" name="Rectangle 8"/>
          <p:cNvSpPr/>
          <p:nvPr/>
        </p:nvSpPr>
        <p:spPr>
          <a:xfrm>
            <a:off x="660400" y="2552700"/>
            <a:ext cx="10871200" cy="768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705100"/>
            <a:ext cx="2159000" cy="59055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accepted</a:t>
            </a:r>
          </a:p>
        </p:txBody>
      </p:sp>
      <p:sp>
        <p:nvSpPr>
          <p:cNvPr id="11" name="TextBox 10"/>
          <p:cNvSpPr txBox="1"/>
          <p:nvPr/>
        </p:nvSpPr>
        <p:spPr>
          <a:xfrm>
            <a:off x="3302000" y="2705100"/>
            <a:ext cx="3746500" cy="59055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Offer accepted and funded</a:t>
            </a:r>
          </a:p>
        </p:txBody>
      </p:sp>
      <p:sp>
        <p:nvSpPr>
          <p:cNvPr id="12" name="TextBox 11"/>
          <p:cNvSpPr txBox="1"/>
          <p:nvPr/>
        </p:nvSpPr>
        <p:spPr>
          <a:xfrm>
            <a:off x="7366000" y="2705100"/>
            <a:ext cx="4013200" cy="59055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Cash debited; stock delivered</a:t>
            </a:r>
          </a:p>
        </p:txBody>
      </p:sp>
      <p:sp>
        <p:nvSpPr>
          <p:cNvPr id="13" name="Rectangle 12"/>
          <p:cNvSpPr/>
          <p:nvPr/>
        </p:nvSpPr>
        <p:spPr>
          <a:xfrm>
            <a:off x="660400" y="3321050"/>
            <a:ext cx="10871200" cy="768350"/>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500" y="3473450"/>
            <a:ext cx="2159000" cy="59055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counteroffer</a:t>
            </a:r>
          </a:p>
        </p:txBody>
      </p:sp>
      <p:sp>
        <p:nvSpPr>
          <p:cNvPr id="15" name="TextBox 14"/>
          <p:cNvSpPr txBox="1"/>
          <p:nvPr/>
        </p:nvSpPr>
        <p:spPr>
          <a:xfrm>
            <a:off x="3302000" y="3473450"/>
            <a:ext cx="3746500" cy="59055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Different price proposed</a:t>
            </a:r>
          </a:p>
        </p:txBody>
      </p:sp>
      <p:sp>
        <p:nvSpPr>
          <p:cNvPr id="16" name="TextBox 15"/>
          <p:cNvSpPr txBox="1"/>
          <p:nvPr/>
        </p:nvSpPr>
        <p:spPr>
          <a:xfrm>
            <a:off x="7366000" y="3473450"/>
            <a:ext cx="4013200" cy="59055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No purchase; submit a new offer</a:t>
            </a:r>
          </a:p>
        </p:txBody>
      </p:sp>
      <p:sp>
        <p:nvSpPr>
          <p:cNvPr id="17" name="Rectangle 16"/>
          <p:cNvSpPr/>
          <p:nvPr/>
        </p:nvSpPr>
        <p:spPr>
          <a:xfrm>
            <a:off x="660400" y="4089400"/>
            <a:ext cx="10871200" cy="768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500" y="4241800"/>
            <a:ext cx="2159000" cy="59055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no_reply</a:t>
            </a:r>
          </a:p>
        </p:txBody>
      </p:sp>
      <p:sp>
        <p:nvSpPr>
          <p:cNvPr id="19" name="TextBox 18"/>
          <p:cNvSpPr txBox="1"/>
          <p:nvPr/>
        </p:nvSpPr>
        <p:spPr>
          <a:xfrm>
            <a:off x="3302000" y="4241800"/>
            <a:ext cx="3746500" cy="59055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Supplier declines to engage</a:t>
            </a:r>
          </a:p>
        </p:txBody>
      </p:sp>
      <p:sp>
        <p:nvSpPr>
          <p:cNvPr id="20" name="TextBox 19"/>
          <p:cNvSpPr txBox="1"/>
          <p:nvPr/>
        </p:nvSpPr>
        <p:spPr>
          <a:xfrm>
            <a:off x="7366000" y="4241800"/>
            <a:ext cx="4013200" cy="59055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Normal result; action time is spent</a:t>
            </a:r>
          </a:p>
        </p:txBody>
      </p:sp>
      <p:sp>
        <p:nvSpPr>
          <p:cNvPr id="21" name="Rectangle 20"/>
          <p:cNvSpPr/>
          <p:nvPr/>
        </p:nvSpPr>
        <p:spPr>
          <a:xfrm>
            <a:off x="660400" y="4857750"/>
            <a:ext cx="10871200" cy="768350"/>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00" y="5010150"/>
            <a:ext cx="2159000" cy="59055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insufficient_funds</a:t>
            </a:r>
          </a:p>
        </p:txBody>
      </p:sp>
      <p:sp>
        <p:nvSpPr>
          <p:cNvPr id="23" name="TextBox 22"/>
          <p:cNvSpPr txBox="1"/>
          <p:nvPr/>
        </p:nvSpPr>
        <p:spPr>
          <a:xfrm>
            <a:off x="3302000" y="5010150"/>
            <a:ext cx="3746500" cy="59055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Accepted terms exceed cash</a:t>
            </a:r>
          </a:p>
        </p:txBody>
      </p:sp>
      <p:sp>
        <p:nvSpPr>
          <p:cNvPr id="24" name="TextBox 23"/>
          <p:cNvSpPr txBox="1"/>
          <p:nvPr/>
        </p:nvSpPr>
        <p:spPr>
          <a:xfrm>
            <a:off x="7366000" y="5010150"/>
            <a:ext cx="4013200" cy="59055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No partial purchase</a:t>
            </a:r>
          </a:p>
        </p:txBody>
      </p:sp>
      <p:sp>
        <p:nvSpPr>
          <p:cNvPr id="25" name="Rounded Rectangle 24"/>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A suggestion for another product is optional; it never buys anything automatically.</a:t>
            </a:r>
          </a:p>
        </p:txBody>
      </p:sp>
      <p:cxnSp>
        <p:nvCxnSpPr>
          <p:cNvPr id="27" name="Connector 26"/>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29" name="TextBox 28"/>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02 / THE ENVIRONMENT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Pricing trades margin against demand.</a:t>
            </a:r>
          </a:p>
        </p:txBody>
      </p:sp>
      <p:sp>
        <p:nvSpPr>
          <p:cNvPr id="5" name="Rounded Rectangle 4"/>
          <p:cNvSpPr/>
          <p:nvPr/>
        </p:nvSpPr>
        <p:spPr>
          <a:xfrm>
            <a:off x="660400" y="2159000"/>
            <a:ext cx="4737100" cy="3327400"/>
          </a:xfrm>
          <a:prstGeom prst="roundRect">
            <a:avLst>
              <a:gd name="adj" fmla="val 381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62200"/>
            <a:ext cx="4178300" cy="279400"/>
          </a:xfrm>
          <a:prstGeom prst="rect">
            <a:avLst/>
          </a:prstGeom>
          <a:noFill/>
        </p:spPr>
        <p:txBody>
          <a:bodyPr wrap="none" lIns="0" rIns="0" tIns="0" bIns="0">
            <a:spAutoFit/>
          </a:bodyPr>
          <a:lstStyle/>
          <a:p>
            <a:pPr>
              <a:lnSpc>
                <a:spcPts val="1270"/>
              </a:lnSpc>
              <a:spcBef>
                <a:spcPts val="0"/>
              </a:spcBef>
              <a:spcAft>
                <a:spcPts val="0"/>
              </a:spcAft>
              <a:defRPr sz="1000" b="1">
                <a:solidFill>
                  <a:srgbClr val="557079"/>
                </a:solidFill>
                <a:latin typeface="DejaVu Sans"/>
              </a:defRPr>
            </a:pPr>
            <a:r>
              <a:t>QUALITATIVE RELATIONSHIP</a:t>
            </a:r>
          </a:p>
        </p:txBody>
      </p:sp>
      <p:cxnSp>
        <p:nvCxnSpPr>
          <p:cNvPr id="7" name="Connector 6"/>
          <p:cNvCxnSpPr/>
          <p:nvPr/>
        </p:nvCxnSpPr>
        <p:spPr>
          <a:xfrm>
            <a:off x="1333500" y="4889500"/>
            <a:ext cx="3657600" cy="0"/>
          </a:xfrm>
          <a:prstGeom prst="line">
            <a:avLst/>
          </a:prstGeom>
          <a:ln w="12700">
            <a:solidFill>
              <a:srgbClr val="55707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33500" y="2882900"/>
            <a:ext cx="0" cy="2006600"/>
          </a:xfrm>
          <a:prstGeom prst="line">
            <a:avLst/>
          </a:prstGeom>
          <a:ln w="12700">
            <a:solidFill>
              <a:srgbClr val="55707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27100" y="2705100"/>
            <a:ext cx="3492500" cy="292100"/>
          </a:xfrm>
          <a:prstGeom prst="rect">
            <a:avLst/>
          </a:prstGeom>
          <a:noFill/>
        </p:spPr>
        <p:txBody>
          <a:bodyPr wrap="none" lIns="0" rIns="0" tIns="0" bIns="0">
            <a:spAutoFit/>
          </a:bodyPr>
          <a:lstStyle/>
          <a:p>
            <a:pPr>
              <a:lnSpc>
                <a:spcPts val="1524"/>
              </a:lnSpc>
              <a:spcBef>
                <a:spcPts val="0"/>
              </a:spcBef>
              <a:spcAft>
                <a:spcPts val="0"/>
              </a:spcAft>
              <a:defRPr sz="1200" b="0">
                <a:solidFill>
                  <a:srgbClr val="008C7B"/>
                </a:solidFill>
                <a:latin typeface="DejaVu Sans"/>
              </a:defRPr>
            </a:pPr>
            <a:r>
              <a:t>Expected demand</a:t>
            </a:r>
          </a:p>
        </p:txBody>
      </p:sp>
      <p:sp>
        <p:nvSpPr>
          <p:cNvPr id="10" name="TextBox 9"/>
          <p:cNvSpPr txBox="1"/>
          <p:nvPr/>
        </p:nvSpPr>
        <p:spPr>
          <a:xfrm>
            <a:off x="2552700" y="5080000"/>
            <a:ext cx="2463800" cy="279400"/>
          </a:xfrm>
          <a:prstGeom prst="rect">
            <a:avLst/>
          </a:prstGeom>
          <a:noFill/>
        </p:spPr>
        <p:txBody>
          <a:bodyPr wrap="none" lIns="0" rIns="0" tIns="0" bIns="0">
            <a:spAutoFit/>
          </a:bodyPr>
          <a:lstStyle/>
          <a:p>
            <a:pPr>
              <a:lnSpc>
                <a:spcPts val="1524"/>
              </a:lnSpc>
              <a:spcBef>
                <a:spcPts val="0"/>
              </a:spcBef>
              <a:spcAft>
                <a:spcPts val="0"/>
              </a:spcAft>
              <a:defRPr sz="1200" b="0">
                <a:solidFill>
                  <a:srgbClr val="557079"/>
                </a:solidFill>
                <a:latin typeface="DejaVu Sans"/>
              </a:defRPr>
            </a:pPr>
            <a:r>
              <a:t>Selling price →</a:t>
            </a:r>
          </a:p>
        </p:txBody>
      </p:sp>
      <p:cxnSp>
        <p:nvCxnSpPr>
          <p:cNvPr id="11" name="Connector 10"/>
          <p:cNvCxnSpPr/>
          <p:nvPr/>
        </p:nvCxnSpPr>
        <p:spPr>
          <a:xfrm>
            <a:off x="1447800" y="3111500"/>
            <a:ext cx="127000" cy="185043"/>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4800" y="3296543"/>
            <a:ext cx="127000" cy="163301"/>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701800" y="3459844"/>
            <a:ext cx="127000" cy="144112"/>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28800" y="3603956"/>
            <a:ext cx="127000" cy="127179"/>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955800" y="3731135"/>
            <a:ext cx="127000" cy="112235"/>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82800" y="3843370"/>
            <a:ext cx="127000" cy="99047"/>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209800" y="3942417"/>
            <a:ext cx="127000" cy="87408"/>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336800" y="4029825"/>
            <a:ext cx="127000" cy="77138"/>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463800" y="4106963"/>
            <a:ext cx="127000" cy="68074"/>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90800" y="4175037"/>
            <a:ext cx="127000" cy="60075"/>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17800" y="4235112"/>
            <a:ext cx="127000" cy="53016"/>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844800" y="4288128"/>
            <a:ext cx="127000" cy="46786"/>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971800" y="4334914"/>
            <a:ext cx="127000" cy="41289"/>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098800" y="4376203"/>
            <a:ext cx="127000" cy="36437"/>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225800" y="4412640"/>
            <a:ext cx="127000" cy="32156"/>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352800" y="4444796"/>
            <a:ext cx="127000" cy="28377"/>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479800" y="4473173"/>
            <a:ext cx="127000" cy="25043"/>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06800" y="4498216"/>
            <a:ext cx="127000" cy="22101"/>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733800" y="4520317"/>
            <a:ext cx="127000" cy="19503"/>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860800" y="4539820"/>
            <a:ext cx="127000" cy="17212"/>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987800" y="4557032"/>
            <a:ext cx="127000" cy="15189"/>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114800" y="4572221"/>
            <a:ext cx="127000" cy="13405"/>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241800" y="4585626"/>
            <a:ext cx="127000" cy="11829"/>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68800" y="4597455"/>
            <a:ext cx="127000" cy="10440"/>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5800" y="4607895"/>
            <a:ext cx="127000" cy="9213"/>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622800" y="4617108"/>
            <a:ext cx="127000" cy="8130"/>
          </a:xfrm>
          <a:prstGeom prst="line">
            <a:avLst/>
          </a:prstGeom>
          <a:ln w="38100">
            <a:solidFill>
              <a:srgbClr val="008C7B"/>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816600" y="22733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45200" y="2197100"/>
            <a:ext cx="54864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Demand is stochastic and price-sensitive.</a:t>
            </a:r>
          </a:p>
        </p:txBody>
      </p:sp>
      <p:sp>
        <p:nvSpPr>
          <p:cNvPr id="39" name="Rounded Rectangle 38"/>
          <p:cNvSpPr/>
          <p:nvPr/>
        </p:nvSpPr>
        <p:spPr>
          <a:xfrm>
            <a:off x="5816600" y="27178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45200" y="2641600"/>
            <a:ext cx="54864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Higher prices reduce expected demand; one day's</a:t>
            </a:r>
          </a:p>
          <a:p>
            <a:pPr>
              <a:lnSpc>
                <a:spcPts val="2295"/>
              </a:lnSpc>
              <a:spcBef>
                <a:spcPts val="0"/>
              </a:spcBef>
              <a:spcAft>
                <a:spcPts val="0"/>
              </a:spcAft>
              <a:defRPr sz="1700" b="0">
                <a:solidFill>
                  <a:srgbClr val="173A42"/>
                </a:solidFill>
                <a:latin typeface="DejaVu Sans"/>
              </a:defRPr>
            </a:pPr>
            <a:r>
              <a:t>sales can be noisy.</a:t>
            </a:r>
          </a:p>
        </p:txBody>
      </p:sp>
      <p:sp>
        <p:nvSpPr>
          <p:cNvPr id="41" name="Rounded Rectangle 40"/>
          <p:cNvSpPr/>
          <p:nvPr/>
        </p:nvSpPr>
        <p:spPr>
          <a:xfrm>
            <a:off x="5816600" y="3453765"/>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45200" y="3377565"/>
            <a:ext cx="54864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Stockouts lose sales. Extra slots provide stock, not</a:t>
            </a:r>
          </a:p>
          <a:p>
            <a:pPr>
              <a:lnSpc>
                <a:spcPts val="2295"/>
              </a:lnSpc>
              <a:spcBef>
                <a:spcPts val="0"/>
              </a:spcBef>
              <a:spcAft>
                <a:spcPts val="0"/>
              </a:spcAft>
              <a:defRPr sz="1700" b="0">
                <a:solidFill>
                  <a:srgbClr val="173A42"/>
                </a:solidFill>
                <a:latin typeface="DejaVu Sans"/>
              </a:defRPr>
            </a:pPr>
            <a:r>
              <a:t>extra demand.</a:t>
            </a:r>
          </a:p>
        </p:txBody>
      </p:sp>
      <p:sp>
        <p:nvSpPr>
          <p:cNvPr id="43" name="Rounded Rectangle 42"/>
          <p:cNvSpPr/>
          <p:nvPr/>
        </p:nvSpPr>
        <p:spPr>
          <a:xfrm>
            <a:off x="5816600" y="4189729"/>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45200" y="4113529"/>
            <a:ext cx="54864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Each product has one selling price across all its</a:t>
            </a:r>
          </a:p>
          <a:p>
            <a:pPr>
              <a:lnSpc>
                <a:spcPts val="2295"/>
              </a:lnSpc>
              <a:spcBef>
                <a:spcPts val="0"/>
              </a:spcBef>
              <a:spcAft>
                <a:spcPts val="0"/>
              </a:spcAft>
              <a:defRPr sz="1700" b="0">
                <a:solidFill>
                  <a:srgbClr val="173A42"/>
                </a:solidFill>
                <a:latin typeface="DejaVu Sans"/>
              </a:defRPr>
            </a:pPr>
            <a:r>
              <a:t>slots.</a:t>
            </a:r>
          </a:p>
        </p:txBody>
      </p:sp>
      <p:sp>
        <p:nvSpPr>
          <p:cNvPr id="45" name="Rounded Rectangle 44"/>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Use small experiments and observed sales to choose an assortment and price policy.</a:t>
            </a:r>
          </a:p>
        </p:txBody>
      </p:sp>
      <p:cxnSp>
        <p:nvCxnSpPr>
          <p:cNvPr id="47" name="Connector 46"/>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49" name="TextBox 48"/>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CAEFA1"/>
                </a:solidFill>
                <a:latin typeface="DejaVu Sans"/>
              </a:defRPr>
            </a:pPr>
            <a:r>
              <a:t>03 / SCORING</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FFFFFF"/>
                </a:solidFill>
                <a:latin typeface="DejaVu Sans"/>
              </a:defRPr>
            </a:pPr>
            <a:r>
              <a:t>Grow net assets, not just revenue.</a:t>
            </a:r>
          </a:p>
        </p:txBody>
      </p:sp>
      <p:sp>
        <p:nvSpPr>
          <p:cNvPr id="5" name="TextBox 4"/>
          <p:cNvSpPr txBox="1"/>
          <p:nvPr/>
        </p:nvSpPr>
        <p:spPr>
          <a:xfrm>
            <a:off x="698500" y="2146300"/>
            <a:ext cx="10160000" cy="241300"/>
          </a:xfrm>
          <a:prstGeom prst="rect">
            <a:avLst/>
          </a:prstGeom>
          <a:noFill/>
        </p:spPr>
        <p:txBody>
          <a:bodyPr wrap="none" lIns="0" rIns="0" tIns="0" bIns="0">
            <a:spAutoFit/>
          </a:bodyPr>
          <a:lstStyle/>
          <a:p>
            <a:pPr>
              <a:lnSpc>
                <a:spcPts val="1397"/>
              </a:lnSpc>
              <a:spcBef>
                <a:spcPts val="0"/>
              </a:spcBef>
              <a:spcAft>
                <a:spcPts val="0"/>
              </a:spcAft>
              <a:defRPr sz="1100" b="1">
                <a:solidFill>
                  <a:srgbClr val="CAEFA1"/>
                </a:solidFill>
                <a:latin typeface="DejaVu Sans"/>
              </a:defRPr>
            </a:pPr>
            <a:r>
              <a:t>FINAL SCORE</a:t>
            </a:r>
          </a:p>
        </p:txBody>
      </p:sp>
      <p:sp>
        <p:nvSpPr>
          <p:cNvPr id="6" name="TextBox 5"/>
          <p:cNvSpPr txBox="1"/>
          <p:nvPr/>
        </p:nvSpPr>
        <p:spPr>
          <a:xfrm>
            <a:off x="698500" y="2603500"/>
            <a:ext cx="10731500" cy="1003300"/>
          </a:xfrm>
          <a:prstGeom prst="rect">
            <a:avLst/>
          </a:prstGeom>
          <a:noFill/>
        </p:spPr>
        <p:txBody>
          <a:bodyPr wrap="none" lIns="0" rIns="0" tIns="0" bIns="0">
            <a:spAutoFit/>
          </a:bodyPr>
          <a:lstStyle/>
          <a:p>
            <a:pPr>
              <a:lnSpc>
                <a:spcPts val="3375"/>
              </a:lnSpc>
              <a:spcBef>
                <a:spcPts val="0"/>
              </a:spcBef>
              <a:spcAft>
                <a:spcPts val="0"/>
              </a:spcAft>
              <a:defRPr sz="2500" b="1">
                <a:solidFill>
                  <a:srgbClr val="FFFFFF"/>
                </a:solidFill>
                <a:latin typeface="DejaVu Sans"/>
              </a:defRPr>
            </a:pPr>
            <a:r>
              <a:t>Spendable cash + machine cash</a:t>
            </a:r>
          </a:p>
          <a:p>
            <a:pPr>
              <a:lnSpc>
                <a:spcPts val="3375"/>
              </a:lnSpc>
              <a:spcBef>
                <a:spcPts val="0"/>
              </a:spcBef>
              <a:spcAft>
                <a:spcPts val="0"/>
              </a:spcAft>
              <a:defRPr sz="2500" b="1">
                <a:solidFill>
                  <a:srgbClr val="FFFFFF"/>
                </a:solidFill>
                <a:latin typeface="DejaVu Sans"/>
              </a:defRPr>
            </a:pPr>
            <a:r>
              <a:t>+ inventory at acquisition cost − fee debt</a:t>
            </a:r>
          </a:p>
        </p:txBody>
      </p:sp>
      <p:sp>
        <p:nvSpPr>
          <p:cNvPr id="7" name="Rounded Rectangle 6"/>
          <p:cNvSpPr/>
          <p:nvPr/>
        </p:nvSpPr>
        <p:spPr>
          <a:xfrm>
            <a:off x="660400" y="4140200"/>
            <a:ext cx="2032000" cy="1244600"/>
          </a:xfrm>
          <a:prstGeom prst="roundRect">
            <a:avLst>
              <a:gd name="adj" fmla="val 9183"/>
            </a:avLst>
          </a:prstGeom>
          <a:solidFill>
            <a:srgbClr val="224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900" y="4343400"/>
            <a:ext cx="1727200" cy="508000"/>
          </a:xfrm>
          <a:prstGeom prst="rect">
            <a:avLst/>
          </a:prstGeom>
          <a:noFill/>
        </p:spPr>
        <p:txBody>
          <a:bodyPr wrap="none" lIns="0" rIns="0" tIns="0" bIns="0">
            <a:spAutoFit/>
          </a:bodyPr>
          <a:lstStyle/>
          <a:p>
            <a:pPr>
              <a:lnSpc>
                <a:spcPts val="3429"/>
              </a:lnSpc>
              <a:spcBef>
                <a:spcPts val="0"/>
              </a:spcBef>
              <a:spcAft>
                <a:spcPts val="0"/>
              </a:spcAft>
              <a:defRPr sz="2700" b="1">
                <a:solidFill>
                  <a:srgbClr val="FFFFFF"/>
                </a:solidFill>
                <a:latin typeface="DejaVu Sans"/>
              </a:defRPr>
            </a:pPr>
            <a:r>
              <a:t>$350</a:t>
            </a:r>
          </a:p>
        </p:txBody>
      </p:sp>
      <p:sp>
        <p:nvSpPr>
          <p:cNvPr id="9" name="TextBox 8"/>
          <p:cNvSpPr txBox="1"/>
          <p:nvPr/>
        </p:nvSpPr>
        <p:spPr>
          <a:xfrm>
            <a:off x="850900" y="4965700"/>
            <a:ext cx="1727200" cy="254000"/>
          </a:xfrm>
          <a:prstGeom prst="rect">
            <a:avLst/>
          </a:prstGeom>
          <a:noFill/>
        </p:spPr>
        <p:txBody>
          <a:bodyPr wrap="none" lIns="0" rIns="0" tIns="0" bIns="0">
            <a:spAutoFit/>
          </a:bodyPr>
          <a:lstStyle/>
          <a:p>
            <a:pPr>
              <a:lnSpc>
                <a:spcPts val="1651"/>
              </a:lnSpc>
              <a:spcBef>
                <a:spcPts val="0"/>
              </a:spcBef>
              <a:spcAft>
                <a:spcPts val="0"/>
              </a:spcAft>
              <a:defRPr sz="1300" b="0">
                <a:solidFill>
                  <a:srgbClr val="A6C1C6"/>
                </a:solidFill>
                <a:latin typeface="DejaVu Sans"/>
              </a:defRPr>
            </a:pPr>
            <a:r>
              <a:t>cash</a:t>
            </a:r>
          </a:p>
        </p:txBody>
      </p:sp>
      <p:sp>
        <p:nvSpPr>
          <p:cNvPr id="10" name="Rounded Rectangle 9"/>
          <p:cNvSpPr/>
          <p:nvPr/>
        </p:nvSpPr>
        <p:spPr>
          <a:xfrm>
            <a:off x="2870200" y="4140200"/>
            <a:ext cx="2032000" cy="1244600"/>
          </a:xfrm>
          <a:prstGeom prst="roundRect">
            <a:avLst>
              <a:gd name="adj" fmla="val 9183"/>
            </a:avLst>
          </a:prstGeom>
          <a:solidFill>
            <a:srgbClr val="224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0700" y="4343400"/>
            <a:ext cx="1727200" cy="508000"/>
          </a:xfrm>
          <a:prstGeom prst="rect">
            <a:avLst/>
          </a:prstGeom>
          <a:noFill/>
        </p:spPr>
        <p:txBody>
          <a:bodyPr wrap="none" lIns="0" rIns="0" tIns="0" bIns="0">
            <a:spAutoFit/>
          </a:bodyPr>
          <a:lstStyle/>
          <a:p>
            <a:pPr>
              <a:lnSpc>
                <a:spcPts val="3429"/>
              </a:lnSpc>
              <a:spcBef>
                <a:spcPts val="0"/>
              </a:spcBef>
              <a:spcAft>
                <a:spcPts val="0"/>
              </a:spcAft>
              <a:defRPr sz="2700" b="1">
                <a:solidFill>
                  <a:srgbClr val="FFFFFF"/>
                </a:solidFill>
                <a:latin typeface="DejaVu Sans"/>
              </a:defRPr>
            </a:pPr>
            <a:r>
              <a:t>+ $80</a:t>
            </a:r>
          </a:p>
        </p:txBody>
      </p:sp>
      <p:sp>
        <p:nvSpPr>
          <p:cNvPr id="12" name="TextBox 11"/>
          <p:cNvSpPr txBox="1"/>
          <p:nvPr/>
        </p:nvSpPr>
        <p:spPr>
          <a:xfrm>
            <a:off x="3060700" y="4965700"/>
            <a:ext cx="1727200" cy="254000"/>
          </a:xfrm>
          <a:prstGeom prst="rect">
            <a:avLst/>
          </a:prstGeom>
          <a:noFill/>
        </p:spPr>
        <p:txBody>
          <a:bodyPr wrap="none" lIns="0" rIns="0" tIns="0" bIns="0">
            <a:spAutoFit/>
          </a:bodyPr>
          <a:lstStyle/>
          <a:p>
            <a:pPr>
              <a:lnSpc>
                <a:spcPts val="1651"/>
              </a:lnSpc>
              <a:spcBef>
                <a:spcPts val="0"/>
              </a:spcBef>
              <a:spcAft>
                <a:spcPts val="0"/>
              </a:spcAft>
              <a:defRPr sz="1300" b="0">
                <a:solidFill>
                  <a:srgbClr val="A6C1C6"/>
                </a:solidFill>
                <a:latin typeface="DejaVu Sans"/>
              </a:defRPr>
            </a:pPr>
            <a:r>
              <a:t>machine</a:t>
            </a:r>
          </a:p>
        </p:txBody>
      </p:sp>
      <p:sp>
        <p:nvSpPr>
          <p:cNvPr id="13" name="Rounded Rectangle 12"/>
          <p:cNvSpPr/>
          <p:nvPr/>
        </p:nvSpPr>
        <p:spPr>
          <a:xfrm>
            <a:off x="5080000" y="4140200"/>
            <a:ext cx="2032000" cy="1244600"/>
          </a:xfrm>
          <a:prstGeom prst="roundRect">
            <a:avLst>
              <a:gd name="adj" fmla="val 9183"/>
            </a:avLst>
          </a:prstGeom>
          <a:solidFill>
            <a:srgbClr val="224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0500" y="4343400"/>
            <a:ext cx="1727200" cy="508000"/>
          </a:xfrm>
          <a:prstGeom prst="rect">
            <a:avLst/>
          </a:prstGeom>
          <a:noFill/>
        </p:spPr>
        <p:txBody>
          <a:bodyPr wrap="none" lIns="0" rIns="0" tIns="0" bIns="0">
            <a:spAutoFit/>
          </a:bodyPr>
          <a:lstStyle/>
          <a:p>
            <a:pPr>
              <a:lnSpc>
                <a:spcPts val="3429"/>
              </a:lnSpc>
              <a:spcBef>
                <a:spcPts val="0"/>
              </a:spcBef>
              <a:spcAft>
                <a:spcPts val="0"/>
              </a:spcAft>
              <a:defRPr sz="2700" b="1">
                <a:solidFill>
                  <a:srgbClr val="FFFFFF"/>
                </a:solidFill>
                <a:latin typeface="DejaVu Sans"/>
              </a:defRPr>
            </a:pPr>
            <a:r>
              <a:t>+ $130</a:t>
            </a:r>
          </a:p>
        </p:txBody>
      </p:sp>
      <p:sp>
        <p:nvSpPr>
          <p:cNvPr id="15" name="TextBox 14"/>
          <p:cNvSpPr txBox="1"/>
          <p:nvPr/>
        </p:nvSpPr>
        <p:spPr>
          <a:xfrm>
            <a:off x="5270500" y="4965700"/>
            <a:ext cx="1727200" cy="254000"/>
          </a:xfrm>
          <a:prstGeom prst="rect">
            <a:avLst/>
          </a:prstGeom>
          <a:noFill/>
        </p:spPr>
        <p:txBody>
          <a:bodyPr wrap="none" lIns="0" rIns="0" tIns="0" bIns="0">
            <a:spAutoFit/>
          </a:bodyPr>
          <a:lstStyle/>
          <a:p>
            <a:pPr>
              <a:lnSpc>
                <a:spcPts val="1651"/>
              </a:lnSpc>
              <a:spcBef>
                <a:spcPts val="0"/>
              </a:spcBef>
              <a:spcAft>
                <a:spcPts val="0"/>
              </a:spcAft>
              <a:defRPr sz="1300" b="0">
                <a:solidFill>
                  <a:srgbClr val="A6C1C6"/>
                </a:solidFill>
                <a:latin typeface="DejaVu Sans"/>
              </a:defRPr>
            </a:pPr>
            <a:r>
              <a:t>inventory</a:t>
            </a:r>
          </a:p>
        </p:txBody>
      </p:sp>
      <p:sp>
        <p:nvSpPr>
          <p:cNvPr id="16" name="Rounded Rectangle 15"/>
          <p:cNvSpPr/>
          <p:nvPr/>
        </p:nvSpPr>
        <p:spPr>
          <a:xfrm>
            <a:off x="7289800" y="4140200"/>
            <a:ext cx="2032000" cy="1244600"/>
          </a:xfrm>
          <a:prstGeom prst="roundRect">
            <a:avLst>
              <a:gd name="adj" fmla="val 9183"/>
            </a:avLst>
          </a:prstGeom>
          <a:solidFill>
            <a:srgbClr val="224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0300" y="4343400"/>
            <a:ext cx="1727200" cy="508000"/>
          </a:xfrm>
          <a:prstGeom prst="rect">
            <a:avLst/>
          </a:prstGeom>
          <a:noFill/>
        </p:spPr>
        <p:txBody>
          <a:bodyPr wrap="none" lIns="0" rIns="0" tIns="0" bIns="0">
            <a:spAutoFit/>
          </a:bodyPr>
          <a:lstStyle/>
          <a:p>
            <a:pPr>
              <a:lnSpc>
                <a:spcPts val="3429"/>
              </a:lnSpc>
              <a:spcBef>
                <a:spcPts val="0"/>
              </a:spcBef>
              <a:spcAft>
                <a:spcPts val="0"/>
              </a:spcAft>
              <a:defRPr sz="2700" b="1">
                <a:solidFill>
                  <a:srgbClr val="FFFFFF"/>
                </a:solidFill>
                <a:latin typeface="DejaVu Sans"/>
              </a:defRPr>
            </a:pPr>
            <a:r>
              <a:t>− $10</a:t>
            </a:r>
          </a:p>
        </p:txBody>
      </p:sp>
      <p:sp>
        <p:nvSpPr>
          <p:cNvPr id="18" name="TextBox 17"/>
          <p:cNvSpPr txBox="1"/>
          <p:nvPr/>
        </p:nvSpPr>
        <p:spPr>
          <a:xfrm>
            <a:off x="7480300" y="4965700"/>
            <a:ext cx="1727200" cy="254000"/>
          </a:xfrm>
          <a:prstGeom prst="rect">
            <a:avLst/>
          </a:prstGeom>
          <a:noFill/>
        </p:spPr>
        <p:txBody>
          <a:bodyPr wrap="none" lIns="0" rIns="0" tIns="0" bIns="0">
            <a:spAutoFit/>
          </a:bodyPr>
          <a:lstStyle/>
          <a:p>
            <a:pPr>
              <a:lnSpc>
                <a:spcPts val="1651"/>
              </a:lnSpc>
              <a:spcBef>
                <a:spcPts val="0"/>
              </a:spcBef>
              <a:spcAft>
                <a:spcPts val="0"/>
              </a:spcAft>
              <a:defRPr sz="1300" b="0">
                <a:solidFill>
                  <a:srgbClr val="A6C1C6"/>
                </a:solidFill>
                <a:latin typeface="DejaVu Sans"/>
              </a:defRPr>
            </a:pPr>
            <a:r>
              <a:t>debt</a:t>
            </a:r>
          </a:p>
        </p:txBody>
      </p:sp>
      <p:sp>
        <p:nvSpPr>
          <p:cNvPr id="19" name="Rounded Rectangle 18"/>
          <p:cNvSpPr/>
          <p:nvPr/>
        </p:nvSpPr>
        <p:spPr>
          <a:xfrm>
            <a:off x="9499600" y="4140200"/>
            <a:ext cx="2032000" cy="1244600"/>
          </a:xfrm>
          <a:prstGeom prst="roundRect">
            <a:avLst>
              <a:gd name="adj" fmla="val 9183"/>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0100" y="4343400"/>
            <a:ext cx="1727200" cy="508000"/>
          </a:xfrm>
          <a:prstGeom prst="rect">
            <a:avLst/>
          </a:prstGeom>
          <a:noFill/>
        </p:spPr>
        <p:txBody>
          <a:bodyPr wrap="none" lIns="0" rIns="0" tIns="0" bIns="0">
            <a:spAutoFit/>
          </a:bodyPr>
          <a:lstStyle/>
          <a:p>
            <a:pPr>
              <a:lnSpc>
                <a:spcPts val="3429"/>
              </a:lnSpc>
              <a:spcBef>
                <a:spcPts val="0"/>
              </a:spcBef>
              <a:spcAft>
                <a:spcPts val="0"/>
              </a:spcAft>
              <a:defRPr sz="2700" b="1">
                <a:solidFill>
                  <a:srgbClr val="173A42"/>
                </a:solidFill>
                <a:latin typeface="DejaVu Sans"/>
              </a:defRPr>
            </a:pPr>
            <a:r>
              <a:t>= $550</a:t>
            </a:r>
          </a:p>
        </p:txBody>
      </p:sp>
      <p:sp>
        <p:nvSpPr>
          <p:cNvPr id="21" name="TextBox 20"/>
          <p:cNvSpPr txBox="1"/>
          <p:nvPr/>
        </p:nvSpPr>
        <p:spPr>
          <a:xfrm>
            <a:off x="9690100" y="4965700"/>
            <a:ext cx="1727200" cy="254000"/>
          </a:xfrm>
          <a:prstGeom prst="rect">
            <a:avLst/>
          </a:prstGeom>
          <a:noFill/>
        </p:spPr>
        <p:txBody>
          <a:bodyPr wrap="none" lIns="0" rIns="0" tIns="0" bIns="0">
            <a:spAutoFit/>
          </a:bodyPr>
          <a:lstStyle/>
          <a:p>
            <a:pPr>
              <a:lnSpc>
                <a:spcPts val="1651"/>
              </a:lnSpc>
              <a:spcBef>
                <a:spcPts val="0"/>
              </a:spcBef>
              <a:spcAft>
                <a:spcPts val="0"/>
              </a:spcAft>
              <a:defRPr sz="1300" b="0">
                <a:solidFill>
                  <a:srgbClr val="173A42"/>
                </a:solidFill>
                <a:latin typeface="DejaVu Sans"/>
              </a:defRPr>
            </a:pPr>
            <a:r>
              <a:t>score</a:t>
            </a:r>
          </a:p>
        </p:txBody>
      </p:sp>
      <p:sp>
        <p:nvSpPr>
          <p:cNvPr id="22" name="Rounded Rectangle 21"/>
          <p:cNvSpPr/>
          <p:nvPr/>
        </p:nvSpPr>
        <p:spPr>
          <a:xfrm>
            <a:off x="660400" y="5842000"/>
            <a:ext cx="10871200" cy="546100"/>
          </a:xfrm>
          <a:prstGeom prst="roundRect">
            <a:avLst>
              <a:gd name="adj" fmla="val 15000"/>
            </a:avLst>
          </a:prstGeom>
          <a:solidFill>
            <a:srgbClr val="19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CAEFA1"/>
                </a:solidFill>
                <a:latin typeface="DejaVu Sans"/>
              </a:defRPr>
            </a:pPr>
            <a:r>
              <a:t>With $500 starting cash, this illustrative result is $50 net profit.</a:t>
            </a:r>
          </a:p>
        </p:txBody>
      </p:sp>
      <p:cxnSp>
        <p:nvCxnSpPr>
          <p:cNvPr id="24" name="Connector 23"/>
          <p:cNvCxnSpPr/>
          <p:nvPr/>
        </p:nvCxnSpPr>
        <p:spPr>
          <a:xfrm>
            <a:off x="660400" y="6565900"/>
            <a:ext cx="10871200" cy="0"/>
          </a:xfrm>
          <a:prstGeom prst="line">
            <a:avLst/>
          </a:prstGeom>
          <a:ln w="8255">
            <a:solidFill>
              <a:srgbClr val="32515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A6C1C6"/>
                </a:solidFill>
                <a:latin typeface="DejaVu Sans"/>
              </a:defRPr>
            </a:pPr>
            <a:r>
              <a:t>VENDING BENCH  /  PARTICIPANT BRIEFING</a:t>
            </a:r>
          </a:p>
        </p:txBody>
      </p:sp>
      <p:sp>
        <p:nvSpPr>
          <p:cNvPr id="26" name="TextBox 25"/>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CAEFA1"/>
                </a:solidFill>
                <a:latin typeface="DejaVu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04 / HARNESS DESIGN</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Every tool call has an operating cost.</a:t>
            </a:r>
          </a:p>
        </p:txBody>
      </p:sp>
      <p:sp>
        <p:nvSpPr>
          <p:cNvPr id="5" name="Rounded Rectangle 4"/>
          <p:cNvSpPr/>
          <p:nvPr/>
        </p:nvSpPr>
        <p:spPr>
          <a:xfrm>
            <a:off x="660400" y="2120900"/>
            <a:ext cx="10871200" cy="431800"/>
          </a:xfrm>
          <a:prstGeom prst="roundRect">
            <a:avLst>
              <a:gd name="adj" fmla="val 14705"/>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500" y="2247900"/>
            <a:ext cx="17780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DEFAULT TIME</a:t>
            </a:r>
          </a:p>
        </p:txBody>
      </p:sp>
      <p:sp>
        <p:nvSpPr>
          <p:cNvPr id="7" name="TextBox 6"/>
          <p:cNvSpPr txBox="1"/>
          <p:nvPr/>
        </p:nvSpPr>
        <p:spPr>
          <a:xfrm>
            <a:off x="2921000" y="2247900"/>
            <a:ext cx="5029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ACTIONS</a:t>
            </a:r>
          </a:p>
        </p:txBody>
      </p:sp>
      <p:sp>
        <p:nvSpPr>
          <p:cNvPr id="8" name="TextBox 7"/>
          <p:cNvSpPr txBox="1"/>
          <p:nvPr/>
        </p:nvSpPr>
        <p:spPr>
          <a:xfrm>
            <a:off x="8267700" y="2247900"/>
            <a:ext cx="31115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USE</a:t>
            </a:r>
          </a:p>
        </p:txBody>
      </p:sp>
      <p:sp>
        <p:nvSpPr>
          <p:cNvPr id="9" name="Rectangle 8"/>
          <p:cNvSpPr/>
          <p:nvPr/>
        </p:nvSpPr>
        <p:spPr>
          <a:xfrm>
            <a:off x="660400" y="255270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705100"/>
            <a:ext cx="1778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5 minutes</a:t>
            </a:r>
          </a:p>
        </p:txBody>
      </p:sp>
      <p:sp>
        <p:nvSpPr>
          <p:cNvPr id="11" name="TextBox 10"/>
          <p:cNvSpPr txBox="1"/>
          <p:nvPr/>
        </p:nvSpPr>
        <p:spPr>
          <a:xfrm>
            <a:off x="2921000" y="2705100"/>
            <a:ext cx="5029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observe · get_inventory · get_balance</a:t>
            </a:r>
          </a:p>
          <a:p>
            <a:pPr>
              <a:lnSpc>
                <a:spcPts val="1844"/>
              </a:lnSpc>
              <a:spcBef>
                <a:spcPts val="0"/>
              </a:spcBef>
              <a:spcAft>
                <a:spcPts val="0"/>
              </a:spcAft>
              <a:defRPr sz="1550" b="0">
                <a:solidFill>
                  <a:srgbClr val="173A42"/>
                </a:solidFill>
                <a:latin typeface="DejaVu Sans"/>
              </a:defRPr>
            </a:pPr>
            <a:r>
              <a:t>get_machine · collect_cash</a:t>
            </a:r>
          </a:p>
        </p:txBody>
      </p:sp>
      <p:sp>
        <p:nvSpPr>
          <p:cNvPr id="12" name="TextBox 11"/>
          <p:cNvSpPr txBox="1"/>
          <p:nvPr/>
        </p:nvSpPr>
        <p:spPr>
          <a:xfrm>
            <a:off x="8267700" y="2705100"/>
            <a:ext cx="3111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Read state or collect revenue</a:t>
            </a:r>
          </a:p>
        </p:txBody>
      </p:sp>
      <p:sp>
        <p:nvSpPr>
          <p:cNvPr id="13" name="Rectangle 12"/>
          <p:cNvSpPr/>
          <p:nvPr/>
        </p:nvSpPr>
        <p:spPr>
          <a:xfrm>
            <a:off x="660400" y="3167380"/>
            <a:ext cx="10871200" cy="614680"/>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500" y="3319779"/>
            <a:ext cx="1778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25 minutes</a:t>
            </a:r>
          </a:p>
        </p:txBody>
      </p:sp>
      <p:sp>
        <p:nvSpPr>
          <p:cNvPr id="15" name="TextBox 14"/>
          <p:cNvSpPr txBox="1"/>
          <p:nvPr/>
        </p:nvSpPr>
        <p:spPr>
          <a:xfrm>
            <a:off x="2921000" y="3319779"/>
            <a:ext cx="5029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search_products · set_price</a:t>
            </a:r>
          </a:p>
        </p:txBody>
      </p:sp>
      <p:sp>
        <p:nvSpPr>
          <p:cNvPr id="16" name="TextBox 15"/>
          <p:cNvSpPr txBox="1"/>
          <p:nvPr/>
        </p:nvSpPr>
        <p:spPr>
          <a:xfrm>
            <a:off x="8267700" y="3319779"/>
            <a:ext cx="3111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Research or change pricing</a:t>
            </a:r>
          </a:p>
        </p:txBody>
      </p:sp>
      <p:sp>
        <p:nvSpPr>
          <p:cNvPr id="17" name="Rectangle 16"/>
          <p:cNvSpPr/>
          <p:nvPr/>
        </p:nvSpPr>
        <p:spPr>
          <a:xfrm>
            <a:off x="660400" y="378206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500" y="3934460"/>
            <a:ext cx="1778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75 minutes</a:t>
            </a:r>
          </a:p>
        </p:txBody>
      </p:sp>
      <p:sp>
        <p:nvSpPr>
          <p:cNvPr id="19" name="TextBox 18"/>
          <p:cNvSpPr txBox="1"/>
          <p:nvPr/>
        </p:nvSpPr>
        <p:spPr>
          <a:xfrm>
            <a:off x="2921000" y="3934460"/>
            <a:ext cx="5029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make_offer · stock_items · unstock_items</a:t>
            </a:r>
          </a:p>
        </p:txBody>
      </p:sp>
      <p:sp>
        <p:nvSpPr>
          <p:cNvPr id="20" name="TextBox 19"/>
          <p:cNvSpPr txBox="1"/>
          <p:nvPr/>
        </p:nvSpPr>
        <p:spPr>
          <a:xfrm>
            <a:off x="8267700" y="3934460"/>
            <a:ext cx="3111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Source or move inventory</a:t>
            </a:r>
          </a:p>
        </p:txBody>
      </p:sp>
      <p:sp>
        <p:nvSpPr>
          <p:cNvPr id="21" name="Rectangle 20"/>
          <p:cNvSpPr/>
          <p:nvPr/>
        </p:nvSpPr>
        <p:spPr>
          <a:xfrm>
            <a:off x="660400" y="4396740"/>
            <a:ext cx="10871200" cy="614680"/>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00" y="4549140"/>
            <a:ext cx="1778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300 minutes</a:t>
            </a:r>
          </a:p>
        </p:txBody>
      </p:sp>
      <p:sp>
        <p:nvSpPr>
          <p:cNvPr id="23" name="TextBox 22"/>
          <p:cNvSpPr txBox="1"/>
          <p:nvPr/>
        </p:nvSpPr>
        <p:spPr>
          <a:xfrm>
            <a:off x="2921000" y="4549140"/>
            <a:ext cx="5029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wait</a:t>
            </a:r>
          </a:p>
        </p:txBody>
      </p:sp>
      <p:sp>
        <p:nvSpPr>
          <p:cNvPr id="24" name="TextBox 23"/>
          <p:cNvSpPr txBox="1"/>
          <p:nvPr/>
        </p:nvSpPr>
        <p:spPr>
          <a:xfrm>
            <a:off x="8267700" y="4549140"/>
            <a:ext cx="3111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Advance five simulated hours</a:t>
            </a:r>
          </a:p>
        </p:txBody>
      </p:sp>
      <p:sp>
        <p:nvSpPr>
          <p:cNvPr id="25" name="Rectangle 24"/>
          <p:cNvSpPr/>
          <p:nvPr/>
        </p:nvSpPr>
        <p:spPr>
          <a:xfrm>
            <a:off x="660400" y="501142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500" y="5163820"/>
            <a:ext cx="1778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To midnight</a:t>
            </a:r>
          </a:p>
        </p:txBody>
      </p:sp>
      <p:sp>
        <p:nvSpPr>
          <p:cNvPr id="27" name="TextBox 26"/>
          <p:cNvSpPr txBox="1"/>
          <p:nvPr/>
        </p:nvSpPr>
        <p:spPr>
          <a:xfrm>
            <a:off x="2921000" y="5163820"/>
            <a:ext cx="5029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end_day</a:t>
            </a:r>
          </a:p>
        </p:txBody>
      </p:sp>
      <p:sp>
        <p:nvSpPr>
          <p:cNvPr id="28" name="TextBox 27"/>
          <p:cNvSpPr txBox="1"/>
          <p:nvPr/>
        </p:nvSpPr>
        <p:spPr>
          <a:xfrm>
            <a:off x="8267700" y="5163820"/>
            <a:ext cx="3111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Finish the current day</a:t>
            </a:r>
          </a:p>
        </p:txBody>
      </p:sp>
      <p:sp>
        <p:nvSpPr>
          <p:cNvPr id="29" name="Rounded Rectangle 28"/>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Business refusals consume action time. Malformed requests do not.</a:t>
            </a:r>
          </a:p>
        </p:txBody>
      </p:sp>
      <p:cxnSp>
        <p:nvCxnSpPr>
          <p:cNvPr id="31" name="Connector 30"/>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3" name="TextBox 32"/>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04 / HARNESS DESIGN</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Build a loop that stays useful under pressure.</a:t>
            </a:r>
          </a:p>
        </p:txBody>
      </p:sp>
      <p:sp>
        <p:nvSpPr>
          <p:cNvPr id="5" name="Rounded Rectangle 4"/>
          <p:cNvSpPr/>
          <p:nvPr/>
        </p:nvSpPr>
        <p:spPr>
          <a:xfrm>
            <a:off x="660400" y="2349500"/>
            <a:ext cx="2001520" cy="2565400"/>
          </a:xfrm>
          <a:prstGeom prst="roundRect">
            <a:avLst>
              <a:gd name="adj" fmla="val 63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89000"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7900"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01</a:t>
            </a:r>
          </a:p>
        </p:txBody>
      </p:sp>
      <p:sp>
        <p:nvSpPr>
          <p:cNvPr id="8" name="TextBox 7"/>
          <p:cNvSpPr txBox="1"/>
          <p:nvPr/>
        </p:nvSpPr>
        <p:spPr>
          <a:xfrm>
            <a:off x="889000" y="3314700"/>
            <a:ext cx="1544320" cy="419100"/>
          </a:xfrm>
          <a:prstGeom prst="rect">
            <a:avLst/>
          </a:prstGeom>
          <a:noFill/>
        </p:spPr>
        <p:txBody>
          <a:bodyPr wrap="none" lIns="0" rIns="0" tIns="0" bIns="0">
            <a:spAutoFit/>
          </a:bodyPr>
          <a:lstStyle/>
          <a:p>
            <a:pPr>
              <a:lnSpc>
                <a:spcPts val="2286"/>
              </a:lnSpc>
              <a:spcBef>
                <a:spcPts val="0"/>
              </a:spcBef>
              <a:spcAft>
                <a:spcPts val="0"/>
              </a:spcAft>
              <a:defRPr sz="1800" b="1">
                <a:solidFill>
                  <a:srgbClr val="173A42"/>
                </a:solidFill>
                <a:latin typeface="DejaVu Sans"/>
              </a:defRPr>
            </a:pPr>
            <a:r>
              <a:t>Observe</a:t>
            </a:r>
          </a:p>
        </p:txBody>
      </p:sp>
      <p:sp>
        <p:nvSpPr>
          <p:cNvPr id="9" name="TextBox 8"/>
          <p:cNvSpPr txBox="1"/>
          <p:nvPr/>
        </p:nvSpPr>
        <p:spPr>
          <a:xfrm>
            <a:off x="889000" y="3873500"/>
            <a:ext cx="1544320" cy="927100"/>
          </a:xfrm>
          <a:prstGeom prst="rect">
            <a:avLst/>
          </a:prstGeom>
          <a:noFill/>
        </p:spPr>
        <p:txBody>
          <a:bodyPr wrap="none" lIns="0" rIns="0" tIns="0" bIns="0">
            <a:spAutoFit/>
          </a:bodyPr>
          <a:lstStyle/>
          <a:p>
            <a:pPr>
              <a:lnSpc>
                <a:spcPts val="1995"/>
              </a:lnSpc>
              <a:spcBef>
                <a:spcPts val="0"/>
              </a:spcBef>
              <a:spcAft>
                <a:spcPts val="0"/>
              </a:spcAft>
              <a:defRPr sz="1500" b="0">
                <a:solidFill>
                  <a:srgbClr val="173A42"/>
                </a:solidFill>
                <a:latin typeface="DejaVu Sans"/>
              </a:defRPr>
            </a:pPr>
            <a:r>
              <a:t>Initialize from</a:t>
            </a:r>
          </a:p>
          <a:p>
            <a:pPr>
              <a:lnSpc>
                <a:spcPts val="1995"/>
              </a:lnSpc>
              <a:spcBef>
                <a:spcPts val="0"/>
              </a:spcBef>
              <a:spcAft>
                <a:spcPts val="0"/>
              </a:spcAft>
              <a:defRPr sz="1500" b="0">
                <a:solidFill>
                  <a:srgbClr val="173A42"/>
                </a:solidFill>
                <a:latin typeface="DejaVu Sans"/>
              </a:defRPr>
            </a:pPr>
            <a:r>
              <a:t>public state.</a:t>
            </a:r>
          </a:p>
        </p:txBody>
      </p:sp>
      <p:sp>
        <p:nvSpPr>
          <p:cNvPr id="10" name="TextBox 9"/>
          <p:cNvSpPr txBox="1"/>
          <p:nvPr/>
        </p:nvSpPr>
        <p:spPr>
          <a:xfrm>
            <a:off x="2712720"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11" name="Rounded Rectangle 10"/>
          <p:cNvSpPr/>
          <p:nvPr/>
        </p:nvSpPr>
        <p:spPr>
          <a:xfrm>
            <a:off x="2877820" y="2349500"/>
            <a:ext cx="2001520" cy="2565400"/>
          </a:xfrm>
          <a:prstGeom prst="roundRect">
            <a:avLst>
              <a:gd name="adj" fmla="val 63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06420"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95320"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02</a:t>
            </a:r>
          </a:p>
        </p:txBody>
      </p:sp>
      <p:sp>
        <p:nvSpPr>
          <p:cNvPr id="14" name="TextBox 13"/>
          <p:cNvSpPr txBox="1"/>
          <p:nvPr/>
        </p:nvSpPr>
        <p:spPr>
          <a:xfrm>
            <a:off x="3106420" y="3314700"/>
            <a:ext cx="1544320" cy="419100"/>
          </a:xfrm>
          <a:prstGeom prst="rect">
            <a:avLst/>
          </a:prstGeom>
          <a:noFill/>
        </p:spPr>
        <p:txBody>
          <a:bodyPr wrap="none" lIns="0" rIns="0" tIns="0" bIns="0">
            <a:spAutoFit/>
          </a:bodyPr>
          <a:lstStyle/>
          <a:p>
            <a:pPr>
              <a:lnSpc>
                <a:spcPts val="2286"/>
              </a:lnSpc>
              <a:spcBef>
                <a:spcPts val="0"/>
              </a:spcBef>
              <a:spcAft>
                <a:spcPts val="0"/>
              </a:spcAft>
              <a:defRPr sz="1800" b="1">
                <a:solidFill>
                  <a:srgbClr val="173A42"/>
                </a:solidFill>
                <a:latin typeface="DejaVu Sans"/>
              </a:defRPr>
            </a:pPr>
            <a:r>
              <a:t>Decide</a:t>
            </a:r>
          </a:p>
        </p:txBody>
      </p:sp>
      <p:sp>
        <p:nvSpPr>
          <p:cNvPr id="15" name="TextBox 14"/>
          <p:cNvSpPr txBox="1"/>
          <p:nvPr/>
        </p:nvSpPr>
        <p:spPr>
          <a:xfrm>
            <a:off x="3106420" y="3873500"/>
            <a:ext cx="1544320" cy="927100"/>
          </a:xfrm>
          <a:prstGeom prst="rect">
            <a:avLst/>
          </a:prstGeom>
          <a:noFill/>
        </p:spPr>
        <p:txBody>
          <a:bodyPr wrap="none" lIns="0" rIns="0" tIns="0" bIns="0">
            <a:spAutoFit/>
          </a:bodyPr>
          <a:lstStyle/>
          <a:p>
            <a:pPr>
              <a:lnSpc>
                <a:spcPts val="1995"/>
              </a:lnSpc>
              <a:spcBef>
                <a:spcPts val="0"/>
              </a:spcBef>
              <a:spcAft>
                <a:spcPts val="0"/>
              </a:spcAft>
              <a:defRPr sz="1500" b="0">
                <a:solidFill>
                  <a:srgbClr val="173A42"/>
                </a:solidFill>
                <a:latin typeface="DejaVu Sans"/>
              </a:defRPr>
            </a:pPr>
            <a:r>
              <a:t>Give the policy</a:t>
            </a:r>
          </a:p>
          <a:p>
            <a:pPr>
              <a:lnSpc>
                <a:spcPts val="1995"/>
              </a:lnSpc>
              <a:spcBef>
                <a:spcPts val="0"/>
              </a:spcBef>
              <a:spcAft>
                <a:spcPts val="0"/>
              </a:spcAft>
              <a:defRPr sz="1500" b="0">
                <a:solidFill>
                  <a:srgbClr val="173A42"/>
                </a:solidFill>
                <a:latin typeface="DejaVu Sans"/>
              </a:defRPr>
            </a:pPr>
            <a:r>
              <a:t>context and</a:t>
            </a:r>
          </a:p>
          <a:p>
            <a:pPr>
              <a:lnSpc>
                <a:spcPts val="1995"/>
              </a:lnSpc>
              <a:spcBef>
                <a:spcPts val="0"/>
              </a:spcBef>
              <a:spcAft>
                <a:spcPts val="0"/>
              </a:spcAft>
              <a:defRPr sz="1500" b="0">
                <a:solidFill>
                  <a:srgbClr val="173A42"/>
                </a:solidFill>
                <a:latin typeface="DejaVu Sans"/>
              </a:defRPr>
            </a:pPr>
            <a:r>
              <a:t>budgets.</a:t>
            </a:r>
          </a:p>
        </p:txBody>
      </p:sp>
      <p:sp>
        <p:nvSpPr>
          <p:cNvPr id="16" name="TextBox 15"/>
          <p:cNvSpPr txBox="1"/>
          <p:nvPr/>
        </p:nvSpPr>
        <p:spPr>
          <a:xfrm>
            <a:off x="4930140"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17" name="Rounded Rectangle 16"/>
          <p:cNvSpPr/>
          <p:nvPr/>
        </p:nvSpPr>
        <p:spPr>
          <a:xfrm>
            <a:off x="5095240" y="2349500"/>
            <a:ext cx="2001520" cy="2565400"/>
          </a:xfrm>
          <a:prstGeom prst="roundRect">
            <a:avLst>
              <a:gd name="adj" fmla="val 63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23840"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12740"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03</a:t>
            </a:r>
          </a:p>
        </p:txBody>
      </p:sp>
      <p:sp>
        <p:nvSpPr>
          <p:cNvPr id="20" name="TextBox 19"/>
          <p:cNvSpPr txBox="1"/>
          <p:nvPr/>
        </p:nvSpPr>
        <p:spPr>
          <a:xfrm>
            <a:off x="5323840" y="3314700"/>
            <a:ext cx="1544320" cy="419100"/>
          </a:xfrm>
          <a:prstGeom prst="rect">
            <a:avLst/>
          </a:prstGeom>
          <a:noFill/>
        </p:spPr>
        <p:txBody>
          <a:bodyPr wrap="none" lIns="0" rIns="0" tIns="0" bIns="0">
            <a:spAutoFit/>
          </a:bodyPr>
          <a:lstStyle/>
          <a:p>
            <a:pPr>
              <a:lnSpc>
                <a:spcPts val="2286"/>
              </a:lnSpc>
              <a:spcBef>
                <a:spcPts val="0"/>
              </a:spcBef>
              <a:spcAft>
                <a:spcPts val="0"/>
              </a:spcAft>
              <a:defRPr sz="1800" b="1">
                <a:solidFill>
                  <a:srgbClr val="173A42"/>
                </a:solidFill>
                <a:latin typeface="DejaVu Sans"/>
              </a:defRPr>
            </a:pPr>
            <a:r>
              <a:t>Validate</a:t>
            </a:r>
          </a:p>
        </p:txBody>
      </p:sp>
      <p:sp>
        <p:nvSpPr>
          <p:cNvPr id="21" name="TextBox 20"/>
          <p:cNvSpPr txBox="1"/>
          <p:nvPr/>
        </p:nvSpPr>
        <p:spPr>
          <a:xfrm>
            <a:off x="5323840" y="3873500"/>
            <a:ext cx="1544320" cy="927100"/>
          </a:xfrm>
          <a:prstGeom prst="rect">
            <a:avLst/>
          </a:prstGeom>
          <a:noFill/>
        </p:spPr>
        <p:txBody>
          <a:bodyPr wrap="none" lIns="0" rIns="0" tIns="0" bIns="0">
            <a:spAutoFit/>
          </a:bodyPr>
          <a:lstStyle/>
          <a:p>
            <a:pPr>
              <a:lnSpc>
                <a:spcPts val="1995"/>
              </a:lnSpc>
              <a:spcBef>
                <a:spcPts val="0"/>
              </a:spcBef>
              <a:spcAft>
                <a:spcPts val="0"/>
              </a:spcAft>
              <a:defRPr sz="1500" b="0">
                <a:solidFill>
                  <a:srgbClr val="173A42"/>
                </a:solidFill>
                <a:latin typeface="DejaVu Sans"/>
              </a:defRPr>
            </a:pPr>
            <a:r>
              <a:t>Check one</a:t>
            </a:r>
          </a:p>
          <a:p>
            <a:pPr>
              <a:lnSpc>
                <a:spcPts val="1995"/>
              </a:lnSpc>
              <a:spcBef>
                <a:spcPts val="0"/>
              </a:spcBef>
              <a:spcAft>
                <a:spcPts val="0"/>
              </a:spcAft>
              <a:defRPr sz="1500" b="0">
                <a:solidFill>
                  <a:srgbClr val="173A42"/>
                </a:solidFill>
                <a:latin typeface="DejaVu Sans"/>
              </a:defRPr>
            </a:pPr>
            <a:r>
              <a:t>allowed action</a:t>
            </a:r>
          </a:p>
          <a:p>
            <a:pPr>
              <a:lnSpc>
                <a:spcPts val="1995"/>
              </a:lnSpc>
              <a:spcBef>
                <a:spcPts val="0"/>
              </a:spcBef>
              <a:spcAft>
                <a:spcPts val="0"/>
              </a:spcAft>
              <a:defRPr sz="1500" b="0">
                <a:solidFill>
                  <a:srgbClr val="173A42"/>
                </a:solidFill>
                <a:latin typeface="DejaVu Sans"/>
              </a:defRPr>
            </a:pPr>
            <a:r>
              <a:t>and payload.</a:t>
            </a:r>
          </a:p>
        </p:txBody>
      </p:sp>
      <p:sp>
        <p:nvSpPr>
          <p:cNvPr id="22" name="TextBox 21"/>
          <p:cNvSpPr txBox="1"/>
          <p:nvPr/>
        </p:nvSpPr>
        <p:spPr>
          <a:xfrm>
            <a:off x="7147559"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23" name="Rounded Rectangle 22"/>
          <p:cNvSpPr/>
          <p:nvPr/>
        </p:nvSpPr>
        <p:spPr>
          <a:xfrm>
            <a:off x="7312659" y="2349500"/>
            <a:ext cx="2001520" cy="2565400"/>
          </a:xfrm>
          <a:prstGeom prst="roundRect">
            <a:avLst>
              <a:gd name="adj" fmla="val 63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541259"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0159"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04</a:t>
            </a:r>
          </a:p>
        </p:txBody>
      </p:sp>
      <p:sp>
        <p:nvSpPr>
          <p:cNvPr id="26" name="TextBox 25"/>
          <p:cNvSpPr txBox="1"/>
          <p:nvPr/>
        </p:nvSpPr>
        <p:spPr>
          <a:xfrm>
            <a:off x="7541259" y="3314700"/>
            <a:ext cx="1544320" cy="419100"/>
          </a:xfrm>
          <a:prstGeom prst="rect">
            <a:avLst/>
          </a:prstGeom>
          <a:noFill/>
        </p:spPr>
        <p:txBody>
          <a:bodyPr wrap="none" lIns="0" rIns="0" tIns="0" bIns="0">
            <a:spAutoFit/>
          </a:bodyPr>
          <a:lstStyle/>
          <a:p>
            <a:pPr>
              <a:lnSpc>
                <a:spcPts val="2286"/>
              </a:lnSpc>
              <a:spcBef>
                <a:spcPts val="0"/>
              </a:spcBef>
              <a:spcAft>
                <a:spcPts val="0"/>
              </a:spcAft>
              <a:defRPr sz="1800" b="1">
                <a:solidFill>
                  <a:srgbClr val="173A42"/>
                </a:solidFill>
                <a:latin typeface="DejaVu Sans"/>
              </a:defRPr>
            </a:pPr>
            <a:r>
              <a:t>Execute</a:t>
            </a:r>
          </a:p>
        </p:txBody>
      </p:sp>
      <p:sp>
        <p:nvSpPr>
          <p:cNvPr id="27" name="TextBox 26"/>
          <p:cNvSpPr txBox="1"/>
          <p:nvPr/>
        </p:nvSpPr>
        <p:spPr>
          <a:xfrm>
            <a:off x="7541259" y="3873500"/>
            <a:ext cx="1544320" cy="927100"/>
          </a:xfrm>
          <a:prstGeom prst="rect">
            <a:avLst/>
          </a:prstGeom>
          <a:noFill/>
        </p:spPr>
        <p:txBody>
          <a:bodyPr wrap="none" lIns="0" rIns="0" tIns="0" bIns="0">
            <a:spAutoFit/>
          </a:bodyPr>
          <a:lstStyle/>
          <a:p>
            <a:pPr>
              <a:lnSpc>
                <a:spcPts val="1995"/>
              </a:lnSpc>
              <a:spcBef>
                <a:spcPts val="0"/>
              </a:spcBef>
              <a:spcAft>
                <a:spcPts val="0"/>
              </a:spcAft>
              <a:defRPr sz="1500" b="0">
                <a:solidFill>
                  <a:srgbClr val="173A42"/>
                </a:solidFill>
                <a:latin typeface="DejaVu Sans"/>
              </a:defRPr>
            </a:pPr>
            <a:r>
              <a:t>Call the API;</a:t>
            </a:r>
          </a:p>
          <a:p>
            <a:pPr>
              <a:lnSpc>
                <a:spcPts val="1995"/>
              </a:lnSpc>
              <a:spcBef>
                <a:spcPts val="0"/>
              </a:spcBef>
              <a:spcAft>
                <a:spcPts val="0"/>
              </a:spcAft>
              <a:defRPr sz="1500" b="0">
                <a:solidFill>
                  <a:srgbClr val="173A42"/>
                </a:solidFill>
                <a:latin typeface="DejaVu Sans"/>
              </a:defRPr>
            </a:pPr>
            <a:r>
              <a:t>handle the</a:t>
            </a:r>
          </a:p>
          <a:p>
            <a:pPr>
              <a:lnSpc>
                <a:spcPts val="1995"/>
              </a:lnSpc>
              <a:spcBef>
                <a:spcPts val="0"/>
              </a:spcBef>
              <a:spcAft>
                <a:spcPts val="0"/>
              </a:spcAft>
              <a:defRPr sz="1500" b="0">
                <a:solidFill>
                  <a:srgbClr val="173A42"/>
                </a:solidFill>
                <a:latin typeface="DejaVu Sans"/>
              </a:defRPr>
            </a:pPr>
            <a:r>
              <a:t>outcome.</a:t>
            </a:r>
          </a:p>
        </p:txBody>
      </p:sp>
      <p:sp>
        <p:nvSpPr>
          <p:cNvPr id="28" name="TextBox 27"/>
          <p:cNvSpPr txBox="1"/>
          <p:nvPr/>
        </p:nvSpPr>
        <p:spPr>
          <a:xfrm>
            <a:off x="9364980" y="3594100"/>
            <a:ext cx="177800" cy="381000"/>
          </a:xfrm>
          <a:prstGeom prst="rect">
            <a:avLst/>
          </a:prstGeom>
          <a:noFill/>
        </p:spPr>
        <p:txBody>
          <a:bodyPr wrap="none" lIns="0" rIns="0" tIns="0" bIns="0">
            <a:spAutoFit/>
          </a:bodyPr>
          <a:lstStyle/>
          <a:p>
            <a:pPr>
              <a:lnSpc>
                <a:spcPts val="3175"/>
              </a:lnSpc>
              <a:spcBef>
                <a:spcPts val="0"/>
              </a:spcBef>
              <a:spcAft>
                <a:spcPts val="0"/>
              </a:spcAft>
              <a:defRPr sz="2500" b="1">
                <a:solidFill>
                  <a:srgbClr val="008C7B"/>
                </a:solidFill>
                <a:latin typeface="DejaVu Sans"/>
              </a:defRPr>
            </a:pPr>
            <a:r>
              <a:t>›</a:t>
            </a:r>
          </a:p>
        </p:txBody>
      </p:sp>
      <p:sp>
        <p:nvSpPr>
          <p:cNvPr id="29" name="Rounded Rectangle 28"/>
          <p:cNvSpPr/>
          <p:nvPr/>
        </p:nvSpPr>
        <p:spPr>
          <a:xfrm>
            <a:off x="9530080" y="2349500"/>
            <a:ext cx="2001520" cy="2565400"/>
          </a:xfrm>
          <a:prstGeom prst="roundRect">
            <a:avLst>
              <a:gd name="adj" fmla="val 63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758680" y="2603500"/>
            <a:ext cx="431800" cy="3810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47580" y="2692400"/>
            <a:ext cx="330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05</a:t>
            </a:r>
          </a:p>
        </p:txBody>
      </p:sp>
      <p:sp>
        <p:nvSpPr>
          <p:cNvPr id="32" name="TextBox 31"/>
          <p:cNvSpPr txBox="1"/>
          <p:nvPr/>
        </p:nvSpPr>
        <p:spPr>
          <a:xfrm>
            <a:off x="9758680" y="3314700"/>
            <a:ext cx="1544320" cy="419100"/>
          </a:xfrm>
          <a:prstGeom prst="rect">
            <a:avLst/>
          </a:prstGeom>
          <a:noFill/>
        </p:spPr>
        <p:txBody>
          <a:bodyPr wrap="none" lIns="0" rIns="0" tIns="0" bIns="0">
            <a:spAutoFit/>
          </a:bodyPr>
          <a:lstStyle/>
          <a:p>
            <a:pPr>
              <a:lnSpc>
                <a:spcPts val="2286"/>
              </a:lnSpc>
              <a:spcBef>
                <a:spcPts val="0"/>
              </a:spcBef>
              <a:spcAft>
                <a:spcPts val="0"/>
              </a:spcAft>
              <a:defRPr sz="1800" b="1">
                <a:solidFill>
                  <a:srgbClr val="173A42"/>
                </a:solidFill>
                <a:latin typeface="DejaVu Sans"/>
              </a:defRPr>
            </a:pPr>
            <a:r>
              <a:t>Remember</a:t>
            </a:r>
          </a:p>
        </p:txBody>
      </p:sp>
      <p:sp>
        <p:nvSpPr>
          <p:cNvPr id="33" name="TextBox 32"/>
          <p:cNvSpPr txBox="1"/>
          <p:nvPr/>
        </p:nvSpPr>
        <p:spPr>
          <a:xfrm>
            <a:off x="9758680" y="3873500"/>
            <a:ext cx="1544320" cy="927100"/>
          </a:xfrm>
          <a:prstGeom prst="rect">
            <a:avLst/>
          </a:prstGeom>
          <a:noFill/>
        </p:spPr>
        <p:txBody>
          <a:bodyPr wrap="none" lIns="0" rIns="0" tIns="0" bIns="0">
            <a:spAutoFit/>
          </a:bodyPr>
          <a:lstStyle/>
          <a:p>
            <a:pPr>
              <a:lnSpc>
                <a:spcPts val="1995"/>
              </a:lnSpc>
              <a:spcBef>
                <a:spcPts val="0"/>
              </a:spcBef>
              <a:spcAft>
                <a:spcPts val="0"/>
              </a:spcAft>
              <a:defRPr sz="1500" b="0">
                <a:solidFill>
                  <a:srgbClr val="173A42"/>
                </a:solidFill>
                <a:latin typeface="DejaVu Sans"/>
              </a:defRPr>
            </a:pPr>
            <a:r>
              <a:t>Log, update</a:t>
            </a:r>
          </a:p>
          <a:p>
            <a:pPr>
              <a:lnSpc>
                <a:spcPts val="1995"/>
              </a:lnSpc>
              <a:spcBef>
                <a:spcPts val="0"/>
              </a:spcBef>
              <a:spcAft>
                <a:spcPts val="0"/>
              </a:spcAft>
              <a:defRPr sz="1500" b="0">
                <a:solidFill>
                  <a:srgbClr val="173A42"/>
                </a:solidFill>
                <a:latin typeface="DejaVu Sans"/>
              </a:defRPr>
            </a:pPr>
            <a:r>
              <a:t>state, and</a:t>
            </a:r>
          </a:p>
          <a:p>
            <a:pPr>
              <a:lnSpc>
                <a:spcPts val="1995"/>
              </a:lnSpc>
              <a:spcBef>
                <a:spcPts val="0"/>
              </a:spcBef>
              <a:spcAft>
                <a:spcPts val="0"/>
              </a:spcAft>
              <a:defRPr sz="1500" b="0">
                <a:solidFill>
                  <a:srgbClr val="173A42"/>
                </a:solidFill>
                <a:latin typeface="DejaVu Sans"/>
              </a:defRPr>
            </a:pPr>
            <a:r>
              <a:t>check limits.</a:t>
            </a:r>
          </a:p>
        </p:txBody>
      </p:sp>
      <p:cxnSp>
        <p:nvCxnSpPr>
          <p:cNvPr id="34" name="Connector 33"/>
          <p:cNvCxnSpPr/>
          <p:nvPr/>
        </p:nvCxnSpPr>
        <p:spPr>
          <a:xfrm>
            <a:off x="965200" y="5295900"/>
            <a:ext cx="2336800" cy="0"/>
          </a:xfrm>
          <a:prstGeom prst="line">
            <a:avLst/>
          </a:prstGeom>
          <a:ln w="25400">
            <a:solidFill>
              <a:srgbClr val="008C7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953500" y="5295900"/>
            <a:ext cx="2273300" cy="0"/>
          </a:xfrm>
          <a:prstGeom prst="line">
            <a:avLst/>
          </a:prstGeom>
          <a:ln w="25400">
            <a:solidFill>
              <a:srgbClr val="008C7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492500" y="5105400"/>
            <a:ext cx="5334000" cy="406400"/>
          </a:xfrm>
          <a:prstGeom prst="rect">
            <a:avLst/>
          </a:prstGeom>
          <a:noFill/>
        </p:spPr>
        <p:txBody>
          <a:bodyPr wrap="none" lIns="0" rIns="0" tIns="0" bIns="0">
            <a:spAutoFit/>
          </a:bodyPr>
          <a:lstStyle/>
          <a:p>
            <a:pPr>
              <a:lnSpc>
                <a:spcPts val="1905"/>
              </a:lnSpc>
              <a:spcBef>
                <a:spcPts val="0"/>
              </a:spcBef>
              <a:spcAft>
                <a:spcPts val="0"/>
              </a:spcAft>
              <a:defRPr sz="1500" b="1">
                <a:solidFill>
                  <a:srgbClr val="008C7B"/>
                </a:solidFill>
                <a:latin typeface="DejaVu Sans"/>
              </a:defRPr>
            </a:pPr>
            <a:r>
              <a:t>Repeat while running and within budget</a:t>
            </a:r>
          </a:p>
        </p:txBody>
      </p:sp>
      <p:sp>
        <p:nvSpPr>
          <p:cNvPr id="37" name="Rounded Rectangle 36"/>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Preserve instructions, useful discoveries, and recent action/result pairs.</a:t>
            </a:r>
          </a:p>
        </p:txBody>
      </p:sp>
      <p:cxnSp>
        <p:nvCxnSpPr>
          <p:cNvPr id="39" name="Connector 38"/>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41" name="TextBox 40"/>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04 / HARNESS DESIGN</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Reliable execution protects your score.</a:t>
            </a:r>
          </a:p>
        </p:txBody>
      </p:sp>
      <p:sp>
        <p:nvSpPr>
          <p:cNvPr id="5" name="Rounded Rectangle 4"/>
          <p:cNvSpPr/>
          <p:nvPr/>
        </p:nvSpPr>
        <p:spPr>
          <a:xfrm>
            <a:off x="660400" y="2209800"/>
            <a:ext cx="5308600" cy="3352800"/>
          </a:xfrm>
          <a:prstGeom prst="roundRect">
            <a:avLst>
              <a:gd name="adj" fmla="val 37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60400" y="2209800"/>
            <a:ext cx="5308600" cy="50800"/>
          </a:xfrm>
          <a:prstGeom prst="rect">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9800" y="24892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BEFORE AND DURING ACTIONS</a:t>
            </a:r>
          </a:p>
        </p:txBody>
      </p:sp>
      <p:sp>
        <p:nvSpPr>
          <p:cNvPr id="8" name="Rounded Rectangle 7"/>
          <p:cNvSpPr/>
          <p:nvPr/>
        </p:nvSpPr>
        <p:spPr>
          <a:xfrm>
            <a:off x="939800" y="30734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8400" y="29972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Validate IDs, integer cents, and quantities</a:t>
            </a:r>
          </a:p>
        </p:txBody>
      </p:sp>
      <p:sp>
        <p:nvSpPr>
          <p:cNvPr id="10" name="Rounded Rectangle 9"/>
          <p:cNvSpPr/>
          <p:nvPr/>
        </p:nvSpPr>
        <p:spPr>
          <a:xfrm>
            <a:off x="939800" y="3429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8400" y="3352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Execute actions serially</a:t>
            </a:r>
          </a:p>
        </p:txBody>
      </p:sp>
      <p:sp>
        <p:nvSpPr>
          <p:cNvPr id="12" name="Rounded Rectangle 11"/>
          <p:cNvSpPr/>
          <p:nvPr/>
        </p:nvSpPr>
        <p:spPr>
          <a:xfrm>
            <a:off x="939800" y="3784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8400" y="3708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Retry transient failures with the SAME key</a:t>
            </a:r>
          </a:p>
        </p:txBody>
      </p:sp>
      <p:sp>
        <p:nvSpPr>
          <p:cNvPr id="14" name="Rounded Rectangle 13"/>
          <p:cNvSpPr/>
          <p:nvPr/>
        </p:nvSpPr>
        <p:spPr>
          <a:xfrm>
            <a:off x="939800" y="4140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8400" y="4064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Bound model timeouts and poll status</a:t>
            </a:r>
          </a:p>
        </p:txBody>
      </p:sp>
      <p:sp>
        <p:nvSpPr>
          <p:cNvPr id="16" name="Rounded Rectangle 15"/>
          <p:cNvSpPr/>
          <p:nvPr/>
        </p:nvSpPr>
        <p:spPr>
          <a:xfrm>
            <a:off x="6223000" y="2209800"/>
            <a:ext cx="5308600" cy="3352800"/>
          </a:xfrm>
          <a:prstGeom prst="roundRect">
            <a:avLst>
              <a:gd name="adj" fmla="val 37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23000" y="2209800"/>
            <a:ext cx="5308600" cy="50800"/>
          </a:xfrm>
          <a:prstGeom prst="rect">
            <a:avLst/>
          </a:prstGeom>
          <a:solidFill>
            <a:srgbClr val="5E8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2400" y="24892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557079"/>
                </a:solidFill>
                <a:latin typeface="DejaVu Sans"/>
              </a:defRPr>
            </a:pPr>
            <a:r>
              <a:t>WHEN THE EPISODE STOPS</a:t>
            </a:r>
          </a:p>
        </p:txBody>
      </p:sp>
      <p:sp>
        <p:nvSpPr>
          <p:cNvPr id="19" name="Rounded Rectangle 18"/>
          <p:cNvSpPr/>
          <p:nvPr/>
        </p:nvSpPr>
        <p:spPr>
          <a:xfrm>
            <a:off x="6502400" y="30734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1000" y="29972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Treat 410 as ended; inspect 409 state</a:t>
            </a:r>
          </a:p>
        </p:txBody>
      </p:sp>
      <p:sp>
        <p:nvSpPr>
          <p:cNvPr id="21" name="Rounded Rectangle 20"/>
          <p:cNvSpPr/>
          <p:nvPr/>
        </p:nvSpPr>
        <p:spPr>
          <a:xfrm>
            <a:off x="6502400" y="3429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1000" y="3352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Retrieve the terminal summary</a:t>
            </a:r>
          </a:p>
        </p:txBody>
      </p:sp>
      <p:sp>
        <p:nvSpPr>
          <p:cNvPr id="23" name="Rounded Rectangle 22"/>
          <p:cNvSpPr/>
          <p:nvPr/>
        </p:nvSpPr>
        <p:spPr>
          <a:xfrm>
            <a:off x="6502400" y="3784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1000" y="3708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Preserve logs and the final public snapshot</a:t>
            </a:r>
          </a:p>
        </p:txBody>
      </p:sp>
      <p:sp>
        <p:nvSpPr>
          <p:cNvPr id="25" name="Rounded Rectangle 24"/>
          <p:cNvSpPr/>
          <p:nvPr/>
        </p:nvSpPr>
        <p:spPr>
          <a:xfrm>
            <a:off x="6502400" y="4140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31000" y="4064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Always attempt cleanup</a:t>
            </a:r>
          </a:p>
        </p:txBody>
      </p:sp>
      <p:sp>
        <p:nvSpPr>
          <p:cNvPr id="27" name="Rounded Rectangle 26"/>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Never retry an ambiguous purchase with a new Idempotency-Key.</a:t>
            </a:r>
          </a:p>
        </p:txBody>
      </p:sp>
      <p:cxnSp>
        <p:nvCxnSpPr>
          <p:cNvPr id="29" name="Connector 28"/>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1" name="TextBox 30"/>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04 / HARNESS DESIGN</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Plan for three separate resource limits.</a:t>
            </a:r>
          </a:p>
        </p:txBody>
      </p:sp>
      <p:sp>
        <p:nvSpPr>
          <p:cNvPr id="5" name="Rounded Rectangle 4"/>
          <p:cNvSpPr/>
          <p:nvPr/>
        </p:nvSpPr>
        <p:spPr>
          <a:xfrm>
            <a:off x="660400" y="2247900"/>
            <a:ext cx="3488266"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300" y="2451100"/>
            <a:ext cx="3056466" cy="622300"/>
          </a:xfrm>
          <a:prstGeom prst="rect">
            <a:avLst/>
          </a:prstGeom>
          <a:noFill/>
        </p:spPr>
        <p:txBody>
          <a:bodyPr wrap="none" lIns="0" rIns="0" tIns="0" bIns="0">
            <a:spAutoFit/>
          </a:bodyPr>
          <a:lstStyle/>
          <a:p>
            <a:pPr>
              <a:lnSpc>
                <a:spcPts val="4064"/>
              </a:lnSpc>
              <a:spcBef>
                <a:spcPts val="0"/>
              </a:spcBef>
              <a:spcAft>
                <a:spcPts val="0"/>
              </a:spcAft>
              <a:defRPr sz="3200" b="1">
                <a:solidFill>
                  <a:srgbClr val="008C7B"/>
                </a:solidFill>
                <a:latin typeface="DejaVu Sans"/>
              </a:defRPr>
            </a:pPr>
            <a:r>
              <a:t>7,200 s</a:t>
            </a:r>
          </a:p>
        </p:txBody>
      </p:sp>
      <p:sp>
        <p:nvSpPr>
          <p:cNvPr id="7" name="TextBox 6"/>
          <p:cNvSpPr txBox="1"/>
          <p:nvPr/>
        </p:nvSpPr>
        <p:spPr>
          <a:xfrm>
            <a:off x="876300" y="3187700"/>
            <a:ext cx="3056466" cy="546100"/>
          </a:xfrm>
          <a:prstGeom prst="rect">
            <a:avLst/>
          </a:prstGeom>
          <a:noFill/>
        </p:spPr>
        <p:txBody>
          <a:bodyPr wrap="none" lIns="0" rIns="0" tIns="0" bIns="0">
            <a:spAutoFit/>
          </a:bodyPr>
          <a:lstStyle/>
          <a:p>
            <a:pPr>
              <a:lnSpc>
                <a:spcPts val="1714"/>
              </a:lnSpc>
              <a:spcBef>
                <a:spcPts val="0"/>
              </a:spcBef>
              <a:spcAft>
                <a:spcPts val="0"/>
              </a:spcAft>
              <a:defRPr sz="1350" b="0">
                <a:solidFill>
                  <a:srgbClr val="557079"/>
                </a:solidFill>
                <a:latin typeface="DejaVu Sans"/>
              </a:defRPr>
            </a:pPr>
            <a:r>
              <a:t>Default environment lifetime</a:t>
            </a:r>
          </a:p>
        </p:txBody>
      </p:sp>
      <p:sp>
        <p:nvSpPr>
          <p:cNvPr id="8" name="Rounded Rectangle 7"/>
          <p:cNvSpPr/>
          <p:nvPr/>
        </p:nvSpPr>
        <p:spPr>
          <a:xfrm>
            <a:off x="4351866" y="2247900"/>
            <a:ext cx="3488266"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7766" y="2451100"/>
            <a:ext cx="3056466" cy="622300"/>
          </a:xfrm>
          <a:prstGeom prst="rect">
            <a:avLst/>
          </a:prstGeom>
          <a:noFill/>
        </p:spPr>
        <p:txBody>
          <a:bodyPr wrap="none" lIns="0" rIns="0" tIns="0" bIns="0">
            <a:spAutoFit/>
          </a:bodyPr>
          <a:lstStyle/>
          <a:p>
            <a:pPr>
              <a:lnSpc>
                <a:spcPts val="4064"/>
              </a:lnSpc>
              <a:spcBef>
                <a:spcPts val="0"/>
              </a:spcBef>
              <a:spcAft>
                <a:spcPts val="0"/>
              </a:spcAft>
              <a:defRPr sz="3200" b="1">
                <a:solidFill>
                  <a:srgbClr val="008C7B"/>
                </a:solidFill>
                <a:latin typeface="DejaVu Sans"/>
              </a:defRPr>
            </a:pPr>
            <a:r>
              <a:t>100,000</a:t>
            </a:r>
          </a:p>
        </p:txBody>
      </p:sp>
      <p:sp>
        <p:nvSpPr>
          <p:cNvPr id="10" name="TextBox 9"/>
          <p:cNvSpPr txBox="1"/>
          <p:nvPr/>
        </p:nvSpPr>
        <p:spPr>
          <a:xfrm>
            <a:off x="4567766" y="3187700"/>
            <a:ext cx="3056466" cy="546100"/>
          </a:xfrm>
          <a:prstGeom prst="rect">
            <a:avLst/>
          </a:prstGeom>
          <a:noFill/>
        </p:spPr>
        <p:txBody>
          <a:bodyPr wrap="none" lIns="0" rIns="0" tIns="0" bIns="0">
            <a:spAutoFit/>
          </a:bodyPr>
          <a:lstStyle/>
          <a:p>
            <a:pPr>
              <a:lnSpc>
                <a:spcPts val="1714"/>
              </a:lnSpc>
              <a:spcBef>
                <a:spcPts val="0"/>
              </a:spcBef>
              <a:spcAft>
                <a:spcPts val="0"/>
              </a:spcAft>
              <a:defRPr sz="1350" b="0">
                <a:solidFill>
                  <a:srgbClr val="557079"/>
                </a:solidFill>
                <a:latin typeface="DejaVu Sans"/>
              </a:defRPr>
            </a:pPr>
            <a:r>
              <a:t>Default input + output token</a:t>
            </a:r>
          </a:p>
          <a:p>
            <a:pPr>
              <a:lnSpc>
                <a:spcPts val="1714"/>
              </a:lnSpc>
              <a:spcBef>
                <a:spcPts val="0"/>
              </a:spcBef>
              <a:spcAft>
                <a:spcPts val="0"/>
              </a:spcAft>
              <a:defRPr sz="1350" b="0">
                <a:solidFill>
                  <a:srgbClr val="557079"/>
                </a:solidFill>
                <a:latin typeface="DejaVu Sans"/>
              </a:defRPr>
            </a:pPr>
            <a:r>
              <a:t>budget</a:t>
            </a:r>
          </a:p>
        </p:txBody>
      </p:sp>
      <p:sp>
        <p:nvSpPr>
          <p:cNvPr id="11" name="Rounded Rectangle 10"/>
          <p:cNvSpPr/>
          <p:nvPr/>
        </p:nvSpPr>
        <p:spPr>
          <a:xfrm>
            <a:off x="8043333" y="2247900"/>
            <a:ext cx="3488266"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9233" y="2451100"/>
            <a:ext cx="3056466" cy="622300"/>
          </a:xfrm>
          <a:prstGeom prst="rect">
            <a:avLst/>
          </a:prstGeom>
          <a:noFill/>
        </p:spPr>
        <p:txBody>
          <a:bodyPr wrap="none" lIns="0" rIns="0" tIns="0" bIns="0">
            <a:spAutoFit/>
          </a:bodyPr>
          <a:lstStyle/>
          <a:p>
            <a:pPr>
              <a:lnSpc>
                <a:spcPts val="4064"/>
              </a:lnSpc>
              <a:spcBef>
                <a:spcPts val="0"/>
              </a:spcBef>
              <a:spcAft>
                <a:spcPts val="0"/>
              </a:spcAft>
              <a:defRPr sz="3200" b="1">
                <a:solidFill>
                  <a:srgbClr val="008C7B"/>
                </a:solidFill>
                <a:latin typeface="DejaVu Sans"/>
              </a:defRPr>
            </a:pPr>
            <a:r>
              <a:t>1,000</a:t>
            </a:r>
          </a:p>
        </p:txBody>
      </p:sp>
      <p:sp>
        <p:nvSpPr>
          <p:cNvPr id="13" name="TextBox 12"/>
          <p:cNvSpPr txBox="1"/>
          <p:nvPr/>
        </p:nvSpPr>
        <p:spPr>
          <a:xfrm>
            <a:off x="8259233" y="3187700"/>
            <a:ext cx="3056466" cy="546100"/>
          </a:xfrm>
          <a:prstGeom prst="rect">
            <a:avLst/>
          </a:prstGeom>
          <a:noFill/>
        </p:spPr>
        <p:txBody>
          <a:bodyPr wrap="none" lIns="0" rIns="0" tIns="0" bIns="0">
            <a:spAutoFit/>
          </a:bodyPr>
          <a:lstStyle/>
          <a:p>
            <a:pPr>
              <a:lnSpc>
                <a:spcPts val="1714"/>
              </a:lnSpc>
              <a:spcBef>
                <a:spcPts val="0"/>
              </a:spcBef>
              <a:spcAft>
                <a:spcPts val="0"/>
              </a:spcAft>
              <a:defRPr sz="1350" b="0">
                <a:solidFill>
                  <a:srgbClr val="557079"/>
                </a:solidFill>
                <a:latin typeface="DejaVu Sans"/>
              </a:defRPr>
            </a:pPr>
            <a:r>
              <a:t>Default policy-call ceiling</a:t>
            </a:r>
          </a:p>
        </p:txBody>
      </p:sp>
      <p:sp>
        <p:nvSpPr>
          <p:cNvPr id="14" name="Rounded Rectangle 13"/>
          <p:cNvSpPr/>
          <p:nvPr/>
        </p:nvSpPr>
        <p:spPr>
          <a:xfrm>
            <a:off x="736600" y="42037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5200" y="4127500"/>
            <a:ext cx="104648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Reserve input and maximum output tokens before a model call.</a:t>
            </a:r>
          </a:p>
        </p:txBody>
      </p:sp>
      <p:sp>
        <p:nvSpPr>
          <p:cNvPr id="16" name="Rounded Rectangle 15"/>
          <p:cNvSpPr/>
          <p:nvPr/>
        </p:nvSpPr>
        <p:spPr>
          <a:xfrm>
            <a:off x="736600" y="4648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5200" y="4572000"/>
            <a:ext cx="104648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History, tool schemas, and summaries also cost tokens.</a:t>
            </a:r>
          </a:p>
        </p:txBody>
      </p:sp>
      <p:sp>
        <p:nvSpPr>
          <p:cNvPr id="18" name="Rounded Rectangle 17"/>
          <p:cNvSpPr/>
          <p:nvPr/>
        </p:nvSpPr>
        <p:spPr>
          <a:xfrm>
            <a:off x="736600" y="50927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5200" y="5016500"/>
            <a:ext cx="10464800" cy="1397000"/>
          </a:xfrm>
          <a:prstGeom prst="rect">
            <a:avLst/>
          </a:prstGeom>
          <a:noFill/>
        </p:spPr>
        <p:txBody>
          <a:bodyPr wrap="none" lIns="0" rIns="0" tIns="0" bIns="0">
            <a:spAutoFit/>
          </a:bodyPr>
          <a:lstStyle/>
          <a:p>
            <a:pPr>
              <a:lnSpc>
                <a:spcPts val="2295"/>
              </a:lnSpc>
              <a:spcBef>
                <a:spcPts val="0"/>
              </a:spcBef>
              <a:spcAft>
                <a:spcPts val="0"/>
              </a:spcAft>
              <a:defRPr sz="1700" b="0">
                <a:solidFill>
                  <a:srgbClr val="173A42"/>
                </a:solidFill>
                <a:latin typeface="DejaVu Sans"/>
              </a:defRPr>
            </a:pPr>
            <a:r>
              <a:t>Stopping on a harness budget is a truncated run, not natural completion.</a:t>
            </a:r>
          </a:p>
        </p:txBody>
      </p:sp>
      <p:sp>
        <p:nvSpPr>
          <p:cNvPr id="20" name="Rounded Rectangle 19"/>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Current starter defaults. Official model, compute, and budget rules will be announced.</a:t>
            </a:r>
          </a:p>
        </p:txBody>
      </p:sp>
      <p:cxnSp>
        <p:nvCxnSpPr>
          <p:cNvPr id="22" name="Connector 21"/>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24" name="TextBox 23"/>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05 / DEVELOPMENT AND REVIEW</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Measure tokens where decisions happen.</a:t>
            </a:r>
          </a:p>
        </p:txBody>
      </p:sp>
      <p:sp>
        <p:nvSpPr>
          <p:cNvPr id="5" name="Rounded Rectangle 4"/>
          <p:cNvSpPr/>
          <p:nvPr/>
        </p:nvSpPr>
        <p:spPr>
          <a:xfrm>
            <a:off x="660400" y="2120900"/>
            <a:ext cx="10871200" cy="431800"/>
          </a:xfrm>
          <a:prstGeom prst="roundRect">
            <a:avLst>
              <a:gd name="adj" fmla="val 14705"/>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500" y="2247900"/>
            <a:ext cx="21590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VIEW</a:t>
            </a:r>
          </a:p>
        </p:txBody>
      </p:sp>
      <p:sp>
        <p:nvSpPr>
          <p:cNvPr id="7" name="TextBox 6"/>
          <p:cNvSpPr txBox="1"/>
          <p:nvPr/>
        </p:nvSpPr>
        <p:spPr>
          <a:xfrm>
            <a:off x="3302000" y="2247900"/>
            <a:ext cx="37465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WHAT IS RECORDED</a:t>
            </a:r>
          </a:p>
        </p:txBody>
      </p:sp>
      <p:sp>
        <p:nvSpPr>
          <p:cNvPr id="8" name="TextBox 7"/>
          <p:cNvSpPr txBox="1"/>
          <p:nvPr/>
        </p:nvSpPr>
        <p:spPr>
          <a:xfrm>
            <a:off x="7366000" y="2247900"/>
            <a:ext cx="4013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HOW TO INTERPRET IT</a:t>
            </a:r>
          </a:p>
        </p:txBody>
      </p:sp>
      <p:sp>
        <p:nvSpPr>
          <p:cNvPr id="9" name="Rectangle 8"/>
          <p:cNvSpPr/>
          <p:nvPr/>
        </p:nvSpPr>
        <p:spPr>
          <a:xfrm>
            <a:off x="660400" y="255270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705100"/>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Per action</a:t>
            </a:r>
          </a:p>
        </p:txBody>
      </p:sp>
      <p:sp>
        <p:nvSpPr>
          <p:cNvPr id="11" name="TextBox 10"/>
          <p:cNvSpPr txBox="1"/>
          <p:nvPr/>
        </p:nvSpPr>
        <p:spPr>
          <a:xfrm>
            <a:off x="3302000" y="2705100"/>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Input, output, and total tokens</a:t>
            </a:r>
          </a:p>
        </p:txBody>
      </p:sp>
      <p:sp>
        <p:nvSpPr>
          <p:cNvPr id="12" name="TextBox 11"/>
          <p:cNvSpPr txBox="1"/>
          <p:nvPr/>
        </p:nvSpPr>
        <p:spPr>
          <a:xfrm>
            <a:off x="7366000" y="2705100"/>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Full provider-call usage, including</a:t>
            </a:r>
          </a:p>
          <a:p>
            <a:pPr>
              <a:lnSpc>
                <a:spcPts val="1844"/>
              </a:lnSpc>
              <a:spcBef>
                <a:spcPts val="0"/>
              </a:spcBef>
              <a:spcAft>
                <a:spcPts val="0"/>
              </a:spcAft>
              <a:defRPr sz="1550" b="0">
                <a:solidFill>
                  <a:srgbClr val="173A42"/>
                </a:solidFill>
                <a:latin typeface="DejaVu Sans"/>
              </a:defRPr>
            </a:pPr>
            <a:r>
              <a:t>context</a:t>
            </a:r>
          </a:p>
        </p:txBody>
      </p:sp>
      <p:sp>
        <p:nvSpPr>
          <p:cNvPr id="13" name="Rectangle 12"/>
          <p:cNvSpPr/>
          <p:nvPr/>
        </p:nvSpPr>
        <p:spPr>
          <a:xfrm>
            <a:off x="660400" y="3167380"/>
            <a:ext cx="10871200" cy="614680"/>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500" y="3319779"/>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Per simulated day</a:t>
            </a:r>
          </a:p>
        </p:txBody>
      </p:sp>
      <p:sp>
        <p:nvSpPr>
          <p:cNvPr id="15" name="TextBox 14"/>
          <p:cNvSpPr txBox="1"/>
          <p:nvPr/>
        </p:nvSpPr>
        <p:spPr>
          <a:xfrm>
            <a:off x="3302000" y="3319779"/>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Tokens and model-call count</a:t>
            </a:r>
          </a:p>
        </p:txBody>
      </p:sp>
      <p:sp>
        <p:nvSpPr>
          <p:cNvPr id="16" name="TextBox 15"/>
          <p:cNvSpPr txBox="1"/>
          <p:nvPr/>
        </p:nvSpPr>
        <p:spPr>
          <a:xfrm>
            <a:off x="7366000" y="3319779"/>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Assigned to the model decision's day</a:t>
            </a:r>
          </a:p>
        </p:txBody>
      </p:sp>
      <p:sp>
        <p:nvSpPr>
          <p:cNvPr id="17" name="Rectangle 16"/>
          <p:cNvSpPr/>
          <p:nvPr/>
        </p:nvSpPr>
        <p:spPr>
          <a:xfrm>
            <a:off x="660400" y="378206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500" y="3934460"/>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Shared response</a:t>
            </a:r>
          </a:p>
        </p:txBody>
      </p:sp>
      <p:sp>
        <p:nvSpPr>
          <p:cNvPr id="19" name="TextBox 18"/>
          <p:cNvSpPr txBox="1"/>
          <p:nvPr/>
        </p:nvSpPr>
        <p:spPr>
          <a:xfrm>
            <a:off x="3302000" y="3934460"/>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Linked model-call ID</a:t>
            </a:r>
          </a:p>
        </p:txBody>
      </p:sp>
      <p:sp>
        <p:nvSpPr>
          <p:cNvPr id="20" name="TextBox 19"/>
          <p:cNvSpPr txBox="1"/>
          <p:nvPr/>
        </p:nvSpPr>
        <p:spPr>
          <a:xfrm>
            <a:off x="7366000" y="3934460"/>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Charge first action once; later actions</a:t>
            </a:r>
          </a:p>
          <a:p>
            <a:pPr>
              <a:lnSpc>
                <a:spcPts val="1844"/>
              </a:lnSpc>
              <a:spcBef>
                <a:spcPts val="0"/>
              </a:spcBef>
              <a:spcAft>
                <a:spcPts val="0"/>
              </a:spcAft>
              <a:defRPr sz="1550" b="0">
                <a:solidFill>
                  <a:srgbClr val="173A42"/>
                </a:solidFill>
                <a:latin typeface="DejaVu Sans"/>
              </a:defRPr>
            </a:pPr>
            <a:r>
              <a:t>add zero</a:t>
            </a:r>
          </a:p>
        </p:txBody>
      </p:sp>
      <p:sp>
        <p:nvSpPr>
          <p:cNvPr id="21" name="Rectangle 20"/>
          <p:cNvSpPr/>
          <p:nvPr/>
        </p:nvSpPr>
        <p:spPr>
          <a:xfrm>
            <a:off x="660400" y="4396740"/>
            <a:ext cx="10871200" cy="614680"/>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00" y="4549140"/>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Timeout</a:t>
            </a:r>
          </a:p>
        </p:txBody>
      </p:sp>
      <p:sp>
        <p:nvSpPr>
          <p:cNvPr id="23" name="TextBox 22"/>
          <p:cNvSpPr txBox="1"/>
          <p:nvPr/>
        </p:nvSpPr>
        <p:spPr>
          <a:xfrm>
            <a:off x="3302000" y="4549140"/>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Estimated reservation</a:t>
            </a:r>
          </a:p>
        </p:txBody>
      </p:sp>
      <p:sp>
        <p:nvSpPr>
          <p:cNvPr id="24" name="TextBox 23"/>
          <p:cNvSpPr txBox="1"/>
          <p:nvPr/>
        </p:nvSpPr>
        <p:spPr>
          <a:xfrm>
            <a:off x="7366000" y="4549140"/>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Clearly labeled; not measured token</a:t>
            </a:r>
          </a:p>
          <a:p>
            <a:pPr>
              <a:lnSpc>
                <a:spcPts val="1844"/>
              </a:lnSpc>
              <a:spcBef>
                <a:spcPts val="0"/>
              </a:spcBef>
              <a:spcAft>
                <a:spcPts val="0"/>
              </a:spcAft>
              <a:defRPr sz="1550" b="0">
                <a:solidFill>
                  <a:srgbClr val="173A42"/>
                </a:solidFill>
                <a:latin typeface="DejaVu Sans"/>
              </a:defRPr>
            </a:pPr>
            <a:r>
              <a:t>usage</a:t>
            </a:r>
          </a:p>
        </p:txBody>
      </p:sp>
      <p:sp>
        <p:nvSpPr>
          <p:cNvPr id="25" name="Rectangle 24"/>
          <p:cNvSpPr/>
          <p:nvPr/>
        </p:nvSpPr>
        <p:spPr>
          <a:xfrm>
            <a:off x="660400" y="501142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500" y="5163820"/>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Run summary</a:t>
            </a:r>
          </a:p>
        </p:txBody>
      </p:sp>
      <p:sp>
        <p:nvSpPr>
          <p:cNvPr id="27" name="TextBox 26"/>
          <p:cNvSpPr txBox="1"/>
          <p:nvPr/>
        </p:nvSpPr>
        <p:spPr>
          <a:xfrm>
            <a:off x="3302000" y="5163820"/>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Totals + daily breakdown</a:t>
            </a:r>
          </a:p>
        </p:txBody>
      </p:sp>
      <p:sp>
        <p:nvSpPr>
          <p:cNvPr id="28" name="TextBox 27"/>
          <p:cNvSpPr txBox="1"/>
          <p:nvPr/>
        </p:nvSpPr>
        <p:spPr>
          <a:xfrm>
            <a:off x="7366000" y="5163820"/>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Check cost against business progress</a:t>
            </a:r>
          </a:p>
        </p:txBody>
      </p:sp>
      <p:sp>
        <p:nvSpPr>
          <p:cNvPr id="29" name="Rounded Rectangle 28"/>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Scripted actions use zero model tokens. Missing legacy attribution is unavailable.</a:t>
            </a:r>
          </a:p>
        </p:txBody>
      </p:sp>
      <p:cxnSp>
        <p:nvCxnSpPr>
          <p:cNvPr id="31" name="Connector 30"/>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3" name="TextBox 32"/>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05 / DEVELOPMENT AND REVIEW</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Start with one complete practice episode.</a:t>
            </a:r>
          </a:p>
        </p:txBody>
      </p:sp>
      <p:sp>
        <p:nvSpPr>
          <p:cNvPr id="5" name="Rounded Rectangle 4"/>
          <p:cNvSpPr/>
          <p:nvPr/>
        </p:nvSpPr>
        <p:spPr>
          <a:xfrm>
            <a:off x="660400" y="2209800"/>
            <a:ext cx="7302500" cy="3327400"/>
          </a:xfrm>
          <a:prstGeom prst="roundRect">
            <a:avLst>
              <a:gd name="adj" fmla="val 3816"/>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413000"/>
            <a:ext cx="67564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CAEFA1"/>
                </a:solidFill>
                <a:latin typeface="DejaVu Sans"/>
              </a:defRPr>
            </a:pPr>
            <a:r>
              <a:t>LOCAL PRACTICE</a:t>
            </a:r>
          </a:p>
        </p:txBody>
      </p:sp>
      <p:sp>
        <p:nvSpPr>
          <p:cNvPr id="7" name="TextBox 6"/>
          <p:cNvSpPr txBox="1"/>
          <p:nvPr/>
        </p:nvSpPr>
        <p:spPr>
          <a:xfrm>
            <a:off x="889000" y="2857500"/>
            <a:ext cx="6819900" cy="2590800"/>
          </a:xfrm>
          <a:prstGeom prst="rect">
            <a:avLst/>
          </a:prstGeom>
          <a:noFill/>
        </p:spPr>
        <p:txBody>
          <a:bodyPr wrap="none" lIns="0" rIns="0" tIns="0" bIns="0">
            <a:spAutoFit/>
          </a:bodyPr>
          <a:lstStyle/>
          <a:p>
            <a:pPr>
              <a:lnSpc>
                <a:spcPts val="2142"/>
              </a:lnSpc>
              <a:spcBef>
                <a:spcPts val="0"/>
              </a:spcBef>
              <a:spcAft>
                <a:spcPts val="0"/>
              </a:spcAft>
              <a:defRPr sz="1400" b="0">
                <a:solidFill>
                  <a:srgbClr val="FFFFFF"/>
                </a:solidFill>
                <a:latin typeface="DejaVu Sans Mono"/>
              </a:defRPr>
            </a:pPr>
            <a:r>
              <a:t>python3 -m pip install -e '.[test]'</a:t>
            </a:r>
          </a:p>
          <a:p>
            <a:pPr>
              <a:lnSpc>
                <a:spcPts val="2142"/>
              </a:lnSpc>
              <a:spcBef>
                <a:spcPts val="0"/>
              </a:spcBef>
              <a:spcAft>
                <a:spcPts val="0"/>
              </a:spcAft>
              <a:defRPr sz="1400" b="0">
                <a:solidFill>
                  <a:srgbClr val="FFFFFF"/>
                </a:solidFill>
                <a:latin typeface="DejaVu Sans Mono"/>
              </a:defRPr>
            </a:pPr>
          </a:p>
          <a:p>
            <a:pPr>
              <a:lnSpc>
                <a:spcPts val="2142"/>
              </a:lnSpc>
              <a:spcBef>
                <a:spcPts val="0"/>
              </a:spcBef>
              <a:spcAft>
                <a:spcPts val="0"/>
              </a:spcAft>
              <a:defRPr sz="1400" b="0">
                <a:solidFill>
                  <a:srgbClr val="FFFFFF"/>
                </a:solidFill>
                <a:latin typeface="DejaVu Sans Mono"/>
              </a:defRPr>
            </a:pPr>
            <a:r>
              <a:t>./scripts/run_environment.sh smoke --agent listed</a:t>
            </a:r>
          </a:p>
          <a:p>
            <a:pPr>
              <a:lnSpc>
                <a:spcPts val="2142"/>
              </a:lnSpc>
              <a:spcBef>
                <a:spcPts val="0"/>
              </a:spcBef>
              <a:spcAft>
                <a:spcPts val="0"/>
              </a:spcAft>
              <a:defRPr sz="1400" b="0">
                <a:solidFill>
                  <a:srgbClr val="FFFFFF"/>
                </a:solidFill>
                <a:latin typeface="DejaVu Sans Mono"/>
              </a:defRPr>
            </a:pPr>
            <a:r>
              <a:t>./scripts/run_environment.sh smoke --agent negotiating</a:t>
            </a:r>
          </a:p>
          <a:p>
            <a:pPr>
              <a:lnSpc>
                <a:spcPts val="2142"/>
              </a:lnSpc>
              <a:spcBef>
                <a:spcPts val="0"/>
              </a:spcBef>
              <a:spcAft>
                <a:spcPts val="0"/>
              </a:spcAft>
              <a:defRPr sz="1400" b="0">
                <a:solidFill>
                  <a:srgbClr val="FFFFFF"/>
                </a:solidFill>
                <a:latin typeface="DejaVu Sans Mono"/>
              </a:defRPr>
            </a:pPr>
          </a:p>
          <a:p>
            <a:pPr>
              <a:lnSpc>
                <a:spcPts val="2142"/>
              </a:lnSpc>
              <a:spcBef>
                <a:spcPts val="0"/>
              </a:spcBef>
              <a:spcAft>
                <a:spcPts val="0"/>
              </a:spcAft>
              <a:defRPr sz="1400" b="0">
                <a:solidFill>
                  <a:srgbClr val="FFFFFF"/>
                </a:solidFill>
                <a:latin typeface="DejaVu Sans Mono"/>
              </a:defRPr>
            </a:pPr>
            <a:r>
              <a:t>./scripts/view_runs.sh</a:t>
            </a:r>
          </a:p>
          <a:p>
            <a:pPr>
              <a:lnSpc>
                <a:spcPts val="2142"/>
              </a:lnSpc>
              <a:spcBef>
                <a:spcPts val="0"/>
              </a:spcBef>
              <a:spcAft>
                <a:spcPts val="0"/>
              </a:spcAft>
              <a:defRPr sz="1400" b="0">
                <a:solidFill>
                  <a:srgbClr val="FFFFFF"/>
                </a:solidFill>
                <a:latin typeface="DejaVu Sans Mono"/>
              </a:defRPr>
            </a:pPr>
            <a:r>
              <a:t># Open http://localhost:8080</a:t>
            </a:r>
          </a:p>
        </p:txBody>
      </p:sp>
      <p:sp>
        <p:nvSpPr>
          <p:cNvPr id="8" name="Rounded Rectangle 7"/>
          <p:cNvSpPr/>
          <p:nvPr/>
        </p:nvSpPr>
        <p:spPr>
          <a:xfrm>
            <a:off x="8293100" y="2413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21700" y="2336800"/>
            <a:ext cx="3009900" cy="1397000"/>
          </a:xfrm>
          <a:prstGeom prst="rect">
            <a:avLst/>
          </a:prstGeom>
          <a:noFill/>
        </p:spPr>
        <p:txBody>
          <a:bodyPr wrap="none" lIns="0" rIns="0" tIns="0" bIns="0">
            <a:spAutoFit/>
          </a:bodyPr>
          <a:lstStyle/>
          <a:p>
            <a:pPr>
              <a:lnSpc>
                <a:spcPts val="2092"/>
              </a:lnSpc>
              <a:spcBef>
                <a:spcPts val="0"/>
              </a:spcBef>
              <a:spcAft>
                <a:spcPts val="0"/>
              </a:spcAft>
              <a:defRPr sz="1550" b="0">
                <a:solidFill>
                  <a:srgbClr val="173A42"/>
                </a:solidFill>
                <a:latin typeface="DejaVu Sans"/>
              </a:defRPr>
            </a:pPr>
            <a:r>
              <a:t>Use the supplied smoke</a:t>
            </a:r>
          </a:p>
          <a:p>
            <a:pPr>
              <a:lnSpc>
                <a:spcPts val="2092"/>
              </a:lnSpc>
              <a:spcBef>
                <a:spcPts val="0"/>
              </a:spcBef>
              <a:spcAft>
                <a:spcPts val="0"/>
              </a:spcAft>
              <a:defRPr sz="1550" b="0">
                <a:solidFill>
                  <a:srgbClr val="173A42"/>
                </a:solidFill>
                <a:latin typeface="DejaVu Sans"/>
              </a:defRPr>
            </a:pPr>
            <a:r>
              <a:t>environment for local</a:t>
            </a:r>
          </a:p>
          <a:p>
            <a:pPr>
              <a:lnSpc>
                <a:spcPts val="2092"/>
              </a:lnSpc>
              <a:spcBef>
                <a:spcPts val="0"/>
              </a:spcBef>
              <a:spcAft>
                <a:spcPts val="0"/>
              </a:spcAft>
              <a:defRPr sz="1550" b="0">
                <a:solidFill>
                  <a:srgbClr val="173A42"/>
                </a:solidFill>
                <a:latin typeface="DejaVu Sans"/>
              </a:defRPr>
            </a:pPr>
            <a:r>
              <a:t>development.</a:t>
            </a:r>
          </a:p>
        </p:txBody>
      </p:sp>
      <p:sp>
        <p:nvSpPr>
          <p:cNvPr id="10" name="Rounded Rectangle 9"/>
          <p:cNvSpPr/>
          <p:nvPr/>
        </p:nvSpPr>
        <p:spPr>
          <a:xfrm>
            <a:off x="8293100" y="3369945"/>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21700" y="3293745"/>
            <a:ext cx="3009900" cy="1397000"/>
          </a:xfrm>
          <a:prstGeom prst="rect">
            <a:avLst/>
          </a:prstGeom>
          <a:noFill/>
        </p:spPr>
        <p:txBody>
          <a:bodyPr wrap="none" lIns="0" rIns="0" tIns="0" bIns="0">
            <a:spAutoFit/>
          </a:bodyPr>
          <a:lstStyle/>
          <a:p>
            <a:pPr>
              <a:lnSpc>
                <a:spcPts val="2092"/>
              </a:lnSpc>
              <a:spcBef>
                <a:spcPts val="0"/>
              </a:spcBef>
              <a:spcAft>
                <a:spcPts val="0"/>
              </a:spcAft>
              <a:defRPr sz="1550" b="0">
                <a:solidFill>
                  <a:srgbClr val="173A42"/>
                </a:solidFill>
                <a:latin typeface="DejaVu Sans"/>
              </a:defRPr>
            </a:pPr>
            <a:r>
              <a:t>The run script owns a</a:t>
            </a:r>
          </a:p>
          <a:p>
            <a:pPr>
              <a:lnSpc>
                <a:spcPts val="2092"/>
              </a:lnSpc>
              <a:spcBef>
                <a:spcPts val="0"/>
              </a:spcBef>
              <a:spcAft>
                <a:spcPts val="0"/>
              </a:spcAft>
              <a:defRPr sz="1550" b="0">
                <a:solidFill>
                  <a:srgbClr val="173A42"/>
                </a:solidFill>
                <a:latin typeface="DejaVu Sans"/>
              </a:defRPr>
            </a:pPr>
            <a:r>
              <a:t>temporary local service and</a:t>
            </a:r>
          </a:p>
          <a:p>
            <a:pPr>
              <a:lnSpc>
                <a:spcPts val="2092"/>
              </a:lnSpc>
              <a:spcBef>
                <a:spcPts val="0"/>
              </a:spcBef>
              <a:spcAft>
                <a:spcPts val="0"/>
              </a:spcAft>
              <a:defRPr sz="1550" b="0">
                <a:solidFill>
                  <a:srgbClr val="173A42"/>
                </a:solidFill>
                <a:latin typeface="DejaVu Sans"/>
              </a:defRPr>
            </a:pPr>
            <a:r>
              <a:t>cleans it up.</a:t>
            </a:r>
          </a:p>
        </p:txBody>
      </p:sp>
      <p:sp>
        <p:nvSpPr>
          <p:cNvPr id="12" name="Rounded Rectangle 11"/>
          <p:cNvSpPr/>
          <p:nvPr/>
        </p:nvSpPr>
        <p:spPr>
          <a:xfrm>
            <a:off x="8293100" y="432689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21700" y="4250690"/>
            <a:ext cx="3009900" cy="1397000"/>
          </a:xfrm>
          <a:prstGeom prst="rect">
            <a:avLst/>
          </a:prstGeom>
          <a:noFill/>
        </p:spPr>
        <p:txBody>
          <a:bodyPr wrap="none" lIns="0" rIns="0" tIns="0" bIns="0">
            <a:spAutoFit/>
          </a:bodyPr>
          <a:lstStyle/>
          <a:p>
            <a:pPr>
              <a:lnSpc>
                <a:spcPts val="2092"/>
              </a:lnSpc>
              <a:spcBef>
                <a:spcPts val="0"/>
              </a:spcBef>
              <a:spcAft>
                <a:spcPts val="0"/>
              </a:spcAft>
              <a:defRPr sz="1550" b="0">
                <a:solidFill>
                  <a:srgbClr val="173A42"/>
                </a:solidFill>
                <a:latin typeface="DejaVu Sans"/>
              </a:defRPr>
            </a:pPr>
            <a:r>
              <a:t>Use the baselines to verify</a:t>
            </a:r>
          </a:p>
          <a:p>
            <a:pPr>
              <a:lnSpc>
                <a:spcPts val="2092"/>
              </a:lnSpc>
              <a:spcBef>
                <a:spcPts val="0"/>
              </a:spcBef>
              <a:spcAft>
                <a:spcPts val="0"/>
              </a:spcAft>
              <a:defRPr sz="1550" b="0">
                <a:solidFill>
                  <a:srgbClr val="173A42"/>
                </a:solidFill>
                <a:latin typeface="DejaVu Sans"/>
              </a:defRPr>
            </a:pPr>
            <a:r>
              <a:t>your setup before replacing</a:t>
            </a:r>
          </a:p>
          <a:p>
            <a:pPr>
              <a:lnSpc>
                <a:spcPts val="2092"/>
              </a:lnSpc>
              <a:spcBef>
                <a:spcPts val="0"/>
              </a:spcBef>
              <a:spcAft>
                <a:spcPts val="0"/>
              </a:spcAft>
              <a:defRPr sz="1550" b="0">
                <a:solidFill>
                  <a:srgbClr val="173A42"/>
                </a:solidFill>
                <a:latin typeface="DejaVu Sans"/>
              </a:defRPr>
            </a:pPr>
            <a:r>
              <a:t>the policy.</a:t>
            </a:r>
          </a:p>
        </p:txBody>
      </p:sp>
      <p:sp>
        <p:nvSpPr>
          <p:cNvPr id="14" name="Rounded Rectangle 13"/>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Practice scripts are not the private test-access or submission interface.</a:t>
            </a:r>
          </a:p>
        </p:txBody>
      </p:sp>
      <p:cxnSp>
        <p:nvCxnSpPr>
          <p:cNvPr id="16" name="Connector 15"/>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18" name="TextBox 17"/>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05 / DEVELOPMENT AND REVIEW</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Review the run, then improve one decision.</a:t>
            </a:r>
          </a:p>
        </p:txBody>
      </p:sp>
      <p:sp>
        <p:nvSpPr>
          <p:cNvPr id="5" name="Rounded Rectangle 4"/>
          <p:cNvSpPr/>
          <p:nvPr/>
        </p:nvSpPr>
        <p:spPr>
          <a:xfrm>
            <a:off x="660400" y="2082800"/>
            <a:ext cx="10871200" cy="533400"/>
          </a:xfrm>
          <a:prstGeom prst="roundRect">
            <a:avLst>
              <a:gd name="adj" fmla="val 15000"/>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1700" y="2260600"/>
            <a:ext cx="3302000" cy="228600"/>
          </a:xfrm>
          <a:prstGeom prst="rect">
            <a:avLst/>
          </a:prstGeom>
          <a:noFill/>
        </p:spPr>
        <p:txBody>
          <a:bodyPr wrap="none" lIns="0" rIns="0" tIns="0" bIns="0">
            <a:spAutoFit/>
          </a:bodyPr>
          <a:lstStyle/>
          <a:p>
            <a:pPr>
              <a:lnSpc>
                <a:spcPts val="1397"/>
              </a:lnSpc>
              <a:spcBef>
                <a:spcPts val="0"/>
              </a:spcBef>
              <a:spcAft>
                <a:spcPts val="0"/>
              </a:spcAft>
              <a:defRPr sz="1100" b="1">
                <a:solidFill>
                  <a:srgbClr val="CAEFA1"/>
                </a:solidFill>
                <a:latin typeface="DejaVu Sans"/>
              </a:defRPr>
            </a:pPr>
            <a:r>
              <a:t>RUN EXPLORER</a:t>
            </a:r>
          </a:p>
        </p:txBody>
      </p:sp>
      <p:sp>
        <p:nvSpPr>
          <p:cNvPr id="7" name="TextBox 6"/>
          <p:cNvSpPr txBox="1"/>
          <p:nvPr/>
        </p:nvSpPr>
        <p:spPr>
          <a:xfrm>
            <a:off x="8369300" y="2247900"/>
            <a:ext cx="2857500" cy="292100"/>
          </a:xfrm>
          <a:prstGeom prst="rect">
            <a:avLst/>
          </a:prstGeom>
          <a:noFill/>
        </p:spPr>
        <p:txBody>
          <a:bodyPr wrap="none" lIns="0" rIns="0" tIns="0" bIns="0">
            <a:spAutoFit/>
          </a:bodyPr>
          <a:lstStyle/>
          <a:p>
            <a:pPr>
              <a:lnSpc>
                <a:spcPts val="1524"/>
              </a:lnSpc>
              <a:spcBef>
                <a:spcPts val="0"/>
              </a:spcBef>
              <a:spcAft>
                <a:spcPts val="0"/>
              </a:spcAft>
              <a:defRPr sz="1200" b="0">
                <a:solidFill>
                  <a:srgbClr val="FFFFFF"/>
                </a:solidFill>
                <a:latin typeface="DejaVu Sans Mono"/>
              </a:defRPr>
            </a:pPr>
            <a:r>
              <a:t>http://localhost:8080</a:t>
            </a:r>
          </a:p>
        </p:txBody>
      </p:sp>
      <p:sp>
        <p:nvSpPr>
          <p:cNvPr id="8" name="Rounded Rectangle 7"/>
          <p:cNvSpPr/>
          <p:nvPr/>
        </p:nvSpPr>
        <p:spPr>
          <a:xfrm>
            <a:off x="660400" y="2819400"/>
            <a:ext cx="5308600" cy="2730500"/>
          </a:xfrm>
          <a:prstGeom prst="roundRect">
            <a:avLst>
              <a:gd name="adj" fmla="val 465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0400" y="2819400"/>
            <a:ext cx="5308600" cy="50800"/>
          </a:xfrm>
          <a:prstGeom prst="rect">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9800" y="30988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008C7B"/>
                </a:solidFill>
                <a:latin typeface="DejaVu Sans"/>
              </a:defRPr>
            </a:pPr>
            <a:r>
              <a:t>BUSINESS PERFORMANCE</a:t>
            </a:r>
          </a:p>
        </p:txBody>
      </p:sp>
      <p:sp>
        <p:nvSpPr>
          <p:cNvPr id="11" name="Rounded Rectangle 10"/>
          <p:cNvSpPr/>
          <p:nvPr/>
        </p:nvSpPr>
        <p:spPr>
          <a:xfrm>
            <a:off x="939800" y="3683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8400" y="3606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Score, net profit, and liquidity</a:t>
            </a:r>
          </a:p>
        </p:txBody>
      </p:sp>
      <p:sp>
        <p:nvSpPr>
          <p:cNvPr id="13" name="Rounded Rectangle 12"/>
          <p:cNvSpPr/>
          <p:nvPr/>
        </p:nvSpPr>
        <p:spPr>
          <a:xfrm>
            <a:off x="939800" y="4038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8400" y="3962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Sales by product and daily fees</a:t>
            </a:r>
          </a:p>
        </p:txBody>
      </p:sp>
      <p:sp>
        <p:nvSpPr>
          <p:cNvPr id="15" name="Rounded Rectangle 14"/>
          <p:cNvSpPr/>
          <p:nvPr/>
        </p:nvSpPr>
        <p:spPr>
          <a:xfrm>
            <a:off x="939800" y="4394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8400" y="4318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Cash trajectory and stock snapshots</a:t>
            </a:r>
          </a:p>
        </p:txBody>
      </p:sp>
      <p:sp>
        <p:nvSpPr>
          <p:cNvPr id="17" name="Rounded Rectangle 16"/>
          <p:cNvSpPr/>
          <p:nvPr/>
        </p:nvSpPr>
        <p:spPr>
          <a:xfrm>
            <a:off x="6223000" y="2819400"/>
            <a:ext cx="5308600" cy="2730500"/>
          </a:xfrm>
          <a:prstGeom prst="roundRect">
            <a:avLst>
              <a:gd name="adj" fmla="val 465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23000" y="2819400"/>
            <a:ext cx="5308600" cy="50800"/>
          </a:xfrm>
          <a:prstGeom prst="rect">
            <a:avLst/>
          </a:prstGeom>
          <a:solidFill>
            <a:srgbClr val="5E8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02400" y="3098800"/>
            <a:ext cx="4749800" cy="444500"/>
          </a:xfrm>
          <a:prstGeom prst="rect">
            <a:avLst/>
          </a:prstGeom>
          <a:noFill/>
        </p:spPr>
        <p:txBody>
          <a:bodyPr wrap="none" lIns="0" rIns="0" tIns="0" bIns="0">
            <a:spAutoFit/>
          </a:bodyPr>
          <a:lstStyle/>
          <a:p>
            <a:pPr>
              <a:lnSpc>
                <a:spcPts val="1524"/>
              </a:lnSpc>
              <a:spcBef>
                <a:spcPts val="0"/>
              </a:spcBef>
              <a:spcAft>
                <a:spcPts val="0"/>
              </a:spcAft>
              <a:defRPr sz="1200" b="1">
                <a:solidFill>
                  <a:srgbClr val="557079"/>
                </a:solidFill>
                <a:latin typeface="DejaVu Sans"/>
              </a:defRPr>
            </a:pPr>
            <a:r>
              <a:t>HARNESS PERFORMANCE</a:t>
            </a:r>
          </a:p>
        </p:txBody>
      </p:sp>
      <p:sp>
        <p:nvSpPr>
          <p:cNvPr id="20" name="Rounded Rectangle 19"/>
          <p:cNvSpPr/>
          <p:nvPr/>
        </p:nvSpPr>
        <p:spPr>
          <a:xfrm>
            <a:off x="6502400" y="36830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31000" y="36068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Action outcomes and exact payloads</a:t>
            </a:r>
          </a:p>
        </p:txBody>
      </p:sp>
      <p:sp>
        <p:nvSpPr>
          <p:cNvPr id="22" name="Rounded Rectangle 21"/>
          <p:cNvSpPr/>
          <p:nvPr/>
        </p:nvSpPr>
        <p:spPr>
          <a:xfrm>
            <a:off x="6502400" y="40386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1000" y="39624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Tokens by action and simulated day</a:t>
            </a:r>
          </a:p>
        </p:txBody>
      </p:sp>
      <p:sp>
        <p:nvSpPr>
          <p:cNvPr id="24" name="Rounded Rectangle 23"/>
          <p:cNvSpPr/>
          <p:nvPr/>
        </p:nvSpPr>
        <p:spPr>
          <a:xfrm>
            <a:off x="6502400" y="4394200"/>
            <a:ext cx="63500" cy="63500"/>
          </a:xfrm>
          <a:prstGeom prst="roundRect">
            <a:avLst>
              <a:gd name="adj" fmla="val 15000"/>
            </a:avLst>
          </a:prstGeom>
          <a:solidFill>
            <a:srgbClr val="008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31000" y="4318000"/>
            <a:ext cx="4508500" cy="1397000"/>
          </a:xfrm>
          <a:prstGeom prst="rect">
            <a:avLst/>
          </a:prstGeom>
          <a:noFill/>
        </p:spPr>
        <p:txBody>
          <a:bodyPr wrap="none" lIns="0" rIns="0" tIns="0" bIns="0">
            <a:spAutoFit/>
          </a:bodyPr>
          <a:lstStyle/>
          <a:p>
            <a:pPr>
              <a:lnSpc>
                <a:spcPts val="2160"/>
              </a:lnSpc>
              <a:spcBef>
                <a:spcPts val="0"/>
              </a:spcBef>
              <a:spcAft>
                <a:spcPts val="0"/>
              </a:spcAft>
              <a:defRPr sz="1600" b="0">
                <a:solidFill>
                  <a:srgbClr val="173A42"/>
                </a:solidFill>
                <a:latin typeface="DejaVu Sans"/>
              </a:defRPr>
            </a:pPr>
            <a:r>
              <a:t>Context, memory, usage, and stop reason</a:t>
            </a:r>
          </a:p>
        </p:txBody>
      </p:sp>
      <p:sp>
        <p:nvSpPr>
          <p:cNvPr id="26" name="Rounded Rectangle 25"/>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The viewer is read-only. Inspecting a recorded run consumes no simulated time.</a:t>
            </a:r>
          </a:p>
        </p:txBody>
      </p:sp>
      <p:cxnSp>
        <p:nvCxnSpPr>
          <p:cNvPr id="28" name="Connector 27"/>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0" name="TextBox 29"/>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CAEFA1"/>
                </a:solidFill>
                <a:latin typeface="DejaVu Sans"/>
              </a:defRPr>
            </a:pPr>
            <a:r>
              <a:t>06 / READY FOR THE TEST</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FFFFFF"/>
                </a:solidFill>
                <a:latin typeface="DejaVu Sans"/>
              </a:defRPr>
            </a:pPr>
            <a:r>
              <a:t>Arrive with a reproducible harness.</a:t>
            </a:r>
          </a:p>
        </p:txBody>
      </p:sp>
      <p:sp>
        <p:nvSpPr>
          <p:cNvPr id="5" name="Rounded Rectangle 4"/>
          <p:cNvSpPr/>
          <p:nvPr/>
        </p:nvSpPr>
        <p:spPr>
          <a:xfrm>
            <a:off x="685800" y="2273300"/>
            <a:ext cx="342900" cy="3429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 y="2336800"/>
            <a:ext cx="228600" cy="266700"/>
          </a:xfrm>
          <a:prstGeom prst="rect">
            <a:avLst/>
          </a:prstGeom>
          <a:noFill/>
        </p:spPr>
        <p:txBody>
          <a:bodyPr wrap="none" lIns="0" rIns="0" tIns="0" bIns="0">
            <a:spAutoFit/>
          </a:bodyPr>
          <a:lstStyle/>
          <a:p>
            <a:pPr>
              <a:lnSpc>
                <a:spcPts val="1651"/>
              </a:lnSpc>
              <a:spcBef>
                <a:spcPts val="0"/>
              </a:spcBef>
              <a:spcAft>
                <a:spcPts val="0"/>
              </a:spcAft>
              <a:defRPr sz="1300" b="1">
                <a:solidFill>
                  <a:srgbClr val="173A42"/>
                </a:solidFill>
                <a:latin typeface="DejaVu Sans"/>
              </a:defRPr>
            </a:pPr>
            <a:r>
              <a:t>1</a:t>
            </a:r>
          </a:p>
        </p:txBody>
      </p:sp>
      <p:sp>
        <p:nvSpPr>
          <p:cNvPr id="7" name="TextBox 6"/>
          <p:cNvSpPr txBox="1"/>
          <p:nvPr/>
        </p:nvSpPr>
        <p:spPr>
          <a:xfrm>
            <a:off x="1295400" y="2298700"/>
            <a:ext cx="10096500" cy="495300"/>
          </a:xfrm>
          <a:prstGeom prst="rect">
            <a:avLst/>
          </a:prstGeom>
          <a:noFill/>
        </p:spPr>
        <p:txBody>
          <a:bodyPr wrap="none" lIns="0" rIns="0" tIns="0" bIns="0">
            <a:spAutoFit/>
          </a:bodyPr>
          <a:lstStyle/>
          <a:p>
            <a:pPr>
              <a:lnSpc>
                <a:spcPts val="2400"/>
              </a:lnSpc>
              <a:spcBef>
                <a:spcPts val="0"/>
              </a:spcBef>
              <a:spcAft>
                <a:spcPts val="0"/>
              </a:spcAft>
              <a:defRPr sz="2000" b="0">
                <a:solidFill>
                  <a:srgbClr val="FFFFFF"/>
                </a:solidFill>
                <a:latin typeface="DejaVu Sans"/>
              </a:defRPr>
            </a:pPr>
            <a:r>
              <a:t>A documented entry point and pinned dependencies</a:t>
            </a:r>
          </a:p>
        </p:txBody>
      </p:sp>
      <p:sp>
        <p:nvSpPr>
          <p:cNvPr id="8" name="Rounded Rectangle 7"/>
          <p:cNvSpPr/>
          <p:nvPr/>
        </p:nvSpPr>
        <p:spPr>
          <a:xfrm>
            <a:off x="685800" y="2895600"/>
            <a:ext cx="342900" cy="3429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 y="2959100"/>
            <a:ext cx="228600" cy="266700"/>
          </a:xfrm>
          <a:prstGeom prst="rect">
            <a:avLst/>
          </a:prstGeom>
          <a:noFill/>
        </p:spPr>
        <p:txBody>
          <a:bodyPr wrap="none" lIns="0" rIns="0" tIns="0" bIns="0">
            <a:spAutoFit/>
          </a:bodyPr>
          <a:lstStyle/>
          <a:p>
            <a:pPr>
              <a:lnSpc>
                <a:spcPts val="1651"/>
              </a:lnSpc>
              <a:spcBef>
                <a:spcPts val="0"/>
              </a:spcBef>
              <a:spcAft>
                <a:spcPts val="0"/>
              </a:spcAft>
              <a:defRPr sz="1300" b="1">
                <a:solidFill>
                  <a:srgbClr val="173A42"/>
                </a:solidFill>
                <a:latin typeface="DejaVu Sans"/>
              </a:defRPr>
            </a:pPr>
            <a:r>
              <a:t>2</a:t>
            </a:r>
          </a:p>
        </p:txBody>
      </p:sp>
      <p:sp>
        <p:nvSpPr>
          <p:cNvPr id="10" name="TextBox 9"/>
          <p:cNvSpPr txBox="1"/>
          <p:nvPr/>
        </p:nvSpPr>
        <p:spPr>
          <a:xfrm>
            <a:off x="1295400" y="2921000"/>
            <a:ext cx="10096500" cy="495300"/>
          </a:xfrm>
          <a:prstGeom prst="rect">
            <a:avLst/>
          </a:prstGeom>
          <a:noFill/>
        </p:spPr>
        <p:txBody>
          <a:bodyPr wrap="none" lIns="0" rIns="0" tIns="0" bIns="0">
            <a:spAutoFit/>
          </a:bodyPr>
          <a:lstStyle/>
          <a:p>
            <a:pPr>
              <a:lnSpc>
                <a:spcPts val="2400"/>
              </a:lnSpc>
              <a:spcBef>
                <a:spcPts val="0"/>
              </a:spcBef>
              <a:spcAft>
                <a:spcPts val="0"/>
              </a:spcAft>
              <a:defRPr sz="2000" b="0">
                <a:solidFill>
                  <a:srgbClr val="FFFFFF"/>
                </a:solidFill>
                <a:latin typeface="DejaVu Sans"/>
              </a:defRPr>
            </a:pPr>
            <a:r>
              <a:t>Configuration for prompts, model selection, and budgets</a:t>
            </a:r>
          </a:p>
        </p:txBody>
      </p:sp>
      <p:sp>
        <p:nvSpPr>
          <p:cNvPr id="11" name="Rounded Rectangle 10"/>
          <p:cNvSpPr/>
          <p:nvPr/>
        </p:nvSpPr>
        <p:spPr>
          <a:xfrm>
            <a:off x="685800" y="3517900"/>
            <a:ext cx="342900" cy="3429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 y="3581400"/>
            <a:ext cx="228600" cy="266700"/>
          </a:xfrm>
          <a:prstGeom prst="rect">
            <a:avLst/>
          </a:prstGeom>
          <a:noFill/>
        </p:spPr>
        <p:txBody>
          <a:bodyPr wrap="none" lIns="0" rIns="0" tIns="0" bIns="0">
            <a:spAutoFit/>
          </a:bodyPr>
          <a:lstStyle/>
          <a:p>
            <a:pPr>
              <a:lnSpc>
                <a:spcPts val="1651"/>
              </a:lnSpc>
              <a:spcBef>
                <a:spcPts val="0"/>
              </a:spcBef>
              <a:spcAft>
                <a:spcPts val="0"/>
              </a:spcAft>
              <a:defRPr sz="1300" b="1">
                <a:solidFill>
                  <a:srgbClr val="173A42"/>
                </a:solidFill>
                <a:latin typeface="DejaVu Sans"/>
              </a:defRPr>
            </a:pPr>
            <a:r>
              <a:t>3</a:t>
            </a:r>
          </a:p>
        </p:txBody>
      </p:sp>
      <p:sp>
        <p:nvSpPr>
          <p:cNvPr id="13" name="TextBox 12"/>
          <p:cNvSpPr txBox="1"/>
          <p:nvPr/>
        </p:nvSpPr>
        <p:spPr>
          <a:xfrm>
            <a:off x="1295400" y="3543300"/>
            <a:ext cx="10096500" cy="495300"/>
          </a:xfrm>
          <a:prstGeom prst="rect">
            <a:avLst/>
          </a:prstGeom>
          <a:noFill/>
        </p:spPr>
        <p:txBody>
          <a:bodyPr wrap="none" lIns="0" rIns="0" tIns="0" bIns="0">
            <a:spAutoFit/>
          </a:bodyPr>
          <a:lstStyle/>
          <a:p>
            <a:pPr>
              <a:lnSpc>
                <a:spcPts val="2400"/>
              </a:lnSpc>
              <a:spcBef>
                <a:spcPts val="0"/>
              </a:spcBef>
              <a:spcAft>
                <a:spcPts val="0"/>
              </a:spcAft>
              <a:defRPr sz="2000" b="0">
                <a:solidFill>
                  <a:srgbClr val="FFFFFF"/>
                </a:solidFill>
                <a:latin typeface="DejaVu Sans"/>
              </a:defRPr>
            </a:pPr>
            <a:r>
              <a:t>A successful end-to-end practice run with logs</a:t>
            </a:r>
          </a:p>
        </p:txBody>
      </p:sp>
      <p:sp>
        <p:nvSpPr>
          <p:cNvPr id="14" name="Rounded Rectangle 13"/>
          <p:cNvSpPr/>
          <p:nvPr/>
        </p:nvSpPr>
        <p:spPr>
          <a:xfrm>
            <a:off x="685800" y="4140200"/>
            <a:ext cx="342900" cy="3429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 y="4203700"/>
            <a:ext cx="228600" cy="266700"/>
          </a:xfrm>
          <a:prstGeom prst="rect">
            <a:avLst/>
          </a:prstGeom>
          <a:noFill/>
        </p:spPr>
        <p:txBody>
          <a:bodyPr wrap="none" lIns="0" rIns="0" tIns="0" bIns="0">
            <a:spAutoFit/>
          </a:bodyPr>
          <a:lstStyle/>
          <a:p>
            <a:pPr>
              <a:lnSpc>
                <a:spcPts val="1651"/>
              </a:lnSpc>
              <a:spcBef>
                <a:spcPts val="0"/>
              </a:spcBef>
              <a:spcAft>
                <a:spcPts val="0"/>
              </a:spcAft>
              <a:defRPr sz="1300" b="1">
                <a:solidFill>
                  <a:srgbClr val="173A42"/>
                </a:solidFill>
                <a:latin typeface="DejaVu Sans"/>
              </a:defRPr>
            </a:pPr>
            <a:r>
              <a:t>4</a:t>
            </a:r>
          </a:p>
        </p:txBody>
      </p:sp>
      <p:sp>
        <p:nvSpPr>
          <p:cNvPr id="16" name="TextBox 15"/>
          <p:cNvSpPr txBox="1"/>
          <p:nvPr/>
        </p:nvSpPr>
        <p:spPr>
          <a:xfrm>
            <a:off x="1295400" y="4165600"/>
            <a:ext cx="10096500" cy="495300"/>
          </a:xfrm>
          <a:prstGeom prst="rect">
            <a:avLst/>
          </a:prstGeom>
          <a:noFill/>
        </p:spPr>
        <p:txBody>
          <a:bodyPr wrap="none" lIns="0" rIns="0" tIns="0" bIns="0">
            <a:spAutoFit/>
          </a:bodyPr>
          <a:lstStyle/>
          <a:p>
            <a:pPr>
              <a:lnSpc>
                <a:spcPts val="2400"/>
              </a:lnSpc>
              <a:spcBef>
                <a:spcPts val="0"/>
              </a:spcBef>
              <a:spcAft>
                <a:spcPts val="0"/>
              </a:spcAft>
              <a:defRPr sz="2000" b="0">
                <a:solidFill>
                  <a:srgbClr val="FFFFFF"/>
                </a:solidFill>
                <a:latin typeface="DejaVu Sans"/>
              </a:defRPr>
            </a:pPr>
            <a:r>
              <a:t>Correct retries, termination handling, and cleanup</a:t>
            </a:r>
          </a:p>
        </p:txBody>
      </p:sp>
      <p:sp>
        <p:nvSpPr>
          <p:cNvPr id="17" name="Rounded Rectangle 16"/>
          <p:cNvSpPr/>
          <p:nvPr/>
        </p:nvSpPr>
        <p:spPr>
          <a:xfrm>
            <a:off x="685800" y="4762500"/>
            <a:ext cx="342900" cy="342900"/>
          </a:xfrm>
          <a:prstGeom prst="roundRect">
            <a:avLst>
              <a:gd name="adj" fmla="val 15000"/>
            </a:avLst>
          </a:prstGeom>
          <a:solidFill>
            <a:srgbClr val="CAEF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 y="4826000"/>
            <a:ext cx="228600" cy="266700"/>
          </a:xfrm>
          <a:prstGeom prst="rect">
            <a:avLst/>
          </a:prstGeom>
          <a:noFill/>
        </p:spPr>
        <p:txBody>
          <a:bodyPr wrap="none" lIns="0" rIns="0" tIns="0" bIns="0">
            <a:spAutoFit/>
          </a:bodyPr>
          <a:lstStyle/>
          <a:p>
            <a:pPr>
              <a:lnSpc>
                <a:spcPts val="1651"/>
              </a:lnSpc>
              <a:spcBef>
                <a:spcPts val="0"/>
              </a:spcBef>
              <a:spcAft>
                <a:spcPts val="0"/>
              </a:spcAft>
              <a:defRPr sz="1300" b="1">
                <a:solidFill>
                  <a:srgbClr val="173A42"/>
                </a:solidFill>
                <a:latin typeface="DejaVu Sans"/>
              </a:defRPr>
            </a:pPr>
            <a:r>
              <a:t>5</a:t>
            </a:r>
          </a:p>
        </p:txBody>
      </p:sp>
      <p:sp>
        <p:nvSpPr>
          <p:cNvPr id="19" name="TextBox 18"/>
          <p:cNvSpPr txBox="1"/>
          <p:nvPr/>
        </p:nvSpPr>
        <p:spPr>
          <a:xfrm>
            <a:off x="1295400" y="4787900"/>
            <a:ext cx="10096500" cy="495300"/>
          </a:xfrm>
          <a:prstGeom prst="rect">
            <a:avLst/>
          </a:prstGeom>
          <a:noFill/>
        </p:spPr>
        <p:txBody>
          <a:bodyPr wrap="none" lIns="0" rIns="0" tIns="0" bIns="0">
            <a:spAutoFit/>
          </a:bodyPr>
          <a:lstStyle/>
          <a:p>
            <a:pPr>
              <a:lnSpc>
                <a:spcPts val="2400"/>
              </a:lnSpc>
              <a:spcBef>
                <a:spcPts val="0"/>
              </a:spcBef>
              <a:spcAft>
                <a:spcPts val="0"/>
              </a:spcAft>
              <a:defRPr sz="2000" b="0">
                <a:solidFill>
                  <a:srgbClr val="FFFFFF"/>
                </a:solidFill>
                <a:latin typeface="DejaVu Sans"/>
              </a:defRPr>
            </a:pPr>
            <a:r>
              <a:t>A brief explanation of your design and observed trade-offs</a:t>
            </a:r>
          </a:p>
        </p:txBody>
      </p:sp>
      <p:sp>
        <p:nvSpPr>
          <p:cNvPr id="20" name="Rounded Rectangle 19"/>
          <p:cNvSpPr/>
          <p:nvPr/>
        </p:nvSpPr>
        <p:spPr>
          <a:xfrm>
            <a:off x="660400" y="5842000"/>
            <a:ext cx="10871200" cy="546100"/>
          </a:xfrm>
          <a:prstGeom prst="roundRect">
            <a:avLst>
              <a:gd name="adj" fmla="val 15000"/>
            </a:avLst>
          </a:prstGeom>
          <a:solidFill>
            <a:srgbClr val="19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CAEFA1"/>
                </a:solidFill>
                <a:latin typeface="DejaVu Sans"/>
              </a:defRPr>
            </a:pPr>
            <a:r>
              <a:t>To be announced: submission packaging, deadline, allowed models, test handoff, and tie-breaks.</a:t>
            </a:r>
          </a:p>
        </p:txBody>
      </p:sp>
      <p:cxnSp>
        <p:nvCxnSpPr>
          <p:cNvPr id="22" name="Connector 21"/>
          <p:cNvCxnSpPr/>
          <p:nvPr/>
        </p:nvCxnSpPr>
        <p:spPr>
          <a:xfrm>
            <a:off x="660400" y="6565900"/>
            <a:ext cx="10871200" cy="0"/>
          </a:xfrm>
          <a:prstGeom prst="line">
            <a:avLst/>
          </a:prstGeom>
          <a:ln w="8255">
            <a:solidFill>
              <a:srgbClr val="32515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A6C1C6"/>
                </a:solidFill>
                <a:latin typeface="DejaVu Sans"/>
              </a:defRPr>
            </a:pPr>
            <a:r>
              <a:t>VENDING BENCH  /  PARTICIPANT BRIEFING</a:t>
            </a:r>
          </a:p>
        </p:txBody>
      </p:sp>
      <p:sp>
        <p:nvSpPr>
          <p:cNvPr id="24" name="TextBox 23"/>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CAEFA1"/>
                </a:solidFill>
                <a:latin typeface="DejaVu San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REFERENCE / API LIFECYCLE</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Create or receive an ID, act, then retrieve</a:t>
            </a:r>
          </a:p>
          <a:p>
            <a:pPr>
              <a:lnSpc>
                <a:spcPts val="3596"/>
              </a:lnSpc>
              <a:spcBef>
                <a:spcPts val="0"/>
              </a:spcBef>
              <a:spcAft>
                <a:spcPts val="0"/>
              </a:spcAft>
              <a:defRPr sz="3100" b="1">
                <a:solidFill>
                  <a:srgbClr val="173A42"/>
                </a:solidFill>
                <a:latin typeface="DejaVu Sans"/>
              </a:defRPr>
            </a:pPr>
            <a:r>
              <a:t>results.</a:t>
            </a:r>
          </a:p>
        </p:txBody>
      </p:sp>
      <p:sp>
        <p:nvSpPr>
          <p:cNvPr id="5" name="Rounded Rectangle 4"/>
          <p:cNvSpPr/>
          <p:nvPr/>
        </p:nvSpPr>
        <p:spPr>
          <a:xfrm>
            <a:off x="660400" y="2120900"/>
            <a:ext cx="10871200" cy="431800"/>
          </a:xfrm>
          <a:prstGeom prst="roundRect">
            <a:avLst>
              <a:gd name="adj" fmla="val 14705"/>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500" y="2247900"/>
            <a:ext cx="21590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REQUEST</a:t>
            </a:r>
          </a:p>
        </p:txBody>
      </p:sp>
      <p:sp>
        <p:nvSpPr>
          <p:cNvPr id="7" name="TextBox 6"/>
          <p:cNvSpPr txBox="1"/>
          <p:nvPr/>
        </p:nvSpPr>
        <p:spPr>
          <a:xfrm>
            <a:off x="3302000" y="2247900"/>
            <a:ext cx="37465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SUCCESS</a:t>
            </a:r>
          </a:p>
        </p:txBody>
      </p:sp>
      <p:sp>
        <p:nvSpPr>
          <p:cNvPr id="8" name="TextBox 7"/>
          <p:cNvSpPr txBox="1"/>
          <p:nvPr/>
        </p:nvSpPr>
        <p:spPr>
          <a:xfrm>
            <a:off x="7366000" y="2247900"/>
            <a:ext cx="40132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NOTES</a:t>
            </a:r>
          </a:p>
        </p:txBody>
      </p:sp>
      <p:sp>
        <p:nvSpPr>
          <p:cNvPr id="9" name="Rectangle 8"/>
          <p:cNvSpPr/>
          <p:nvPr/>
        </p:nvSpPr>
        <p:spPr>
          <a:xfrm>
            <a:off x="660400" y="255270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705100"/>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POST /env</a:t>
            </a:r>
          </a:p>
        </p:txBody>
      </p:sp>
      <p:sp>
        <p:nvSpPr>
          <p:cNvPr id="11" name="TextBox 10"/>
          <p:cNvSpPr txBox="1"/>
          <p:nvPr/>
        </p:nvSpPr>
        <p:spPr>
          <a:xfrm>
            <a:off x="3302000" y="2705100"/>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201: {env_id}</a:t>
            </a:r>
          </a:p>
        </p:txBody>
      </p:sp>
      <p:sp>
        <p:nvSpPr>
          <p:cNvPr id="12" name="TextBox 11"/>
          <p:cNvSpPr txBox="1"/>
          <p:nvPr/>
        </p:nvSpPr>
        <p:spPr>
          <a:xfrm>
            <a:off x="7366000" y="2705100"/>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Coordinator-controlled test selection</a:t>
            </a:r>
          </a:p>
        </p:txBody>
      </p:sp>
      <p:sp>
        <p:nvSpPr>
          <p:cNvPr id="13" name="Rectangle 12"/>
          <p:cNvSpPr/>
          <p:nvPr/>
        </p:nvSpPr>
        <p:spPr>
          <a:xfrm>
            <a:off x="660400" y="3167380"/>
            <a:ext cx="10871200" cy="614680"/>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500" y="3319779"/>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POST</a:t>
            </a:r>
          </a:p>
          <a:p>
            <a:pPr>
              <a:lnSpc>
                <a:spcPts val="1844"/>
              </a:lnSpc>
              <a:spcBef>
                <a:spcPts val="0"/>
              </a:spcBef>
              <a:spcAft>
                <a:spcPts val="0"/>
              </a:spcAft>
              <a:defRPr sz="1550" b="1">
                <a:solidFill>
                  <a:srgbClr val="008C7B"/>
                </a:solidFill>
                <a:latin typeface="DejaVu Sans"/>
              </a:defRPr>
            </a:pPr>
            <a:r>
              <a:t>/env/{id}/{action}</a:t>
            </a:r>
          </a:p>
        </p:txBody>
      </p:sp>
      <p:sp>
        <p:nvSpPr>
          <p:cNvPr id="15" name="TextBox 14"/>
          <p:cNvSpPr txBox="1"/>
          <p:nvPr/>
        </p:nvSpPr>
        <p:spPr>
          <a:xfrm>
            <a:off x="3302000" y="3319779"/>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200: action envelope</a:t>
            </a:r>
          </a:p>
        </p:txBody>
      </p:sp>
      <p:sp>
        <p:nvSpPr>
          <p:cNvPr id="16" name="TextBox 15"/>
          <p:cNvSpPr txBox="1"/>
          <p:nvPr/>
        </p:nvSpPr>
        <p:spPr>
          <a:xfrm>
            <a:off x="7366000" y="3319779"/>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Optional Idempotency-Key</a:t>
            </a:r>
          </a:p>
        </p:txBody>
      </p:sp>
      <p:sp>
        <p:nvSpPr>
          <p:cNvPr id="17" name="Rectangle 16"/>
          <p:cNvSpPr/>
          <p:nvPr/>
        </p:nvSpPr>
        <p:spPr>
          <a:xfrm>
            <a:off x="660400" y="378206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500" y="3934460"/>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GET</a:t>
            </a:r>
          </a:p>
          <a:p>
            <a:pPr>
              <a:lnSpc>
                <a:spcPts val="1844"/>
              </a:lnSpc>
              <a:spcBef>
                <a:spcPts val="0"/>
              </a:spcBef>
              <a:spcAft>
                <a:spcPts val="0"/>
              </a:spcAft>
              <a:defRPr sz="1550" b="1">
                <a:solidFill>
                  <a:srgbClr val="008C7B"/>
                </a:solidFill>
                <a:latin typeface="DejaVu Sans"/>
              </a:defRPr>
            </a:pPr>
            <a:r>
              <a:t>/env/{id}/status</a:t>
            </a:r>
          </a:p>
        </p:txBody>
      </p:sp>
      <p:sp>
        <p:nvSpPr>
          <p:cNvPr id="19" name="TextBox 18"/>
          <p:cNvSpPr txBox="1"/>
          <p:nvPr/>
        </p:nvSpPr>
        <p:spPr>
          <a:xfrm>
            <a:off x="3302000" y="3934460"/>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200: {state}</a:t>
            </a:r>
          </a:p>
        </p:txBody>
      </p:sp>
      <p:sp>
        <p:nvSpPr>
          <p:cNvPr id="20" name="TextBox 19"/>
          <p:cNvSpPr txBox="1"/>
          <p:nvPr/>
        </p:nvSpPr>
        <p:spPr>
          <a:xfrm>
            <a:off x="7366000" y="3934460"/>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running / ended / unavailable</a:t>
            </a:r>
          </a:p>
        </p:txBody>
      </p:sp>
      <p:sp>
        <p:nvSpPr>
          <p:cNvPr id="21" name="Rectangle 20"/>
          <p:cNvSpPr/>
          <p:nvPr/>
        </p:nvSpPr>
        <p:spPr>
          <a:xfrm>
            <a:off x="660400" y="4396740"/>
            <a:ext cx="10871200" cy="614680"/>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00" y="4549140"/>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GET</a:t>
            </a:r>
          </a:p>
          <a:p>
            <a:pPr>
              <a:lnSpc>
                <a:spcPts val="1844"/>
              </a:lnSpc>
              <a:spcBef>
                <a:spcPts val="0"/>
              </a:spcBef>
              <a:spcAft>
                <a:spcPts val="0"/>
              </a:spcAft>
              <a:defRPr sz="1550" b="1">
                <a:solidFill>
                  <a:srgbClr val="008C7B"/>
                </a:solidFill>
                <a:latin typeface="DejaVu Sans"/>
              </a:defRPr>
            </a:pPr>
            <a:r>
              <a:t>/env/{id}/result</a:t>
            </a:r>
          </a:p>
        </p:txBody>
      </p:sp>
      <p:sp>
        <p:nvSpPr>
          <p:cNvPr id="23" name="TextBox 22"/>
          <p:cNvSpPr txBox="1"/>
          <p:nvPr/>
        </p:nvSpPr>
        <p:spPr>
          <a:xfrm>
            <a:off x="3302000" y="4549140"/>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200: terminal summary</a:t>
            </a:r>
          </a:p>
        </p:txBody>
      </p:sp>
      <p:sp>
        <p:nvSpPr>
          <p:cNvPr id="24" name="TextBox 23"/>
          <p:cNvSpPr txBox="1"/>
          <p:nvPr/>
        </p:nvSpPr>
        <p:spPr>
          <a:xfrm>
            <a:off x="7366000" y="4549140"/>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409 while running</a:t>
            </a:r>
          </a:p>
        </p:txBody>
      </p:sp>
      <p:sp>
        <p:nvSpPr>
          <p:cNvPr id="25" name="Rectangle 24"/>
          <p:cNvSpPr/>
          <p:nvPr/>
        </p:nvSpPr>
        <p:spPr>
          <a:xfrm>
            <a:off x="660400" y="5011420"/>
            <a:ext cx="10871200" cy="61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500" y="5163820"/>
            <a:ext cx="2159000" cy="436880"/>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DELETE /env/{id}</a:t>
            </a:r>
          </a:p>
        </p:txBody>
      </p:sp>
      <p:sp>
        <p:nvSpPr>
          <p:cNvPr id="27" name="TextBox 26"/>
          <p:cNvSpPr txBox="1"/>
          <p:nvPr/>
        </p:nvSpPr>
        <p:spPr>
          <a:xfrm>
            <a:off x="3302000" y="5163820"/>
            <a:ext cx="37465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204: empty response</a:t>
            </a:r>
          </a:p>
        </p:txBody>
      </p:sp>
      <p:sp>
        <p:nvSpPr>
          <p:cNvPr id="28" name="TextBox 27"/>
          <p:cNvSpPr txBox="1"/>
          <p:nvPr/>
        </p:nvSpPr>
        <p:spPr>
          <a:xfrm>
            <a:off x="7366000" y="5163820"/>
            <a:ext cx="4013200" cy="436880"/>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Idempotent cleanup</a:t>
            </a:r>
          </a:p>
        </p:txBody>
      </p:sp>
      <p:sp>
        <p:nvSpPr>
          <p:cNvPr id="29" name="Rounded Rectangle 28"/>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The final accepted action can return 200 with state ended. Later actions are rejected.</a:t>
            </a:r>
          </a:p>
        </p:txBody>
      </p:sp>
      <p:cxnSp>
        <p:nvCxnSpPr>
          <p:cNvPr id="31" name="Connector 30"/>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3" name="TextBox 32"/>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REFERENCE / REQUEST SHAPES</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Use the exact schemas. Money is integer cents.</a:t>
            </a:r>
          </a:p>
        </p:txBody>
      </p:sp>
      <p:sp>
        <p:nvSpPr>
          <p:cNvPr id="5" name="Rounded Rectangle 4"/>
          <p:cNvSpPr/>
          <p:nvPr/>
        </p:nvSpPr>
        <p:spPr>
          <a:xfrm>
            <a:off x="660400" y="2120900"/>
            <a:ext cx="10871200" cy="431800"/>
          </a:xfrm>
          <a:prstGeom prst="roundRect">
            <a:avLst>
              <a:gd name="adj" fmla="val 14705"/>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500" y="2247900"/>
            <a:ext cx="24765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ACTION</a:t>
            </a:r>
          </a:p>
        </p:txBody>
      </p:sp>
      <p:sp>
        <p:nvSpPr>
          <p:cNvPr id="7" name="TextBox 6"/>
          <p:cNvSpPr txBox="1"/>
          <p:nvPr/>
        </p:nvSpPr>
        <p:spPr>
          <a:xfrm>
            <a:off x="3619500" y="2247900"/>
            <a:ext cx="7759700" cy="228600"/>
          </a:xfrm>
          <a:prstGeom prst="rect">
            <a:avLst/>
          </a:prstGeom>
          <a:noFill/>
        </p:spPr>
        <p:txBody>
          <a:bodyPr wrap="none" lIns="0" rIns="0" tIns="0" bIns="0">
            <a:spAutoFit/>
          </a:bodyPr>
          <a:lstStyle/>
          <a:p>
            <a:pPr>
              <a:lnSpc>
                <a:spcPts val="1524"/>
              </a:lnSpc>
              <a:spcBef>
                <a:spcPts val="0"/>
              </a:spcBef>
              <a:spcAft>
                <a:spcPts val="0"/>
              </a:spcAft>
              <a:defRPr sz="1200" b="1">
                <a:solidFill>
                  <a:srgbClr val="FFFFFF"/>
                </a:solidFill>
                <a:latin typeface="DejaVu Sans"/>
              </a:defRPr>
            </a:pPr>
            <a:r>
              <a:t>PAYLOAD</a:t>
            </a:r>
          </a:p>
        </p:txBody>
      </p:sp>
      <p:sp>
        <p:nvSpPr>
          <p:cNvPr id="8" name="Rectangle 7"/>
          <p:cNvSpPr/>
          <p:nvPr/>
        </p:nvSpPr>
        <p:spPr>
          <a:xfrm>
            <a:off x="660400" y="2552700"/>
            <a:ext cx="10871200" cy="5122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500" y="2705100"/>
            <a:ext cx="2476500" cy="334433"/>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make_offer</a:t>
            </a:r>
          </a:p>
        </p:txBody>
      </p:sp>
      <p:sp>
        <p:nvSpPr>
          <p:cNvPr id="10" name="TextBox 9"/>
          <p:cNvSpPr txBox="1"/>
          <p:nvPr/>
        </p:nvSpPr>
        <p:spPr>
          <a:xfrm>
            <a:off x="3619500" y="2705100"/>
            <a:ext cx="7759700" cy="334433"/>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supplier_id, product_id, quantity, unit_price_cents</a:t>
            </a:r>
          </a:p>
        </p:txBody>
      </p:sp>
      <p:sp>
        <p:nvSpPr>
          <p:cNvPr id="11" name="Rectangle 10"/>
          <p:cNvSpPr/>
          <p:nvPr/>
        </p:nvSpPr>
        <p:spPr>
          <a:xfrm>
            <a:off x="660400" y="3064933"/>
            <a:ext cx="10871200" cy="512233"/>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500" y="3217333"/>
            <a:ext cx="2476500" cy="334433"/>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set_price</a:t>
            </a:r>
          </a:p>
        </p:txBody>
      </p:sp>
      <p:sp>
        <p:nvSpPr>
          <p:cNvPr id="13" name="TextBox 12"/>
          <p:cNvSpPr txBox="1"/>
          <p:nvPr/>
        </p:nvSpPr>
        <p:spPr>
          <a:xfrm>
            <a:off x="3619500" y="3217333"/>
            <a:ext cx="7759700" cy="334433"/>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product_id, unit_price_cents</a:t>
            </a:r>
          </a:p>
        </p:txBody>
      </p:sp>
      <p:sp>
        <p:nvSpPr>
          <p:cNvPr id="14" name="Rectangle 13"/>
          <p:cNvSpPr/>
          <p:nvPr/>
        </p:nvSpPr>
        <p:spPr>
          <a:xfrm>
            <a:off x="660400" y="3577166"/>
            <a:ext cx="10871200" cy="5122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500" y="3729566"/>
            <a:ext cx="2476500" cy="334433"/>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stock_items</a:t>
            </a:r>
          </a:p>
        </p:txBody>
      </p:sp>
      <p:sp>
        <p:nvSpPr>
          <p:cNvPr id="16" name="TextBox 15"/>
          <p:cNvSpPr txBox="1"/>
          <p:nvPr/>
        </p:nvSpPr>
        <p:spPr>
          <a:xfrm>
            <a:off x="3619500" y="3729566"/>
            <a:ext cx="7759700" cy="334433"/>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slot_id, product_id, quantity</a:t>
            </a:r>
          </a:p>
        </p:txBody>
      </p:sp>
      <p:sp>
        <p:nvSpPr>
          <p:cNvPr id="17" name="Rectangle 16"/>
          <p:cNvSpPr/>
          <p:nvPr/>
        </p:nvSpPr>
        <p:spPr>
          <a:xfrm>
            <a:off x="660400" y="4089400"/>
            <a:ext cx="10871200" cy="512233"/>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500" y="4241800"/>
            <a:ext cx="2476500" cy="334433"/>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unstock_items</a:t>
            </a:r>
          </a:p>
        </p:txBody>
      </p:sp>
      <p:sp>
        <p:nvSpPr>
          <p:cNvPr id="19" name="TextBox 18"/>
          <p:cNvSpPr txBox="1"/>
          <p:nvPr/>
        </p:nvSpPr>
        <p:spPr>
          <a:xfrm>
            <a:off x="3619500" y="4241800"/>
            <a:ext cx="7759700" cy="334433"/>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slot_id, quantity</a:t>
            </a:r>
          </a:p>
        </p:txBody>
      </p:sp>
      <p:sp>
        <p:nvSpPr>
          <p:cNvPr id="20" name="Rectangle 19"/>
          <p:cNvSpPr/>
          <p:nvPr/>
        </p:nvSpPr>
        <p:spPr>
          <a:xfrm>
            <a:off x="660400" y="4601633"/>
            <a:ext cx="10871200" cy="5122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500" y="4754033"/>
            <a:ext cx="2476500" cy="334433"/>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search_products</a:t>
            </a:r>
          </a:p>
        </p:txBody>
      </p:sp>
      <p:sp>
        <p:nvSpPr>
          <p:cNvPr id="22" name="TextBox 21"/>
          <p:cNvSpPr txBox="1"/>
          <p:nvPr/>
        </p:nvSpPr>
        <p:spPr>
          <a:xfrm>
            <a:off x="3619500" y="4754033"/>
            <a:ext cx="7759700" cy="334433"/>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Optional product_id</a:t>
            </a:r>
          </a:p>
        </p:txBody>
      </p:sp>
      <p:sp>
        <p:nvSpPr>
          <p:cNvPr id="23" name="Rectangle 22"/>
          <p:cNvSpPr/>
          <p:nvPr/>
        </p:nvSpPr>
        <p:spPr>
          <a:xfrm>
            <a:off x="660400" y="5113866"/>
            <a:ext cx="10871200" cy="512233"/>
          </a:xfrm>
          <a:prstGeom prst="rect">
            <a:avLst/>
          </a:prstGeom>
          <a:solidFill>
            <a:srgbClr val="ED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500" y="5266266"/>
            <a:ext cx="2476500" cy="334433"/>
          </a:xfrm>
          <a:prstGeom prst="rect">
            <a:avLst/>
          </a:prstGeom>
          <a:noFill/>
        </p:spPr>
        <p:txBody>
          <a:bodyPr wrap="none" lIns="0" rIns="0" tIns="0" bIns="0">
            <a:spAutoFit/>
          </a:bodyPr>
          <a:lstStyle/>
          <a:p>
            <a:pPr>
              <a:lnSpc>
                <a:spcPts val="1844"/>
              </a:lnSpc>
              <a:spcBef>
                <a:spcPts val="0"/>
              </a:spcBef>
              <a:spcAft>
                <a:spcPts val="0"/>
              </a:spcAft>
              <a:defRPr sz="1550" b="1">
                <a:solidFill>
                  <a:srgbClr val="008C7B"/>
                </a:solidFill>
                <a:latin typeface="DejaVu Sans"/>
              </a:defRPr>
            </a:pPr>
            <a:r>
              <a:t>Other listed actions</a:t>
            </a:r>
          </a:p>
        </p:txBody>
      </p:sp>
      <p:sp>
        <p:nvSpPr>
          <p:cNvPr id="25" name="TextBox 24"/>
          <p:cNvSpPr txBox="1"/>
          <p:nvPr/>
        </p:nvSpPr>
        <p:spPr>
          <a:xfrm>
            <a:off x="3619500" y="5266266"/>
            <a:ext cx="7759700" cy="334433"/>
          </a:xfrm>
          <a:prstGeom prst="rect">
            <a:avLst/>
          </a:prstGeom>
          <a:noFill/>
        </p:spPr>
        <p:txBody>
          <a:bodyPr wrap="none" lIns="0" rIns="0" tIns="0" bIns="0">
            <a:spAutoFit/>
          </a:bodyPr>
          <a:lstStyle/>
          <a:p>
            <a:pPr>
              <a:lnSpc>
                <a:spcPts val="1844"/>
              </a:lnSpc>
              <a:spcBef>
                <a:spcPts val="0"/>
              </a:spcBef>
              <a:spcAft>
                <a:spcPts val="0"/>
              </a:spcAft>
              <a:defRPr sz="1550" b="0">
                <a:solidFill>
                  <a:srgbClr val="173A42"/>
                </a:solidFill>
                <a:latin typeface="DejaVu Sans"/>
              </a:defRPr>
            </a:pPr>
            <a:r>
              <a:t>{}</a:t>
            </a:r>
          </a:p>
        </p:txBody>
      </p:sp>
      <p:sp>
        <p:nvSpPr>
          <p:cNvPr id="26" name="Rounded Rectangle 25"/>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Reject extra fields, fractional quantities, invalid IDs, and out-of-bounds prices locally.</a:t>
            </a:r>
          </a:p>
        </p:txBody>
      </p:sp>
      <p:cxnSp>
        <p:nvCxnSpPr>
          <p:cNvPr id="28" name="Connector 27"/>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30" name="TextBox 29"/>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0400" y="355600"/>
            <a:ext cx="10287000" cy="228600"/>
          </a:xfrm>
          <a:prstGeom prst="rect">
            <a:avLst/>
          </a:prstGeom>
          <a:noFill/>
        </p:spPr>
        <p:txBody>
          <a:bodyPr wrap="none" lIns="0" rIns="0" tIns="0" bIns="0">
            <a:spAutoFit/>
          </a:bodyPr>
          <a:lstStyle/>
          <a:p>
            <a:pPr>
              <a:lnSpc>
                <a:spcPts val="1270"/>
              </a:lnSpc>
              <a:spcBef>
                <a:spcPts val="0"/>
              </a:spcBef>
              <a:spcAft>
                <a:spcPts val="0"/>
              </a:spcAft>
              <a:defRPr sz="1000" b="1">
                <a:solidFill>
                  <a:srgbClr val="008C7B"/>
                </a:solidFill>
                <a:latin typeface="DejaVu Sans"/>
              </a:defRPr>
            </a:pPr>
            <a:r>
              <a:t>REFERENCE / ONE ACTION</a:t>
            </a:r>
          </a:p>
        </p:txBody>
      </p:sp>
      <p:sp>
        <p:nvSpPr>
          <p:cNvPr id="4" name="TextBox 3"/>
          <p:cNvSpPr txBox="1"/>
          <p:nvPr/>
        </p:nvSpPr>
        <p:spPr>
          <a:xfrm>
            <a:off x="660400" y="825500"/>
            <a:ext cx="10871200" cy="1143000"/>
          </a:xfrm>
          <a:prstGeom prst="rect">
            <a:avLst/>
          </a:prstGeom>
          <a:noFill/>
        </p:spPr>
        <p:txBody>
          <a:bodyPr wrap="none" lIns="0" rIns="0" tIns="0" bIns="0">
            <a:spAutoFit/>
          </a:bodyPr>
          <a:lstStyle/>
          <a:p>
            <a:pPr>
              <a:lnSpc>
                <a:spcPts val="3596"/>
              </a:lnSpc>
              <a:spcBef>
                <a:spcPts val="0"/>
              </a:spcBef>
              <a:spcAft>
                <a:spcPts val="0"/>
              </a:spcAft>
              <a:defRPr sz="3100" b="1">
                <a:solidFill>
                  <a:srgbClr val="173A42"/>
                </a:solidFill>
                <a:latin typeface="DejaVu Sans"/>
              </a:defRPr>
            </a:pPr>
            <a:r>
              <a:t>One validated request. One logged outcome.</a:t>
            </a:r>
          </a:p>
        </p:txBody>
      </p:sp>
      <p:sp>
        <p:nvSpPr>
          <p:cNvPr id="5" name="Rounded Rectangle 4"/>
          <p:cNvSpPr/>
          <p:nvPr/>
        </p:nvSpPr>
        <p:spPr>
          <a:xfrm>
            <a:off x="660400" y="2082800"/>
            <a:ext cx="5308600" cy="3543300"/>
          </a:xfrm>
          <a:prstGeom prst="roundRect">
            <a:avLst>
              <a:gd name="adj" fmla="val 3584"/>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311400"/>
            <a:ext cx="4826000" cy="241300"/>
          </a:xfrm>
          <a:prstGeom prst="rect">
            <a:avLst/>
          </a:prstGeom>
          <a:noFill/>
        </p:spPr>
        <p:txBody>
          <a:bodyPr wrap="none" lIns="0" rIns="0" tIns="0" bIns="0">
            <a:spAutoFit/>
          </a:bodyPr>
          <a:lstStyle/>
          <a:p>
            <a:pPr>
              <a:lnSpc>
                <a:spcPts val="1270"/>
              </a:lnSpc>
              <a:spcBef>
                <a:spcPts val="0"/>
              </a:spcBef>
              <a:spcAft>
                <a:spcPts val="0"/>
              </a:spcAft>
              <a:defRPr sz="1000" b="1">
                <a:solidFill>
                  <a:srgbClr val="CAEFA1"/>
                </a:solidFill>
                <a:latin typeface="DejaVu Sans"/>
              </a:defRPr>
            </a:pPr>
            <a:r>
              <a:t>REQUEST</a:t>
            </a:r>
          </a:p>
        </p:txBody>
      </p:sp>
      <p:sp>
        <p:nvSpPr>
          <p:cNvPr id="7" name="TextBox 6"/>
          <p:cNvSpPr txBox="1"/>
          <p:nvPr/>
        </p:nvSpPr>
        <p:spPr>
          <a:xfrm>
            <a:off x="889000" y="2730500"/>
            <a:ext cx="4851400" cy="2794000"/>
          </a:xfrm>
          <a:prstGeom prst="rect">
            <a:avLst/>
          </a:prstGeom>
          <a:noFill/>
        </p:spPr>
        <p:txBody>
          <a:bodyPr wrap="none" lIns="0" rIns="0" tIns="0" bIns="0">
            <a:spAutoFit/>
          </a:bodyPr>
          <a:lstStyle/>
          <a:p>
            <a:pPr>
              <a:lnSpc>
                <a:spcPts val="1849"/>
              </a:lnSpc>
              <a:spcBef>
                <a:spcPts val="0"/>
              </a:spcBef>
              <a:spcAft>
                <a:spcPts val="0"/>
              </a:spcAft>
              <a:defRPr sz="1350" b="0">
                <a:solidFill>
                  <a:srgbClr val="FFFFFF"/>
                </a:solidFill>
                <a:latin typeface="DejaVu Sans Mono"/>
              </a:defRPr>
            </a:pPr>
            <a:r>
              <a:t>POST /env/{env_id}/make_offer</a:t>
            </a:r>
          </a:p>
          <a:p>
            <a:pPr>
              <a:lnSpc>
                <a:spcPts val="1849"/>
              </a:lnSpc>
              <a:spcBef>
                <a:spcPts val="0"/>
              </a:spcBef>
              <a:spcAft>
                <a:spcPts val="0"/>
              </a:spcAft>
              <a:defRPr sz="1350" b="0">
                <a:solidFill>
                  <a:srgbClr val="FFFFFF"/>
                </a:solidFill>
                <a:latin typeface="DejaVu Sans Mono"/>
              </a:defRPr>
            </a:pPr>
            <a:r>
              <a:t>Idempotency-Key: purchase-0001</a:t>
            </a:r>
          </a:p>
          <a:p>
            <a:pPr>
              <a:lnSpc>
                <a:spcPts val="1849"/>
              </a:lnSpc>
              <a:spcBef>
                <a:spcPts val="0"/>
              </a:spcBef>
              <a:spcAft>
                <a:spcPts val="0"/>
              </a:spcAft>
              <a:defRPr sz="1350" b="0">
                <a:solidFill>
                  <a:srgbClr val="FFFFFF"/>
                </a:solidFill>
                <a:latin typeface="DejaVu Sans Mono"/>
              </a:defRPr>
            </a:pPr>
          </a:p>
          <a:p>
            <a:pPr>
              <a:lnSpc>
                <a:spcPts val="1849"/>
              </a:lnSpc>
              <a:spcBef>
                <a:spcPts val="0"/>
              </a:spcBef>
              <a:spcAft>
                <a:spcPts val="0"/>
              </a:spcAft>
              <a:defRPr sz="1350" b="0">
                <a:solidFill>
                  <a:srgbClr val="FFFFFF"/>
                </a:solidFill>
                <a:latin typeface="DejaVu Sans Mono"/>
              </a:defRPr>
            </a:pPr>
            <a:r>
              <a:t>{</a:t>
            </a:r>
          </a:p>
          <a:p>
            <a:pPr>
              <a:lnSpc>
                <a:spcPts val="1849"/>
              </a:lnSpc>
              <a:spcBef>
                <a:spcPts val="0"/>
              </a:spcBef>
              <a:spcAft>
                <a:spcPts val="0"/>
              </a:spcAft>
              <a:defRPr sz="1350" b="0">
                <a:solidFill>
                  <a:srgbClr val="FFFFFF"/>
                </a:solidFill>
                <a:latin typeface="DejaVu Sans Mono"/>
              </a:defRPr>
            </a:pPr>
            <a:r>
              <a:t>  "supplier_id": "s01",</a:t>
            </a:r>
          </a:p>
          <a:p>
            <a:pPr>
              <a:lnSpc>
                <a:spcPts val="1849"/>
              </a:lnSpc>
              <a:spcBef>
                <a:spcPts val="0"/>
              </a:spcBef>
              <a:spcAft>
                <a:spcPts val="0"/>
              </a:spcAft>
              <a:defRPr sz="1350" b="0">
                <a:solidFill>
                  <a:srgbClr val="FFFFFF"/>
                </a:solidFill>
                <a:latin typeface="DejaVu Sans Mono"/>
              </a:defRPr>
            </a:pPr>
            <a:r>
              <a:t>  "product_id": "p01",</a:t>
            </a:r>
          </a:p>
          <a:p>
            <a:pPr>
              <a:lnSpc>
                <a:spcPts val="1849"/>
              </a:lnSpc>
              <a:spcBef>
                <a:spcPts val="0"/>
              </a:spcBef>
              <a:spcAft>
                <a:spcPts val="0"/>
              </a:spcAft>
              <a:defRPr sz="1350" b="0">
                <a:solidFill>
                  <a:srgbClr val="FFFFFF"/>
                </a:solidFill>
                <a:latin typeface="DejaVu Sans Mono"/>
              </a:defRPr>
            </a:pPr>
            <a:r>
              <a:t>  "quantity": 10,</a:t>
            </a:r>
          </a:p>
          <a:p>
            <a:pPr>
              <a:lnSpc>
                <a:spcPts val="1849"/>
              </a:lnSpc>
              <a:spcBef>
                <a:spcPts val="0"/>
              </a:spcBef>
              <a:spcAft>
                <a:spcPts val="0"/>
              </a:spcAft>
              <a:defRPr sz="1350" b="0">
                <a:solidFill>
                  <a:srgbClr val="FFFFFF"/>
                </a:solidFill>
                <a:latin typeface="DejaVu Sans Mono"/>
              </a:defRPr>
            </a:pPr>
            <a:r>
              <a:t>  "unit_price_cents": 100</a:t>
            </a:r>
          </a:p>
          <a:p>
            <a:pPr>
              <a:lnSpc>
                <a:spcPts val="1849"/>
              </a:lnSpc>
              <a:spcBef>
                <a:spcPts val="0"/>
              </a:spcBef>
              <a:spcAft>
                <a:spcPts val="0"/>
              </a:spcAft>
              <a:defRPr sz="1350" b="0">
                <a:solidFill>
                  <a:srgbClr val="FFFFFF"/>
                </a:solidFill>
                <a:latin typeface="DejaVu Sans Mono"/>
              </a:defRPr>
            </a:pPr>
            <a:r>
              <a:t>}</a:t>
            </a:r>
          </a:p>
        </p:txBody>
      </p:sp>
      <p:sp>
        <p:nvSpPr>
          <p:cNvPr id="8" name="Rounded Rectangle 7"/>
          <p:cNvSpPr/>
          <p:nvPr/>
        </p:nvSpPr>
        <p:spPr>
          <a:xfrm>
            <a:off x="6223000" y="2082800"/>
            <a:ext cx="5308600" cy="3543300"/>
          </a:xfrm>
          <a:prstGeom prst="roundRect">
            <a:avLst>
              <a:gd name="adj" fmla="val 3584"/>
            </a:avLst>
          </a:prstGeom>
          <a:solidFill>
            <a:srgbClr val="17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1600" y="2311400"/>
            <a:ext cx="4826000" cy="241300"/>
          </a:xfrm>
          <a:prstGeom prst="rect">
            <a:avLst/>
          </a:prstGeom>
          <a:noFill/>
        </p:spPr>
        <p:txBody>
          <a:bodyPr wrap="none" lIns="0" rIns="0" tIns="0" bIns="0">
            <a:spAutoFit/>
          </a:bodyPr>
          <a:lstStyle/>
          <a:p>
            <a:pPr>
              <a:lnSpc>
                <a:spcPts val="1270"/>
              </a:lnSpc>
              <a:spcBef>
                <a:spcPts val="0"/>
              </a:spcBef>
              <a:spcAft>
                <a:spcPts val="0"/>
              </a:spcAft>
              <a:defRPr sz="1000" b="1">
                <a:solidFill>
                  <a:srgbClr val="CAEFA1"/>
                </a:solidFill>
                <a:latin typeface="DejaVu Sans"/>
              </a:defRPr>
            </a:pPr>
            <a:r>
              <a:t>RESPONSE EXCERPT</a:t>
            </a:r>
          </a:p>
        </p:txBody>
      </p:sp>
      <p:sp>
        <p:nvSpPr>
          <p:cNvPr id="10" name="TextBox 9"/>
          <p:cNvSpPr txBox="1"/>
          <p:nvPr/>
        </p:nvSpPr>
        <p:spPr>
          <a:xfrm>
            <a:off x="6451600" y="2730500"/>
            <a:ext cx="4851400" cy="2794000"/>
          </a:xfrm>
          <a:prstGeom prst="rect">
            <a:avLst/>
          </a:prstGeom>
          <a:noFill/>
        </p:spPr>
        <p:txBody>
          <a:bodyPr wrap="none" lIns="0" rIns="0" tIns="0" bIns="0">
            <a:spAutoFit/>
          </a:bodyPr>
          <a:lstStyle/>
          <a:p>
            <a:pPr>
              <a:lnSpc>
                <a:spcPts val="1849"/>
              </a:lnSpc>
              <a:spcBef>
                <a:spcPts val="0"/>
              </a:spcBef>
              <a:spcAft>
                <a:spcPts val="0"/>
              </a:spcAft>
              <a:defRPr sz="1350" b="0">
                <a:solidFill>
                  <a:srgbClr val="FFFFFF"/>
                </a:solidFill>
                <a:latin typeface="DejaVu Sans Mono"/>
              </a:defRPr>
            </a:pPr>
            <a:r>
              <a:t>{</a:t>
            </a:r>
          </a:p>
          <a:p>
            <a:pPr>
              <a:lnSpc>
                <a:spcPts val="1849"/>
              </a:lnSpc>
              <a:spcBef>
                <a:spcPts val="0"/>
              </a:spcBef>
              <a:spcAft>
                <a:spcPts val="0"/>
              </a:spcAft>
              <a:defRPr sz="1350" b="0">
                <a:solidFill>
                  <a:srgbClr val="FFFFFF"/>
                </a:solidFill>
                <a:latin typeface="DejaVu Sans Mono"/>
              </a:defRPr>
            </a:pPr>
            <a:r>
              <a:t>  "state": "running",</a:t>
            </a:r>
          </a:p>
          <a:p>
            <a:pPr>
              <a:lnSpc>
                <a:spcPts val="1849"/>
              </a:lnSpc>
              <a:spcBef>
                <a:spcPts val="0"/>
              </a:spcBef>
              <a:spcAft>
                <a:spcPts val="0"/>
              </a:spcAft>
              <a:defRPr sz="1350" b="0">
                <a:solidFill>
                  <a:srgbClr val="FFFFFF"/>
                </a:solidFill>
                <a:latin typeface="DejaVu Sans Mono"/>
              </a:defRPr>
            </a:pPr>
            <a:r>
              <a:t>  "elapsed_minutes": 75,</a:t>
            </a:r>
          </a:p>
          <a:p>
            <a:pPr>
              <a:lnSpc>
                <a:spcPts val="1849"/>
              </a:lnSpc>
              <a:spcBef>
                <a:spcPts val="0"/>
              </a:spcBef>
              <a:spcAft>
                <a:spcPts val="0"/>
              </a:spcAft>
              <a:defRPr sz="1350" b="0">
                <a:solidFill>
                  <a:srgbClr val="FFFFFF"/>
                </a:solidFill>
                <a:latin typeface="DejaVu Sans Mono"/>
              </a:defRPr>
            </a:pPr>
            <a:r>
              <a:t>  "result": {</a:t>
            </a:r>
          </a:p>
          <a:p>
            <a:pPr>
              <a:lnSpc>
                <a:spcPts val="1849"/>
              </a:lnSpc>
              <a:spcBef>
                <a:spcPts val="0"/>
              </a:spcBef>
              <a:spcAft>
                <a:spcPts val="0"/>
              </a:spcAft>
              <a:defRPr sz="1350" b="0">
                <a:solidFill>
                  <a:srgbClr val="FFFFFF"/>
                </a:solidFill>
                <a:latin typeface="DejaVu Sans Mono"/>
              </a:defRPr>
            </a:pPr>
            <a:r>
              <a:t>    "outcome": "counteroffer",</a:t>
            </a:r>
          </a:p>
          <a:p>
            <a:pPr>
              <a:lnSpc>
                <a:spcPts val="1849"/>
              </a:lnSpc>
              <a:spcBef>
                <a:spcPts val="0"/>
              </a:spcBef>
              <a:spcAft>
                <a:spcPts val="0"/>
              </a:spcAft>
              <a:defRPr sz="1350" b="0">
                <a:solidFill>
                  <a:srgbClr val="FFFFFF"/>
                </a:solidFill>
                <a:latin typeface="DejaVu Sans Mono"/>
              </a:defRPr>
            </a:pPr>
            <a:r>
              <a:t>    "unit_price_cents": 110</a:t>
            </a:r>
          </a:p>
          <a:p>
            <a:pPr>
              <a:lnSpc>
                <a:spcPts val="1849"/>
              </a:lnSpc>
              <a:spcBef>
                <a:spcPts val="0"/>
              </a:spcBef>
              <a:spcAft>
                <a:spcPts val="0"/>
              </a:spcAft>
              <a:defRPr sz="1350" b="0">
                <a:solidFill>
                  <a:srgbClr val="FFFFFF"/>
                </a:solidFill>
                <a:latin typeface="DejaVu Sans Mono"/>
              </a:defRPr>
            </a:pPr>
            <a:r>
              <a:t>  }</a:t>
            </a:r>
          </a:p>
          <a:p>
            <a:pPr>
              <a:lnSpc>
                <a:spcPts val="1849"/>
              </a:lnSpc>
              <a:spcBef>
                <a:spcPts val="0"/>
              </a:spcBef>
              <a:spcAft>
                <a:spcPts val="0"/>
              </a:spcAft>
              <a:defRPr sz="1350" b="0">
                <a:solidFill>
                  <a:srgbClr val="FFFFFF"/>
                </a:solidFill>
                <a:latin typeface="DejaVu Sans Mono"/>
              </a:defRPr>
            </a:pPr>
            <a:r>
              <a:t>}</a:t>
            </a:r>
          </a:p>
        </p:txBody>
      </p:sp>
      <p:sp>
        <p:nvSpPr>
          <p:cNvPr id="11" name="Rounded Rectangle 10"/>
          <p:cNvSpPr/>
          <p:nvPr/>
        </p:nvSpPr>
        <p:spPr>
          <a:xfrm>
            <a:off x="660400" y="5842000"/>
            <a:ext cx="10871200" cy="546100"/>
          </a:xfrm>
          <a:prstGeom prst="roundRect">
            <a:avLst>
              <a:gd name="adj" fmla="val 15000"/>
            </a:avLst>
          </a:prstGeom>
          <a:solidFill>
            <a:srgbClr val="E8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5994400"/>
            <a:ext cx="10502900" cy="355600"/>
          </a:xfrm>
          <a:prstGeom prst="rect">
            <a:avLst/>
          </a:prstGeom>
          <a:noFill/>
        </p:spPr>
        <p:txBody>
          <a:bodyPr wrap="none" lIns="0" rIns="0" tIns="0" bIns="0">
            <a:spAutoFit/>
          </a:bodyPr>
          <a:lstStyle/>
          <a:p>
            <a:pPr>
              <a:lnSpc>
                <a:spcPts val="1380"/>
              </a:lnSpc>
              <a:spcBef>
                <a:spcPts val="0"/>
              </a:spcBef>
              <a:spcAft>
                <a:spcPts val="0"/>
              </a:spcAft>
              <a:defRPr sz="1200" b="1">
                <a:solidFill>
                  <a:srgbClr val="173A42"/>
                </a:solidFill>
                <a:latin typeface="DejaVu Sans"/>
              </a:defRPr>
            </a:pPr>
            <a:r>
              <a:t>Illustrative response excerpt. A counteroffer moves no cash or goods.</a:t>
            </a:r>
          </a:p>
        </p:txBody>
      </p:sp>
      <p:cxnSp>
        <p:nvCxnSpPr>
          <p:cNvPr id="13" name="Connector 12"/>
          <p:cNvCxnSpPr/>
          <p:nvPr/>
        </p:nvCxnSpPr>
        <p:spPr>
          <a:xfrm>
            <a:off x="660400" y="6565900"/>
            <a:ext cx="10871200" cy="0"/>
          </a:xfrm>
          <a:prstGeom prst="line">
            <a:avLst/>
          </a:prstGeom>
          <a:ln w="8255">
            <a:solidFill>
              <a:srgbClr val="DCE6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60400" y="6654800"/>
            <a:ext cx="8509000" cy="127000"/>
          </a:xfrm>
          <a:prstGeom prst="rect">
            <a:avLst/>
          </a:prstGeom>
          <a:noFill/>
        </p:spPr>
        <p:txBody>
          <a:bodyPr wrap="none" lIns="0" rIns="0" tIns="0" bIns="0">
            <a:spAutoFit/>
          </a:bodyPr>
          <a:lstStyle/>
          <a:p>
            <a:pPr>
              <a:lnSpc>
                <a:spcPts val="952"/>
              </a:lnSpc>
              <a:spcBef>
                <a:spcPts val="0"/>
              </a:spcBef>
              <a:spcAft>
                <a:spcPts val="0"/>
              </a:spcAft>
              <a:defRPr sz="750" b="0">
                <a:solidFill>
                  <a:srgbClr val="557079"/>
                </a:solidFill>
                <a:latin typeface="DejaVu Sans"/>
              </a:defRPr>
            </a:pPr>
            <a:r>
              <a:t>VENDING BENCH  /  PARTICIPANT BRIEFING</a:t>
            </a:r>
          </a:p>
        </p:txBody>
      </p:sp>
      <p:sp>
        <p:nvSpPr>
          <p:cNvPr id="15" name="TextBox 14"/>
          <p:cNvSpPr txBox="1"/>
          <p:nvPr/>
        </p:nvSpPr>
        <p:spPr>
          <a:xfrm>
            <a:off x="11188700" y="6642100"/>
            <a:ext cx="342900" cy="152400"/>
          </a:xfrm>
          <a:prstGeom prst="rect">
            <a:avLst/>
          </a:prstGeom>
          <a:noFill/>
        </p:spPr>
        <p:txBody>
          <a:bodyPr wrap="none" lIns="0" rIns="0" tIns="0" bIns="0">
            <a:spAutoFit/>
          </a:bodyPr>
          <a:lstStyle/>
          <a:p>
            <a:pPr>
              <a:lnSpc>
                <a:spcPts val="1143"/>
              </a:lnSpc>
              <a:spcBef>
                <a:spcPts val="0"/>
              </a:spcBef>
              <a:spcAft>
                <a:spcPts val="0"/>
              </a:spcAft>
              <a:defRPr sz="900" b="1">
                <a:solidFill>
                  <a:srgbClr val="008C7B"/>
                </a:solidFill>
                <a:latin typeface="DejaVu Sans"/>
              </a:defRPr>
            </a:pPr>
            <a: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Vending Bench — Harness Design Challenge</dc:title>
  <dc:subject>Participant briefing for a pre-generated test environment</dc:subject>
  <dc:creator>Vending Bench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