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Welcome participants. The deliverable is an agent harness: the software that turns model decisions into reliable business actions. This briefing is based on the current implementation. Event-specific submission and model policies are still to be announced. Suggested presentation time: about 20 minutes plus questions; reference slides are optional.</a:t>
            </a:r>
          </a:p>
          <a:p/>
          <a:p>
            <a:r>
              <a:t>Implementation references: README.md, plan.md sections 1, 9</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harness is more than a prompt. It includes orchestration, memory, provider integration, and error handling. Participants should not change the test definition or the simulation to improve a score. Model eligibility, compute allowances, and the submission interface will be announced by the organizers; do not imply they have already been finalized.</a:t>
            </a:r>
          </a:p>
          <a:p/>
          <a:p>
            <a:r>
              <a:t>Implementation references: src/harness/runner.py, src/vending/environments.py</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pre-generated environment is an initial definition, not a running checkpoint. Each episode gets a separate environment ID and starts empty. Identical definitions and seeds reproduce the market; action choices change sales opportunities. Identical action sequences reproduce the business simulation until real-time expiry intervenes. The number of official repeats, compute conditions, and tie-breaks remain organizer decisions. Freeze these before comparing submissions.</a:t>
            </a:r>
          </a:p>
          <a:p/>
          <a:p>
            <a:r>
              <a:t>Implementation references: src/vending/environments.py, src/vending/registry.py, docs/environments.md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Observations expose the complete public catalog and initial listed quotes. Participants can discover costs by negotiating and demand by observing sales. Do not distribute the private test JSON, private service artifacts, or evaluator configuration to participant harnesses. The local MVP does not enforce this boundary through authentication or a sandbox; organizers must enforce it through deployment and file access. This operational point is expanded in the organizer checklist, not presented as an already implemented security guarantee.</a:t>
            </a:r>
          </a:p>
          <a:p/>
          <a:p>
            <a:r>
              <a:t>Implementation references: src/vending/engine.py: catalog and observe, plan.md sections 3, 9</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All numeric settings here are current defaults, not guaranteed hidden-test settings. Catalog size, fees, machine shape, capacity, and action costs are configurable. The engine requires a positive selling price before stocking. There is no separate logistics pipeline. Purchases and inventory transfers are all-or-nothing.</a:t>
            </a:r>
          </a:p>
          <a:p/>
          <a:p>
            <a:r>
              <a:t>Implementation references: src/vending/config.py, src/vending/engine.py</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default demand tick is five minutes. An action applies its immediate effects first, then advances time and resolves sales. Status/result reads do not advance business time. The separate harness watchdog is slightly longer than the environment runtime to allow cleanup. Do not confuse that grace period with extra business time. The environment may terminate earlier after repeated fee failures.</a:t>
            </a:r>
          </a:p>
          <a:p/>
          <a:p>
            <a:r>
              <a:t>Implementation references: src/vending/engine.py: execute and advance, src/vending/registry.py, src/harness/runner.py</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Accepted offers debit spendable cash and add a storage lot immediately. Counteroffers do neither. At midnight, available spendable cash pays existing fee arrears before the current fee; partial payment creates debt. A current fee not fully paid increments the failure streak. A fully paid current fee resets it. Uncollected machine cash cannot pay the fee automatically. Multiple slots raise availability but do not multiply demand.</a:t>
            </a:r>
          </a:p>
          <a:p/>
          <a:p>
            <a:r>
              <a:t>Implementation references: src/vending/engine.py: apply and advance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Suppliers follow deterministic policies. Patient suppliers counter out-of-range offers, impatient suppliers can return no_reply, and pushy-patient suppliers may add an upsell. This deck does not disclose particular supplier types, pair minimums, or category assignments in the test. Supplier stock is unlimited, but the quantity cap and spendable cash limit purchases. A no_reply outcome is not a network timeout.</a:t>
            </a:r>
          </a:p>
          <a:p/>
          <a:p>
            <a:r>
              <a:t>Implementation references: src/vending/suppliers.py, src/vending/engine.py: make_offer</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Demand is Poisson with a constant-elasticity price adjustment and a repeating day multiplier. The parameters are private. The diagram is qualitative, not a plot of hidden test demand. Product demand is independent with no substitution. Selling-price bounds are returned in the public catalog; the default range is 0.25 to 5 times reference, rounded to integer cents. Reference price is a comparison anchor, not a guarantee of the most profitable selling price.</a:t>
            </a:r>
          </a:p>
          <a:p/>
          <a:p>
            <a:r>
              <a:t>Implementation references: src/vending/demand.py, src/vending/engine.py: bounds and advance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All unsold units are valued at their actual acquisition cost, in storage and in machine slots. Purchasing exchanges equal cash and inventory value and does not create immediate profit. Raising retail prices does not revalue stock. Cash collection and inventory transfers preserve score. Selling recognizes revenue minus acquisition cost; completed-day fees reduce net assets. Fee debt is subtracted so failing to pay does not improve the score. The example is invented arithmetic, not a test result.</a:t>
            </a:r>
          </a:p>
          <a:p/>
          <a:p>
            <a:r>
              <a:t>Implementation references: src/vending/scoring.py, src/vending/models.py: FIFO transfer, src/vending/engine.py</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costs are configurable; read observe.rules.durations. Public reads implemented as actions cost time, unlike HTTP status/result reads. Avoid repeatedly observing everything when a smaller state update is sufficient. Unknown actions and schema errors do not advance simulated time. End-day called at midnight advances a full day. All effects and incidental sales are returned in the common action envelope.</a:t>
            </a:r>
          </a:p>
          <a:p/>
          <a:p>
            <a:r>
              <a:t>Implementation references: src/vending/config.py: DURATIONS, src/vending/models.py: ACTIONS, src/vending/engine.py</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starter provides an HTTP client, three scripted policies, bounded deterministic context summaries, isolated Markdown memory, a runner, and an optional model adapter. Teams can redesign the harness rather than inherit every starter choice. Keep at most one environment action in flight. If a provider returns multiple tool calls, process them serially and stop on termination. A local memory write uses model tokens but no simulated minutes. Remember the model is a policy component inside a controlled execution loop.</a:t>
            </a:r>
          </a:p>
          <a:p/>
          <a:p>
            <a:r>
              <a:t>Implementation references: src/harness/runner.py, src/harness/context.py, src/harness/agents.py</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starting skill is the authoritative participant entry point. The launcher loads only the vending skill and shell tools, while the runtime graph guard blocks illegal ordering with explicit reasons. This slide gives the at-a-glance control flow; the skill documents the public contract, and the extension enforces the critical transitions. Keep the diagram aligned with the current launcher and guard files if either changes.</a:t>
            </a:r>
          </a:p>
          <a:p/>
          <a:p>
            <a:r>
              <a:t>Implementation references: scripts/run_pi_agent.sh, .pi/skills/vending-machine/SKILL.md, .pi/extensions/vending-guard.js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 identical action and payload with the same idempotency key replays while the environment is running, without a second purchase or time advance. A changed payload conflicts. After termination, known actions are rejected even for a replay key. Unknown actions remain 404. For 409, distinguish idempotency conflicts from unavailable lifecycle state by inspecting the error code and status. The current client retries transport errors at most twice; creation has no idempotency contract and should not be blindly retried. Timeout/expiry can occur during inference, so do not assume a tool call remains eligible after a long model response.</a:t>
            </a:r>
          </a:p>
          <a:p/>
          <a:p>
            <a:r>
              <a:t>Implementation references: src/harness/client.py, src/harness/watchdog.py, src/vending/registry.py</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starter uses a conservative UTF-8 byte-based input reservation plus overhead. It can stop early instead of knowingly exceeding the budget. The 1,000 ceiling counts policy calls, not necessarily environment actions; the initialization observe is separate. The 100,000 target and two-hour duration have not been calibrated through a paid full-duration model run. Do not present them as a measured performance guarantee or a finalized event rule. Full-run score and incomplete/truncated diagnostics should remain distinguishable.</a:t>
            </a:r>
          </a:p>
          <a:p/>
          <a:p>
            <a:r>
              <a:t>Implementation references: src/harness/runner.py: RunConfig and run, docs/calibration.md</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 action that crosses midnight retains its model cost on the day inference began. Invalid/empty responses, local memory writes, and failures still count toward token usage. A call which is never executed after a stop is logged as a no-action record so totals reconcile. The new action fields are start_sim_time and token_usage, with model_call and attribution. Usage records carry simulated decision time; summary.usage.tokens_by_day stores daily totals. Input token usage includes provider-reported cached input where available.</a:t>
            </a:r>
          </a:p>
          <a:p/>
          <a:p>
            <a:r>
              <a:t>Implementation references: src/harness/usage.py, src/harness/runner.py, src/viewer/tokens.py</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 these commands from the repository root with a Python environment activated. Use python3 -m venv .venv first if appropriate. The test extra contains pytest, not the optional model SDK. Idle, listed, and negotiating policies need no model credentials. Teams implementing their own harness can reuse typed action schemas and the HTTP client. Private test definitions should remain with the evaluator; the saved-environment convenience command reads local definition files and is a development workflow, not an isolated grading boundary.</a:t>
            </a:r>
          </a:p>
          <a:p/>
          <a:p>
            <a:r>
              <a:t>Implementation references: README.md, scripts/run_environment.sh, scripts/view_runs.sh, pyproject.toml</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the dashboard to find one concrete failure mode: redundant observations, unfunded purchases, too little fee liquidity, slow decisions, or context growing faster than useful progress. The machine display is the last observed snapshot, not a reconstructed final inventory. Unfinished means no final summary was written and does not prove the process is still alive. Truncated scores can come from trusted pre-deletion snapshots and remain explicitly incomplete. A human may inspect practice configuration, but the test evaluator view is not an extra tool for participant policies.</a:t>
            </a:r>
          </a:p>
          <a:p/>
          <a:p>
            <a:r>
              <a:t>Implementation references: src/viewer/api.py, src/viewer/store.py, README.md</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a recommended readiness checklist, not a finalized submission contract. Organizers must announce the invocation protocol, lifecycle ownership, model allowance, runtime/token enforcement, test repeats, deadline, and treatment of truncated or infrastructure-failed runs. The supplied runner writes config.json, actions.jsonl, usage.jsonl, memory.md, and summary.json; participant harnesses should preserve equivalent auditability under the final contract. Close the core briefing by inviting questions about the environment interface and the harness boundary.</a:t>
            </a:r>
          </a:p>
          <a:p/>
          <a:p>
            <a:r>
              <a:t>Implementation references: plan.md section 9, src/harness/runner.py, README.md</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Known actions return 410 on ended environments and 409 on unavailable ones. Unknown IDs/actions are 404. Invalid JSON is 400; schema/identifier errors are 422. Domain refusals are ordinary 200 results. Status contains only state; it does not contain a score. Retrieve result before deletion. If the harness stops while running, a trusted service-side deletion snapshot supports truncated accounting; there is no post-delete result endpoint. Exactly who owns creation and deletion during the event must be specified in the organizer's test handoff.</a:t>
            </a:r>
          </a:p>
          <a:p/>
          <a:p>
            <a:r>
              <a:t>Implementation references: src/vending/api.py, src/vending/registry.py</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Refer to src/vending/models.py for the shared typed schemas. Quantities and offer prices must be positive integers, and the configured quantity cap applies. Selling prices must respect the product's public bounds. Boolean values are not valid integer amounts. A 200 response includes action_id, state, sim_time, elapsed_minutes, result, events, metrics, and termination_reason, with score on terminal accepted actions. There is no arbitrary Python method dispatch or hidden evaluator action available to the policy.</a:t>
            </a:r>
          </a:p>
          <a:p/>
          <a:p>
            <a:r>
              <a:t>Implementation references: src/vending/models.py, src/vending/engine.py: validate</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an invented interaction, not a revealed test quote. The response omits envelope fields and counteroffer terms for readability. To accept the counteroffer, submit a new make_offer action with a new idempotency key because its payload differs. Only retries of the identical original request reuse purchase-0001. Log the actual full response and preserve its incidental sales events.</a:t>
            </a:r>
          </a:p>
          <a:p/>
          <a:p>
            <a:r>
              <a:t>Implementation references: src/vending/models.py, src/vending/engine.py, src/harness/client.py</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102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60400" y="355600"/>
            <a:ext cx="10287000" cy="228600"/>
          </a:xfrm>
          <a:prstGeom prst="rect">
            <a:avLst/>
          </a:prstGeom>
          <a:noFill/>
        </p:spPr>
        <p:txBody>
          <a:bodyPr wrap="none" lIns="0" rIns="0" tIns="0" bIns="0">
            <a:spAutoFit/>
          </a:bodyPr>
          <a:lstStyle/>
          <a:p>
            <a:pPr>
              <a:lnSpc>
                <a:spcPts val="1270"/>
              </a:lnSpc>
              <a:spcBef>
                <a:spcPts val="0"/>
              </a:spcBef>
              <a:spcAft>
                <a:spcPts val="0"/>
              </a:spcAft>
              <a:defRPr sz="1000" b="1">
                <a:solidFill>
                  <a:srgbClr val="CAEFA1"/>
                </a:solidFill>
                <a:latin typeface="DejaVu Sans"/>
              </a:defRPr>
            </a:pPr>
            <a:r>
              <a:t>PARTICIPANT BRIEFING</a:t>
            </a:r>
          </a:p>
        </p:txBody>
      </p:sp>
      <p:sp>
        <p:nvSpPr>
          <p:cNvPr id="4" name="Rectangle 3"/>
          <p:cNvSpPr/>
          <p:nvPr/>
        </p:nvSpPr>
        <p:spPr>
          <a:xfrm>
            <a:off x="660400" y="965200"/>
            <a:ext cx="762000" cy="63500"/>
          </a:xfrm>
          <a:prstGeom prst="rect">
            <a:avLst/>
          </a:prstGeom>
          <a:solidFill>
            <a:srgbClr val="CAEFA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60400" y="1485900"/>
            <a:ext cx="7747000" cy="2184400"/>
          </a:xfrm>
          <a:prstGeom prst="rect">
            <a:avLst/>
          </a:prstGeom>
          <a:noFill/>
        </p:spPr>
        <p:txBody>
          <a:bodyPr wrap="none" lIns="0" rIns="0" tIns="0" bIns="0">
            <a:spAutoFit/>
          </a:bodyPr>
          <a:lstStyle/>
          <a:p>
            <a:pPr>
              <a:lnSpc>
                <a:spcPts val="5473"/>
              </a:lnSpc>
              <a:spcBef>
                <a:spcPts val="0"/>
              </a:spcBef>
              <a:spcAft>
                <a:spcPts val="0"/>
              </a:spcAft>
              <a:defRPr sz="4600" b="1">
                <a:solidFill>
                  <a:srgbClr val="FFFFFF"/>
                </a:solidFill>
                <a:latin typeface="DejaVu Sans"/>
              </a:defRPr>
            </a:pPr>
            <a:r>
              <a:t>Build the harness.</a:t>
            </a:r>
          </a:p>
          <a:p>
            <a:pPr>
              <a:lnSpc>
                <a:spcPts val="5473"/>
              </a:lnSpc>
              <a:spcBef>
                <a:spcPts val="0"/>
              </a:spcBef>
              <a:spcAft>
                <a:spcPts val="0"/>
              </a:spcAft>
              <a:defRPr sz="4600" b="1">
                <a:solidFill>
                  <a:srgbClr val="FFFFFF"/>
                </a:solidFill>
                <a:latin typeface="DejaVu Sans"/>
              </a:defRPr>
            </a:pPr>
            <a:r>
              <a:t>Run the business.</a:t>
            </a:r>
          </a:p>
        </p:txBody>
      </p:sp>
      <p:sp>
        <p:nvSpPr>
          <p:cNvPr id="6" name="TextBox 5"/>
          <p:cNvSpPr txBox="1"/>
          <p:nvPr/>
        </p:nvSpPr>
        <p:spPr>
          <a:xfrm>
            <a:off x="698500" y="3822700"/>
            <a:ext cx="6731000" cy="546100"/>
          </a:xfrm>
          <a:prstGeom prst="rect">
            <a:avLst/>
          </a:prstGeom>
          <a:noFill/>
        </p:spPr>
        <p:txBody>
          <a:bodyPr wrap="none" lIns="0" rIns="0" tIns="0" bIns="0">
            <a:spAutoFit/>
          </a:bodyPr>
          <a:lstStyle/>
          <a:p>
            <a:pPr>
              <a:lnSpc>
                <a:spcPts val="2413"/>
              </a:lnSpc>
              <a:spcBef>
                <a:spcPts val="0"/>
              </a:spcBef>
              <a:spcAft>
                <a:spcPts val="0"/>
              </a:spcAft>
              <a:defRPr sz="1900" b="0">
                <a:solidFill>
                  <a:srgbClr val="CAEFA1"/>
                </a:solidFill>
                <a:latin typeface="DejaVu Sans"/>
              </a:defRPr>
            </a:pPr>
            <a:r>
              <a:t>Vending Bench · Harness Design Challenge</a:t>
            </a:r>
          </a:p>
        </p:txBody>
      </p:sp>
      <p:sp>
        <p:nvSpPr>
          <p:cNvPr id="7" name="TextBox 6"/>
          <p:cNvSpPr txBox="1"/>
          <p:nvPr/>
        </p:nvSpPr>
        <p:spPr>
          <a:xfrm>
            <a:off x="698500" y="4610100"/>
            <a:ext cx="6477000" cy="977900"/>
          </a:xfrm>
          <a:prstGeom prst="rect">
            <a:avLst/>
          </a:prstGeom>
          <a:noFill/>
        </p:spPr>
        <p:txBody>
          <a:bodyPr wrap="none" lIns="0" rIns="0" tIns="0" bIns="0">
            <a:spAutoFit/>
          </a:bodyPr>
          <a:lstStyle/>
          <a:p>
            <a:pPr>
              <a:lnSpc>
                <a:spcPts val="2940"/>
              </a:lnSpc>
              <a:spcBef>
                <a:spcPts val="0"/>
              </a:spcBef>
              <a:spcAft>
                <a:spcPts val="0"/>
              </a:spcAft>
              <a:defRPr sz="2100" b="0">
                <a:solidFill>
                  <a:srgbClr val="FFFFFF"/>
                </a:solidFill>
                <a:latin typeface="DejaVu Sans"/>
              </a:defRPr>
            </a:pPr>
            <a:r>
              <a:t>Your system will operate a vending machine in</a:t>
            </a:r>
          </a:p>
          <a:p>
            <a:pPr>
              <a:lnSpc>
                <a:spcPts val="2940"/>
              </a:lnSpc>
              <a:spcBef>
                <a:spcPts val="0"/>
              </a:spcBef>
              <a:spcAft>
                <a:spcPts val="0"/>
              </a:spcAft>
              <a:defRPr sz="2100" b="0">
                <a:solidFill>
                  <a:srgbClr val="FFFFFF"/>
                </a:solidFill>
                <a:latin typeface="DejaVu Sans"/>
              </a:defRPr>
            </a:pPr>
            <a:r>
              <a:t>an organizer-selected test environment.</a:t>
            </a:r>
          </a:p>
        </p:txBody>
      </p:sp>
      <p:sp>
        <p:nvSpPr>
          <p:cNvPr id="8" name="Rounded Rectangle 7"/>
          <p:cNvSpPr/>
          <p:nvPr/>
        </p:nvSpPr>
        <p:spPr>
          <a:xfrm>
            <a:off x="8559800" y="1117600"/>
            <a:ext cx="2768600" cy="4381500"/>
          </a:xfrm>
          <a:prstGeom prst="roundRect">
            <a:avLst>
              <a:gd name="adj" fmla="val 8256"/>
            </a:avLst>
          </a:prstGeom>
          <a:solidFill>
            <a:srgbClr val="193F45"/>
          </a:solidFill>
          <a:ln w="8890">
            <a:solidFill>
              <a:srgbClr val="35535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8801100" y="1435100"/>
            <a:ext cx="2286000" cy="419100"/>
          </a:xfrm>
          <a:prstGeom prst="roundRect">
            <a:avLst>
              <a:gd name="adj" fmla="val 15000"/>
            </a:avLst>
          </a:prstGeom>
          <a:solidFill>
            <a:srgbClr val="CAEFA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004300" y="1562100"/>
            <a:ext cx="2032000" cy="215900"/>
          </a:xfrm>
          <a:prstGeom prst="rect">
            <a:avLst/>
          </a:prstGeom>
          <a:noFill/>
        </p:spPr>
        <p:txBody>
          <a:bodyPr wrap="none" lIns="0" rIns="0" tIns="0" bIns="0">
            <a:spAutoFit/>
          </a:bodyPr>
          <a:lstStyle/>
          <a:p>
            <a:pPr>
              <a:lnSpc>
                <a:spcPts val="1524"/>
              </a:lnSpc>
              <a:spcBef>
                <a:spcPts val="0"/>
              </a:spcBef>
              <a:spcAft>
                <a:spcPts val="0"/>
              </a:spcAft>
              <a:defRPr sz="1200" b="1">
                <a:solidFill>
                  <a:srgbClr val="173A42"/>
                </a:solidFill>
                <a:latin typeface="DejaVu Sans"/>
              </a:defRPr>
            </a:pPr>
            <a:r>
              <a:t>YOUR AGENT</a:t>
            </a:r>
          </a:p>
        </p:txBody>
      </p:sp>
      <p:sp>
        <p:nvSpPr>
          <p:cNvPr id="11" name="Rounded Rectangle 10"/>
          <p:cNvSpPr/>
          <p:nvPr/>
        </p:nvSpPr>
        <p:spPr>
          <a:xfrm>
            <a:off x="8813800" y="2133600"/>
            <a:ext cx="609600" cy="457200"/>
          </a:xfrm>
          <a:prstGeom prst="roundRect">
            <a:avLst>
              <a:gd name="adj" fmla="val 13888"/>
            </a:avLst>
          </a:prstGeom>
          <a:solidFill>
            <a:srgbClr val="294E5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9029700" y="2235200"/>
            <a:ext cx="190500" cy="279400"/>
          </a:xfrm>
          <a:prstGeom prst="roundRect">
            <a:avLst>
              <a:gd name="adj" fmla="val 15000"/>
            </a:avLst>
          </a:prstGeom>
          <a:solidFill>
            <a:srgbClr val="CAEFA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9575800" y="2133600"/>
            <a:ext cx="609600" cy="457200"/>
          </a:xfrm>
          <a:prstGeom prst="roundRect">
            <a:avLst>
              <a:gd name="adj" fmla="val 13888"/>
            </a:avLst>
          </a:prstGeom>
          <a:solidFill>
            <a:srgbClr val="294E5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9791700" y="2235200"/>
            <a:ext cx="190500" cy="279400"/>
          </a:xfrm>
          <a:prstGeom prst="roundRect">
            <a:avLst>
              <a:gd name="adj" fmla="val 15000"/>
            </a:avLst>
          </a:prstGeom>
          <a:solidFill>
            <a:srgbClr val="71A9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10337800" y="2133600"/>
            <a:ext cx="609600" cy="457200"/>
          </a:xfrm>
          <a:prstGeom prst="roundRect">
            <a:avLst>
              <a:gd name="adj" fmla="val 13888"/>
            </a:avLst>
          </a:prstGeom>
          <a:solidFill>
            <a:srgbClr val="294E5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10553700" y="2235200"/>
            <a:ext cx="190500" cy="279400"/>
          </a:xfrm>
          <a:prstGeom prst="roundRect">
            <a:avLst>
              <a:gd name="adj" fmla="val 15000"/>
            </a:avLst>
          </a:prstGeom>
          <a:solidFill>
            <a:srgbClr val="71A9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8813800" y="2730500"/>
            <a:ext cx="609600" cy="457200"/>
          </a:xfrm>
          <a:prstGeom prst="roundRect">
            <a:avLst>
              <a:gd name="adj" fmla="val 13888"/>
            </a:avLst>
          </a:prstGeom>
          <a:solidFill>
            <a:srgbClr val="294E5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9029700" y="2832100"/>
            <a:ext cx="190500" cy="279400"/>
          </a:xfrm>
          <a:prstGeom prst="roundRect">
            <a:avLst>
              <a:gd name="adj" fmla="val 15000"/>
            </a:avLst>
          </a:prstGeom>
          <a:solidFill>
            <a:srgbClr val="71A9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9575800" y="2730500"/>
            <a:ext cx="609600" cy="457200"/>
          </a:xfrm>
          <a:prstGeom prst="roundRect">
            <a:avLst>
              <a:gd name="adj" fmla="val 13888"/>
            </a:avLst>
          </a:prstGeom>
          <a:solidFill>
            <a:srgbClr val="294E5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9791700" y="2832100"/>
            <a:ext cx="190500" cy="279400"/>
          </a:xfrm>
          <a:prstGeom prst="roundRect">
            <a:avLst>
              <a:gd name="adj" fmla="val 15000"/>
            </a:avLst>
          </a:prstGeom>
          <a:solidFill>
            <a:srgbClr val="71A9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10337800" y="2730500"/>
            <a:ext cx="609600" cy="457200"/>
          </a:xfrm>
          <a:prstGeom prst="roundRect">
            <a:avLst>
              <a:gd name="adj" fmla="val 13888"/>
            </a:avLst>
          </a:prstGeom>
          <a:solidFill>
            <a:srgbClr val="294E5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10553700" y="2832100"/>
            <a:ext cx="190500" cy="279400"/>
          </a:xfrm>
          <a:prstGeom prst="roundRect">
            <a:avLst>
              <a:gd name="adj" fmla="val 15000"/>
            </a:avLst>
          </a:prstGeom>
          <a:solidFill>
            <a:srgbClr val="CAEFA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8813800" y="3327400"/>
            <a:ext cx="609600" cy="457200"/>
          </a:xfrm>
          <a:prstGeom prst="roundRect">
            <a:avLst>
              <a:gd name="adj" fmla="val 13888"/>
            </a:avLst>
          </a:prstGeom>
          <a:solidFill>
            <a:srgbClr val="294E5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9029700" y="3429000"/>
            <a:ext cx="190500" cy="279400"/>
          </a:xfrm>
          <a:prstGeom prst="roundRect">
            <a:avLst>
              <a:gd name="adj" fmla="val 15000"/>
            </a:avLst>
          </a:prstGeom>
          <a:solidFill>
            <a:srgbClr val="71A9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9575800" y="3327400"/>
            <a:ext cx="609600" cy="457200"/>
          </a:xfrm>
          <a:prstGeom prst="roundRect">
            <a:avLst>
              <a:gd name="adj" fmla="val 13888"/>
            </a:avLst>
          </a:prstGeom>
          <a:solidFill>
            <a:srgbClr val="294E5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9791700" y="3429000"/>
            <a:ext cx="190500" cy="279400"/>
          </a:xfrm>
          <a:prstGeom prst="roundRect">
            <a:avLst>
              <a:gd name="adj" fmla="val 15000"/>
            </a:avLst>
          </a:prstGeom>
          <a:solidFill>
            <a:srgbClr val="CAEFA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10337800" y="3327400"/>
            <a:ext cx="609600" cy="457200"/>
          </a:xfrm>
          <a:prstGeom prst="roundRect">
            <a:avLst>
              <a:gd name="adj" fmla="val 13888"/>
            </a:avLst>
          </a:prstGeom>
          <a:solidFill>
            <a:srgbClr val="294E5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ounded Rectangle 27"/>
          <p:cNvSpPr/>
          <p:nvPr/>
        </p:nvSpPr>
        <p:spPr>
          <a:xfrm>
            <a:off x="10553700" y="3429000"/>
            <a:ext cx="190500" cy="279400"/>
          </a:xfrm>
          <a:prstGeom prst="roundRect">
            <a:avLst>
              <a:gd name="adj" fmla="val 15000"/>
            </a:avLst>
          </a:prstGeom>
          <a:solidFill>
            <a:srgbClr val="71A9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8813800" y="3924300"/>
            <a:ext cx="609600" cy="457200"/>
          </a:xfrm>
          <a:prstGeom prst="roundRect">
            <a:avLst>
              <a:gd name="adj" fmla="val 13888"/>
            </a:avLst>
          </a:prstGeom>
          <a:solidFill>
            <a:srgbClr val="294E5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ounded Rectangle 29"/>
          <p:cNvSpPr/>
          <p:nvPr/>
        </p:nvSpPr>
        <p:spPr>
          <a:xfrm>
            <a:off x="9029700" y="4025900"/>
            <a:ext cx="190500" cy="279400"/>
          </a:xfrm>
          <a:prstGeom prst="roundRect">
            <a:avLst>
              <a:gd name="adj" fmla="val 15000"/>
            </a:avLst>
          </a:prstGeom>
          <a:solidFill>
            <a:srgbClr val="CAEFA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9575800" y="3924300"/>
            <a:ext cx="609600" cy="457200"/>
          </a:xfrm>
          <a:prstGeom prst="roundRect">
            <a:avLst>
              <a:gd name="adj" fmla="val 13888"/>
            </a:avLst>
          </a:prstGeom>
          <a:solidFill>
            <a:srgbClr val="294E5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ounded Rectangle 31"/>
          <p:cNvSpPr/>
          <p:nvPr/>
        </p:nvSpPr>
        <p:spPr>
          <a:xfrm>
            <a:off x="9791700" y="4025900"/>
            <a:ext cx="190500" cy="279400"/>
          </a:xfrm>
          <a:prstGeom prst="roundRect">
            <a:avLst>
              <a:gd name="adj" fmla="val 15000"/>
            </a:avLst>
          </a:prstGeom>
          <a:solidFill>
            <a:srgbClr val="71A9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ounded Rectangle 32"/>
          <p:cNvSpPr/>
          <p:nvPr/>
        </p:nvSpPr>
        <p:spPr>
          <a:xfrm>
            <a:off x="10337800" y="3924300"/>
            <a:ext cx="609600" cy="457200"/>
          </a:xfrm>
          <a:prstGeom prst="roundRect">
            <a:avLst>
              <a:gd name="adj" fmla="val 13888"/>
            </a:avLst>
          </a:prstGeom>
          <a:solidFill>
            <a:srgbClr val="294E5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ounded Rectangle 33"/>
          <p:cNvSpPr/>
          <p:nvPr/>
        </p:nvSpPr>
        <p:spPr>
          <a:xfrm>
            <a:off x="10553700" y="4025900"/>
            <a:ext cx="190500" cy="279400"/>
          </a:xfrm>
          <a:prstGeom prst="roundRect">
            <a:avLst>
              <a:gd name="adj" fmla="val 15000"/>
            </a:avLst>
          </a:prstGeom>
          <a:solidFill>
            <a:srgbClr val="71A9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ounded Rectangle 34"/>
          <p:cNvSpPr/>
          <p:nvPr/>
        </p:nvSpPr>
        <p:spPr>
          <a:xfrm>
            <a:off x="8839200" y="4749800"/>
            <a:ext cx="1524000" cy="203200"/>
          </a:xfrm>
          <a:prstGeom prst="roundRect">
            <a:avLst>
              <a:gd name="adj" fmla="val 15000"/>
            </a:avLst>
          </a:prstGeom>
          <a:solidFill>
            <a:srgbClr val="102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ounded Rectangle 35"/>
          <p:cNvSpPr/>
          <p:nvPr/>
        </p:nvSpPr>
        <p:spPr>
          <a:xfrm>
            <a:off x="10642600" y="4711700"/>
            <a:ext cx="254000" cy="279400"/>
          </a:xfrm>
          <a:prstGeom prst="roundRect">
            <a:avLst>
              <a:gd name="adj" fmla="val 15000"/>
            </a:avLst>
          </a:prstGeom>
          <a:solidFill>
            <a:srgbClr val="008C7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7" name="Connector 36"/>
          <p:cNvCxnSpPr/>
          <p:nvPr/>
        </p:nvCxnSpPr>
        <p:spPr>
          <a:xfrm>
            <a:off x="660400" y="6565900"/>
            <a:ext cx="10871200" cy="0"/>
          </a:xfrm>
          <a:prstGeom prst="line">
            <a:avLst/>
          </a:prstGeom>
          <a:ln w="8255">
            <a:solidFill>
              <a:srgbClr val="32515A"/>
            </a:solidFill>
          </a:ln>
        </p:spPr>
        <p:style>
          <a:lnRef idx="2">
            <a:schemeClr val="accent1"/>
          </a:lnRef>
          <a:fillRef idx="0">
            <a:schemeClr val="accent1"/>
          </a:fillRef>
          <a:effectRef idx="1">
            <a:schemeClr val="accent1"/>
          </a:effectRef>
          <a:fontRef idx="minor">
            <a:schemeClr val="tx1"/>
          </a:fontRef>
        </p:style>
      </p:cxnSp>
      <p:sp>
        <p:nvSpPr>
          <p:cNvPr id="38" name="TextBox 37"/>
          <p:cNvSpPr txBox="1"/>
          <p:nvPr/>
        </p:nvSpPr>
        <p:spPr>
          <a:xfrm>
            <a:off x="660400" y="6654800"/>
            <a:ext cx="8509000" cy="127000"/>
          </a:xfrm>
          <a:prstGeom prst="rect">
            <a:avLst/>
          </a:prstGeom>
          <a:noFill/>
        </p:spPr>
        <p:txBody>
          <a:bodyPr wrap="none" lIns="0" rIns="0" tIns="0" bIns="0">
            <a:spAutoFit/>
          </a:bodyPr>
          <a:lstStyle/>
          <a:p>
            <a:pPr>
              <a:lnSpc>
                <a:spcPts val="952"/>
              </a:lnSpc>
              <a:spcBef>
                <a:spcPts val="0"/>
              </a:spcBef>
              <a:spcAft>
                <a:spcPts val="0"/>
              </a:spcAft>
              <a:defRPr sz="750" b="0">
                <a:solidFill>
                  <a:srgbClr val="A6C1C6"/>
                </a:solidFill>
                <a:latin typeface="DejaVu Sans"/>
              </a:defRPr>
            </a:pPr>
            <a:r>
              <a:t>VENDING BENCH  /  PARTICIPANT BRIEFING</a:t>
            </a:r>
          </a:p>
        </p:txBody>
      </p:sp>
      <p:sp>
        <p:nvSpPr>
          <p:cNvPr id="39" name="TextBox 38"/>
          <p:cNvSpPr txBox="1"/>
          <p:nvPr/>
        </p:nvSpPr>
        <p:spPr>
          <a:xfrm>
            <a:off x="11188700" y="6642100"/>
            <a:ext cx="342900" cy="152400"/>
          </a:xfrm>
          <a:prstGeom prst="rect">
            <a:avLst/>
          </a:prstGeom>
          <a:noFill/>
        </p:spPr>
        <p:txBody>
          <a:bodyPr wrap="none" lIns="0" rIns="0" tIns="0" bIns="0">
            <a:spAutoFit/>
          </a:bodyPr>
          <a:lstStyle/>
          <a:p>
            <a:pPr>
              <a:lnSpc>
                <a:spcPts val="1143"/>
              </a:lnSpc>
              <a:spcBef>
                <a:spcPts val="0"/>
              </a:spcBef>
              <a:spcAft>
                <a:spcPts val="0"/>
              </a:spcAft>
              <a:defRPr sz="900" b="1">
                <a:solidFill>
                  <a:srgbClr val="CAEFA1"/>
                </a:solidFill>
                <a:latin typeface="DejaVu Sans"/>
              </a:defRPr>
            </a:pPr>
            <a:r>
              <a:t>01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5F8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60400" y="355600"/>
            <a:ext cx="10287000" cy="228600"/>
          </a:xfrm>
          <a:prstGeom prst="rect">
            <a:avLst/>
          </a:prstGeom>
          <a:noFill/>
        </p:spPr>
        <p:txBody>
          <a:bodyPr wrap="none" lIns="0" rIns="0" tIns="0" bIns="0">
            <a:spAutoFit/>
          </a:bodyPr>
          <a:lstStyle/>
          <a:p>
            <a:pPr>
              <a:lnSpc>
                <a:spcPts val="1270"/>
              </a:lnSpc>
              <a:spcBef>
                <a:spcPts val="0"/>
              </a:spcBef>
              <a:spcAft>
                <a:spcPts val="0"/>
              </a:spcAft>
              <a:defRPr sz="1000" b="1">
                <a:solidFill>
                  <a:srgbClr val="008C7B"/>
                </a:solidFill>
                <a:latin typeface="DejaVu Sans"/>
              </a:defRPr>
            </a:pPr>
            <a:r>
              <a:t>01 / THE ASSIGNMENT</a:t>
            </a:r>
          </a:p>
        </p:txBody>
      </p:sp>
      <p:sp>
        <p:nvSpPr>
          <p:cNvPr id="4" name="TextBox 3"/>
          <p:cNvSpPr txBox="1"/>
          <p:nvPr/>
        </p:nvSpPr>
        <p:spPr>
          <a:xfrm>
            <a:off x="660400" y="825500"/>
            <a:ext cx="10871200" cy="1143000"/>
          </a:xfrm>
          <a:prstGeom prst="rect">
            <a:avLst/>
          </a:prstGeom>
          <a:noFill/>
        </p:spPr>
        <p:txBody>
          <a:bodyPr wrap="none" lIns="0" rIns="0" tIns="0" bIns="0">
            <a:spAutoFit/>
          </a:bodyPr>
          <a:lstStyle/>
          <a:p>
            <a:pPr>
              <a:lnSpc>
                <a:spcPts val="3596"/>
              </a:lnSpc>
              <a:spcBef>
                <a:spcPts val="0"/>
              </a:spcBef>
              <a:spcAft>
                <a:spcPts val="0"/>
              </a:spcAft>
              <a:defRPr sz="3100" b="1">
                <a:solidFill>
                  <a:srgbClr val="173A42"/>
                </a:solidFill>
                <a:latin typeface="DejaVu Sans"/>
              </a:defRPr>
            </a:pPr>
            <a:r>
              <a:t>You design the harness. We fix the market.</a:t>
            </a:r>
          </a:p>
        </p:txBody>
      </p:sp>
      <p:sp>
        <p:nvSpPr>
          <p:cNvPr id="5" name="Rounded Rectangle 4"/>
          <p:cNvSpPr/>
          <p:nvPr/>
        </p:nvSpPr>
        <p:spPr>
          <a:xfrm>
            <a:off x="660400" y="2209800"/>
            <a:ext cx="5308600" cy="3352800"/>
          </a:xfrm>
          <a:prstGeom prst="roundRect">
            <a:avLst>
              <a:gd name="adj" fmla="val 3787"/>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60400" y="2209800"/>
            <a:ext cx="5308600" cy="50800"/>
          </a:xfrm>
          <a:prstGeom prst="rect">
            <a:avLst/>
          </a:prstGeom>
          <a:solidFill>
            <a:srgbClr val="008C7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39800" y="2489200"/>
            <a:ext cx="4749800" cy="444500"/>
          </a:xfrm>
          <a:prstGeom prst="rect">
            <a:avLst/>
          </a:prstGeom>
          <a:noFill/>
        </p:spPr>
        <p:txBody>
          <a:bodyPr wrap="none" lIns="0" rIns="0" tIns="0" bIns="0">
            <a:spAutoFit/>
          </a:bodyPr>
          <a:lstStyle/>
          <a:p>
            <a:pPr>
              <a:lnSpc>
                <a:spcPts val="1524"/>
              </a:lnSpc>
              <a:spcBef>
                <a:spcPts val="0"/>
              </a:spcBef>
              <a:spcAft>
                <a:spcPts val="0"/>
              </a:spcAft>
              <a:defRPr sz="1200" b="1">
                <a:solidFill>
                  <a:srgbClr val="008C7B"/>
                </a:solidFill>
                <a:latin typeface="DejaVu Sans"/>
              </a:defRPr>
            </a:pPr>
            <a:r>
              <a:t>YOUR DESIGN SPACE</a:t>
            </a:r>
          </a:p>
        </p:txBody>
      </p:sp>
      <p:sp>
        <p:nvSpPr>
          <p:cNvPr id="8" name="Rounded Rectangle 7"/>
          <p:cNvSpPr/>
          <p:nvPr/>
        </p:nvSpPr>
        <p:spPr>
          <a:xfrm>
            <a:off x="939800" y="3073400"/>
            <a:ext cx="63500" cy="63500"/>
          </a:xfrm>
          <a:prstGeom prst="roundRect">
            <a:avLst>
              <a:gd name="adj" fmla="val 15000"/>
            </a:avLst>
          </a:prstGeom>
          <a:solidFill>
            <a:srgbClr val="008C7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168400" y="2997200"/>
            <a:ext cx="4508500" cy="1397000"/>
          </a:xfrm>
          <a:prstGeom prst="rect">
            <a:avLst/>
          </a:prstGeom>
          <a:noFill/>
        </p:spPr>
        <p:txBody>
          <a:bodyPr wrap="none" lIns="0" rIns="0" tIns="0" bIns="0">
            <a:spAutoFit/>
          </a:bodyPr>
          <a:lstStyle/>
          <a:p>
            <a:pPr>
              <a:lnSpc>
                <a:spcPts val="2160"/>
              </a:lnSpc>
              <a:spcBef>
                <a:spcPts val="0"/>
              </a:spcBef>
              <a:spcAft>
                <a:spcPts val="0"/>
              </a:spcAft>
              <a:defRPr sz="1600" b="0">
                <a:solidFill>
                  <a:srgbClr val="173A42"/>
                </a:solidFill>
                <a:latin typeface="DejaVu Sans"/>
              </a:defRPr>
            </a:pPr>
            <a:r>
              <a:t>Prompts and decision policy</a:t>
            </a:r>
          </a:p>
        </p:txBody>
      </p:sp>
      <p:sp>
        <p:nvSpPr>
          <p:cNvPr id="10" name="Rounded Rectangle 9"/>
          <p:cNvSpPr/>
          <p:nvPr/>
        </p:nvSpPr>
        <p:spPr>
          <a:xfrm>
            <a:off x="939800" y="3429000"/>
            <a:ext cx="63500" cy="63500"/>
          </a:xfrm>
          <a:prstGeom prst="roundRect">
            <a:avLst>
              <a:gd name="adj" fmla="val 15000"/>
            </a:avLst>
          </a:prstGeom>
          <a:solidFill>
            <a:srgbClr val="008C7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168400" y="3352800"/>
            <a:ext cx="4508500" cy="1397000"/>
          </a:xfrm>
          <a:prstGeom prst="rect">
            <a:avLst/>
          </a:prstGeom>
          <a:noFill/>
        </p:spPr>
        <p:txBody>
          <a:bodyPr wrap="none" lIns="0" rIns="0" tIns="0" bIns="0">
            <a:spAutoFit/>
          </a:bodyPr>
          <a:lstStyle/>
          <a:p>
            <a:pPr>
              <a:lnSpc>
                <a:spcPts val="2160"/>
              </a:lnSpc>
              <a:spcBef>
                <a:spcPts val="0"/>
              </a:spcBef>
              <a:spcAft>
                <a:spcPts val="0"/>
              </a:spcAft>
              <a:defRPr sz="1600" b="0">
                <a:solidFill>
                  <a:srgbClr val="173A42"/>
                </a:solidFill>
                <a:latin typeface="DejaVu Sans"/>
              </a:defRPr>
            </a:pPr>
            <a:r>
              <a:t>Context, memory, and planning</a:t>
            </a:r>
          </a:p>
        </p:txBody>
      </p:sp>
      <p:sp>
        <p:nvSpPr>
          <p:cNvPr id="12" name="Rounded Rectangle 11"/>
          <p:cNvSpPr/>
          <p:nvPr/>
        </p:nvSpPr>
        <p:spPr>
          <a:xfrm>
            <a:off x="939800" y="3784600"/>
            <a:ext cx="63500" cy="63500"/>
          </a:xfrm>
          <a:prstGeom prst="roundRect">
            <a:avLst>
              <a:gd name="adj" fmla="val 15000"/>
            </a:avLst>
          </a:prstGeom>
          <a:solidFill>
            <a:srgbClr val="008C7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168400" y="3708400"/>
            <a:ext cx="4508500" cy="1397000"/>
          </a:xfrm>
          <a:prstGeom prst="rect">
            <a:avLst/>
          </a:prstGeom>
          <a:noFill/>
        </p:spPr>
        <p:txBody>
          <a:bodyPr wrap="none" lIns="0" rIns="0" tIns="0" bIns="0">
            <a:spAutoFit/>
          </a:bodyPr>
          <a:lstStyle/>
          <a:p>
            <a:pPr>
              <a:lnSpc>
                <a:spcPts val="2160"/>
              </a:lnSpc>
              <a:spcBef>
                <a:spcPts val="0"/>
              </a:spcBef>
              <a:spcAft>
                <a:spcPts val="0"/>
              </a:spcAft>
              <a:defRPr sz="1600" b="0">
                <a:solidFill>
                  <a:srgbClr val="173A42"/>
                </a:solidFill>
                <a:latin typeface="DejaVu Sans"/>
              </a:defRPr>
            </a:pPr>
            <a:r>
              <a:t>Tool routing and validation</a:t>
            </a:r>
          </a:p>
        </p:txBody>
      </p:sp>
      <p:sp>
        <p:nvSpPr>
          <p:cNvPr id="14" name="Rounded Rectangle 13"/>
          <p:cNvSpPr/>
          <p:nvPr/>
        </p:nvSpPr>
        <p:spPr>
          <a:xfrm>
            <a:off x="939800" y="4140200"/>
            <a:ext cx="63500" cy="63500"/>
          </a:xfrm>
          <a:prstGeom prst="roundRect">
            <a:avLst>
              <a:gd name="adj" fmla="val 15000"/>
            </a:avLst>
          </a:prstGeom>
          <a:solidFill>
            <a:srgbClr val="008C7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168400" y="4064000"/>
            <a:ext cx="4508500" cy="1397000"/>
          </a:xfrm>
          <a:prstGeom prst="rect">
            <a:avLst/>
          </a:prstGeom>
          <a:noFill/>
        </p:spPr>
        <p:txBody>
          <a:bodyPr wrap="none" lIns="0" rIns="0" tIns="0" bIns="0">
            <a:spAutoFit/>
          </a:bodyPr>
          <a:lstStyle/>
          <a:p>
            <a:pPr>
              <a:lnSpc>
                <a:spcPts val="2160"/>
              </a:lnSpc>
              <a:spcBef>
                <a:spcPts val="0"/>
              </a:spcBef>
              <a:spcAft>
                <a:spcPts val="0"/>
              </a:spcAft>
              <a:defRPr sz="1600" b="0">
                <a:solidFill>
                  <a:srgbClr val="173A42"/>
                </a:solidFill>
                <a:latin typeface="DejaVu Sans"/>
              </a:defRPr>
            </a:pPr>
            <a:r>
              <a:t>Retries, budgets, and logging</a:t>
            </a:r>
          </a:p>
        </p:txBody>
      </p:sp>
      <p:sp>
        <p:nvSpPr>
          <p:cNvPr id="16" name="Rounded Rectangle 15"/>
          <p:cNvSpPr/>
          <p:nvPr/>
        </p:nvSpPr>
        <p:spPr>
          <a:xfrm>
            <a:off x="6223000" y="2209800"/>
            <a:ext cx="5308600" cy="3352800"/>
          </a:xfrm>
          <a:prstGeom prst="roundRect">
            <a:avLst>
              <a:gd name="adj" fmla="val 3787"/>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223000" y="2209800"/>
            <a:ext cx="5308600" cy="50800"/>
          </a:xfrm>
          <a:prstGeom prst="rect">
            <a:avLst/>
          </a:prstGeom>
          <a:solidFill>
            <a:srgbClr val="5E8DC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502400" y="2489200"/>
            <a:ext cx="4749800" cy="444500"/>
          </a:xfrm>
          <a:prstGeom prst="rect">
            <a:avLst/>
          </a:prstGeom>
          <a:noFill/>
        </p:spPr>
        <p:txBody>
          <a:bodyPr wrap="none" lIns="0" rIns="0" tIns="0" bIns="0">
            <a:spAutoFit/>
          </a:bodyPr>
          <a:lstStyle/>
          <a:p>
            <a:pPr>
              <a:lnSpc>
                <a:spcPts val="1524"/>
              </a:lnSpc>
              <a:spcBef>
                <a:spcPts val="0"/>
              </a:spcBef>
              <a:spcAft>
                <a:spcPts val="0"/>
              </a:spcAft>
              <a:defRPr sz="1200" b="1">
                <a:solidFill>
                  <a:srgbClr val="557079"/>
                </a:solidFill>
                <a:latin typeface="DejaVu Sans"/>
              </a:defRPr>
            </a:pPr>
            <a:r>
              <a:t>ORGANIZER-CONTROLLED TEST</a:t>
            </a:r>
          </a:p>
        </p:txBody>
      </p:sp>
      <p:sp>
        <p:nvSpPr>
          <p:cNvPr id="19" name="Rounded Rectangle 18"/>
          <p:cNvSpPr/>
          <p:nvPr/>
        </p:nvSpPr>
        <p:spPr>
          <a:xfrm>
            <a:off x="6502400" y="3073400"/>
            <a:ext cx="63500" cy="63500"/>
          </a:xfrm>
          <a:prstGeom prst="roundRect">
            <a:avLst>
              <a:gd name="adj" fmla="val 15000"/>
            </a:avLst>
          </a:prstGeom>
          <a:solidFill>
            <a:srgbClr val="008C7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731000" y="2997200"/>
            <a:ext cx="4508500" cy="1397000"/>
          </a:xfrm>
          <a:prstGeom prst="rect">
            <a:avLst/>
          </a:prstGeom>
          <a:noFill/>
        </p:spPr>
        <p:txBody>
          <a:bodyPr wrap="none" lIns="0" rIns="0" tIns="0" bIns="0">
            <a:spAutoFit/>
          </a:bodyPr>
          <a:lstStyle/>
          <a:p>
            <a:pPr>
              <a:lnSpc>
                <a:spcPts val="2160"/>
              </a:lnSpc>
              <a:spcBef>
                <a:spcPts val="0"/>
              </a:spcBef>
              <a:spcAft>
                <a:spcPts val="0"/>
              </a:spcAft>
              <a:defRPr sz="1600" b="0">
                <a:solidFill>
                  <a:srgbClr val="173A42"/>
                </a:solidFill>
                <a:latin typeface="DejaVu Sans"/>
              </a:defRPr>
            </a:pPr>
            <a:r>
              <a:t>Saved environment and seed</a:t>
            </a:r>
          </a:p>
        </p:txBody>
      </p:sp>
      <p:sp>
        <p:nvSpPr>
          <p:cNvPr id="21" name="Rounded Rectangle 20"/>
          <p:cNvSpPr/>
          <p:nvPr/>
        </p:nvSpPr>
        <p:spPr>
          <a:xfrm>
            <a:off x="6502400" y="3429000"/>
            <a:ext cx="63500" cy="63500"/>
          </a:xfrm>
          <a:prstGeom prst="roundRect">
            <a:avLst>
              <a:gd name="adj" fmla="val 15000"/>
            </a:avLst>
          </a:prstGeom>
          <a:solidFill>
            <a:srgbClr val="008C7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731000" y="3352800"/>
            <a:ext cx="4508500" cy="1397000"/>
          </a:xfrm>
          <a:prstGeom prst="rect">
            <a:avLst/>
          </a:prstGeom>
          <a:noFill/>
        </p:spPr>
        <p:txBody>
          <a:bodyPr wrap="none" lIns="0" rIns="0" tIns="0" bIns="0">
            <a:spAutoFit/>
          </a:bodyPr>
          <a:lstStyle/>
          <a:p>
            <a:pPr>
              <a:lnSpc>
                <a:spcPts val="2160"/>
              </a:lnSpc>
              <a:spcBef>
                <a:spcPts val="0"/>
              </a:spcBef>
              <a:spcAft>
                <a:spcPts val="0"/>
              </a:spcAft>
              <a:defRPr sz="1600" b="0">
                <a:solidFill>
                  <a:srgbClr val="173A42"/>
                </a:solidFill>
                <a:latin typeface="DejaVu Sans"/>
              </a:defRPr>
            </a:pPr>
            <a:r>
              <a:t>Products, suppliers, and economics</a:t>
            </a:r>
          </a:p>
        </p:txBody>
      </p:sp>
      <p:sp>
        <p:nvSpPr>
          <p:cNvPr id="23" name="Rounded Rectangle 22"/>
          <p:cNvSpPr/>
          <p:nvPr/>
        </p:nvSpPr>
        <p:spPr>
          <a:xfrm>
            <a:off x="6502400" y="3784600"/>
            <a:ext cx="63500" cy="63500"/>
          </a:xfrm>
          <a:prstGeom prst="roundRect">
            <a:avLst>
              <a:gd name="adj" fmla="val 15000"/>
            </a:avLst>
          </a:prstGeom>
          <a:solidFill>
            <a:srgbClr val="008C7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731000" y="3708400"/>
            <a:ext cx="4508500" cy="1397000"/>
          </a:xfrm>
          <a:prstGeom prst="rect">
            <a:avLst/>
          </a:prstGeom>
          <a:noFill/>
        </p:spPr>
        <p:txBody>
          <a:bodyPr wrap="none" lIns="0" rIns="0" tIns="0" bIns="0">
            <a:spAutoFit/>
          </a:bodyPr>
          <a:lstStyle/>
          <a:p>
            <a:pPr>
              <a:lnSpc>
                <a:spcPts val="2160"/>
              </a:lnSpc>
              <a:spcBef>
                <a:spcPts val="0"/>
              </a:spcBef>
              <a:spcAft>
                <a:spcPts val="0"/>
              </a:spcAft>
              <a:defRPr sz="1600" b="0">
                <a:solidFill>
                  <a:srgbClr val="173A42"/>
                </a:solidFill>
                <a:latin typeface="DejaVu Sans"/>
              </a:defRPr>
            </a:pPr>
            <a:r>
              <a:t>Machine rules and real-time deadline</a:t>
            </a:r>
          </a:p>
        </p:txBody>
      </p:sp>
      <p:sp>
        <p:nvSpPr>
          <p:cNvPr id="25" name="Rounded Rectangle 24"/>
          <p:cNvSpPr/>
          <p:nvPr/>
        </p:nvSpPr>
        <p:spPr>
          <a:xfrm>
            <a:off x="6502400" y="4140200"/>
            <a:ext cx="63500" cy="63500"/>
          </a:xfrm>
          <a:prstGeom prst="roundRect">
            <a:avLst>
              <a:gd name="adj" fmla="val 15000"/>
            </a:avLst>
          </a:prstGeom>
          <a:solidFill>
            <a:srgbClr val="008C7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731000" y="4064000"/>
            <a:ext cx="4508500" cy="1397000"/>
          </a:xfrm>
          <a:prstGeom prst="rect">
            <a:avLst/>
          </a:prstGeom>
          <a:noFill/>
        </p:spPr>
        <p:txBody>
          <a:bodyPr wrap="none" lIns="0" rIns="0" tIns="0" bIns="0">
            <a:spAutoFit/>
          </a:bodyPr>
          <a:lstStyle/>
          <a:p>
            <a:pPr>
              <a:lnSpc>
                <a:spcPts val="2160"/>
              </a:lnSpc>
              <a:spcBef>
                <a:spcPts val="0"/>
              </a:spcBef>
              <a:spcAft>
                <a:spcPts val="0"/>
              </a:spcAft>
              <a:defRPr sz="1600" b="0">
                <a:solidFill>
                  <a:srgbClr val="173A42"/>
                </a:solidFill>
                <a:latin typeface="DejaVu Sans"/>
              </a:defRPr>
            </a:pPr>
            <a:r>
              <a:t>Evaluation access and run conditions</a:t>
            </a:r>
          </a:p>
        </p:txBody>
      </p:sp>
      <p:sp>
        <p:nvSpPr>
          <p:cNvPr id="27" name="Rounded Rectangle 26"/>
          <p:cNvSpPr/>
          <p:nvPr/>
        </p:nvSpPr>
        <p:spPr>
          <a:xfrm>
            <a:off x="660400" y="5842000"/>
            <a:ext cx="10871200" cy="546100"/>
          </a:xfrm>
          <a:prstGeom prst="roundRect">
            <a:avLst>
              <a:gd name="adj" fmla="val 15000"/>
            </a:avLst>
          </a:prstGeom>
          <a:solidFill>
            <a:srgbClr val="E8F3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38200" y="5994400"/>
            <a:ext cx="10502900" cy="355600"/>
          </a:xfrm>
          <a:prstGeom prst="rect">
            <a:avLst/>
          </a:prstGeom>
          <a:noFill/>
        </p:spPr>
        <p:txBody>
          <a:bodyPr wrap="none" lIns="0" rIns="0" tIns="0" bIns="0">
            <a:spAutoFit/>
          </a:bodyPr>
          <a:lstStyle/>
          <a:p>
            <a:pPr>
              <a:lnSpc>
                <a:spcPts val="1380"/>
              </a:lnSpc>
              <a:spcBef>
                <a:spcPts val="0"/>
              </a:spcBef>
              <a:spcAft>
                <a:spcPts val="0"/>
              </a:spcAft>
              <a:defRPr sz="1200" b="1">
                <a:solidFill>
                  <a:srgbClr val="173A42"/>
                </a:solidFill>
                <a:latin typeface="DejaVu Sans"/>
              </a:defRPr>
            </a:pPr>
            <a:r>
              <a:t>Optimize final net assets using the public interaction interface.</a:t>
            </a:r>
          </a:p>
        </p:txBody>
      </p:sp>
      <p:cxnSp>
        <p:nvCxnSpPr>
          <p:cNvPr id="29" name="Connector 28"/>
          <p:cNvCxnSpPr/>
          <p:nvPr/>
        </p:nvCxnSpPr>
        <p:spPr>
          <a:xfrm>
            <a:off x="660400" y="6565900"/>
            <a:ext cx="10871200" cy="0"/>
          </a:xfrm>
          <a:prstGeom prst="line">
            <a:avLst/>
          </a:prstGeom>
          <a:ln w="8255">
            <a:solidFill>
              <a:srgbClr val="DCE6E2"/>
            </a:solidFill>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660400" y="6654800"/>
            <a:ext cx="8509000" cy="127000"/>
          </a:xfrm>
          <a:prstGeom prst="rect">
            <a:avLst/>
          </a:prstGeom>
          <a:noFill/>
        </p:spPr>
        <p:txBody>
          <a:bodyPr wrap="none" lIns="0" rIns="0" tIns="0" bIns="0">
            <a:spAutoFit/>
          </a:bodyPr>
          <a:lstStyle/>
          <a:p>
            <a:pPr>
              <a:lnSpc>
                <a:spcPts val="952"/>
              </a:lnSpc>
              <a:spcBef>
                <a:spcPts val="0"/>
              </a:spcBef>
              <a:spcAft>
                <a:spcPts val="0"/>
              </a:spcAft>
              <a:defRPr sz="750" b="0">
                <a:solidFill>
                  <a:srgbClr val="557079"/>
                </a:solidFill>
                <a:latin typeface="DejaVu Sans"/>
              </a:defRPr>
            </a:pPr>
            <a:r>
              <a:t>VENDING BENCH  /  PARTICIPANT BRIEFING</a:t>
            </a:r>
          </a:p>
        </p:txBody>
      </p:sp>
      <p:sp>
        <p:nvSpPr>
          <p:cNvPr id="31" name="TextBox 30"/>
          <p:cNvSpPr txBox="1"/>
          <p:nvPr/>
        </p:nvSpPr>
        <p:spPr>
          <a:xfrm>
            <a:off x="11188700" y="6642100"/>
            <a:ext cx="342900" cy="152400"/>
          </a:xfrm>
          <a:prstGeom prst="rect">
            <a:avLst/>
          </a:prstGeom>
          <a:noFill/>
        </p:spPr>
        <p:txBody>
          <a:bodyPr wrap="none" lIns="0" rIns="0" tIns="0" bIns="0">
            <a:spAutoFit/>
          </a:bodyPr>
          <a:lstStyle/>
          <a:p>
            <a:pPr>
              <a:lnSpc>
                <a:spcPts val="1143"/>
              </a:lnSpc>
              <a:spcBef>
                <a:spcPts val="0"/>
              </a:spcBef>
              <a:spcAft>
                <a:spcPts val="0"/>
              </a:spcAft>
              <a:defRPr sz="900" b="1">
                <a:solidFill>
                  <a:srgbClr val="008C7B"/>
                </a:solidFill>
                <a:latin typeface="DejaVu Sans"/>
              </a:defRPr>
            </a:pPr>
            <a:r>
              <a:t>02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5F8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60400" y="355600"/>
            <a:ext cx="10287000" cy="228600"/>
          </a:xfrm>
          <a:prstGeom prst="rect">
            <a:avLst/>
          </a:prstGeom>
          <a:noFill/>
        </p:spPr>
        <p:txBody>
          <a:bodyPr wrap="none" lIns="0" rIns="0" tIns="0" bIns="0">
            <a:spAutoFit/>
          </a:bodyPr>
          <a:lstStyle/>
          <a:p>
            <a:pPr>
              <a:lnSpc>
                <a:spcPts val="1270"/>
              </a:lnSpc>
              <a:spcBef>
                <a:spcPts val="0"/>
              </a:spcBef>
              <a:spcAft>
                <a:spcPts val="0"/>
              </a:spcAft>
              <a:defRPr sz="1000" b="1">
                <a:solidFill>
                  <a:srgbClr val="008C7B"/>
                </a:solidFill>
                <a:latin typeface="DejaVu Sans"/>
              </a:defRPr>
            </a:pPr>
            <a:r>
              <a:t>01 / THE ASSIGNMENT</a:t>
            </a:r>
          </a:p>
        </p:txBody>
      </p:sp>
      <p:sp>
        <p:nvSpPr>
          <p:cNvPr id="4" name="TextBox 3"/>
          <p:cNvSpPr txBox="1"/>
          <p:nvPr/>
        </p:nvSpPr>
        <p:spPr>
          <a:xfrm>
            <a:off x="660400" y="825500"/>
            <a:ext cx="10871200" cy="1143000"/>
          </a:xfrm>
          <a:prstGeom prst="rect">
            <a:avLst/>
          </a:prstGeom>
          <a:noFill/>
        </p:spPr>
        <p:txBody>
          <a:bodyPr wrap="none" lIns="0" rIns="0" tIns="0" bIns="0">
            <a:spAutoFit/>
          </a:bodyPr>
          <a:lstStyle/>
          <a:p>
            <a:pPr>
              <a:lnSpc>
                <a:spcPts val="3596"/>
              </a:lnSpc>
              <a:spcBef>
                <a:spcPts val="0"/>
              </a:spcBef>
              <a:spcAft>
                <a:spcPts val="0"/>
              </a:spcAft>
              <a:defRPr sz="3100" b="1">
                <a:solidFill>
                  <a:srgbClr val="173A42"/>
                </a:solidFill>
                <a:latin typeface="DejaVu Sans"/>
              </a:defRPr>
            </a:pPr>
            <a:r>
              <a:t>One saved definition. A fresh episode each run.</a:t>
            </a:r>
          </a:p>
        </p:txBody>
      </p:sp>
      <p:sp>
        <p:nvSpPr>
          <p:cNvPr id="5" name="Rounded Rectangle 4"/>
          <p:cNvSpPr/>
          <p:nvPr/>
        </p:nvSpPr>
        <p:spPr>
          <a:xfrm>
            <a:off x="660400" y="2349500"/>
            <a:ext cx="2555875" cy="2971800"/>
          </a:xfrm>
          <a:prstGeom prst="roundRect">
            <a:avLst>
              <a:gd name="adj" fmla="val 4968"/>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889000" y="2603500"/>
            <a:ext cx="431800" cy="381000"/>
          </a:xfrm>
          <a:prstGeom prst="roundRect">
            <a:avLst>
              <a:gd name="adj" fmla="val 15000"/>
            </a:avLst>
          </a:prstGeom>
          <a:solidFill>
            <a:srgbClr val="E8F3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77900" y="2692400"/>
            <a:ext cx="330200" cy="228600"/>
          </a:xfrm>
          <a:prstGeom prst="rect">
            <a:avLst/>
          </a:prstGeom>
          <a:noFill/>
        </p:spPr>
        <p:txBody>
          <a:bodyPr wrap="none" lIns="0" rIns="0" tIns="0" bIns="0">
            <a:spAutoFit/>
          </a:bodyPr>
          <a:lstStyle/>
          <a:p>
            <a:pPr>
              <a:lnSpc>
                <a:spcPts val="1524"/>
              </a:lnSpc>
              <a:spcBef>
                <a:spcPts val="0"/>
              </a:spcBef>
              <a:spcAft>
                <a:spcPts val="0"/>
              </a:spcAft>
              <a:defRPr sz="1200" b="1">
                <a:solidFill>
                  <a:srgbClr val="008C7B"/>
                </a:solidFill>
                <a:latin typeface="DejaVu Sans"/>
              </a:defRPr>
            </a:pPr>
            <a:r>
              <a:t>01</a:t>
            </a:r>
          </a:p>
        </p:txBody>
      </p:sp>
      <p:sp>
        <p:nvSpPr>
          <p:cNvPr id="8" name="TextBox 7"/>
          <p:cNvSpPr txBox="1"/>
          <p:nvPr/>
        </p:nvSpPr>
        <p:spPr>
          <a:xfrm>
            <a:off x="889000" y="3314700"/>
            <a:ext cx="2098675" cy="419100"/>
          </a:xfrm>
          <a:prstGeom prst="rect">
            <a:avLst/>
          </a:prstGeom>
          <a:noFill/>
        </p:spPr>
        <p:txBody>
          <a:bodyPr wrap="none" lIns="0" rIns="0" tIns="0" bIns="0">
            <a:spAutoFit/>
          </a:bodyPr>
          <a:lstStyle/>
          <a:p>
            <a:pPr>
              <a:lnSpc>
                <a:spcPts val="2794"/>
              </a:lnSpc>
              <a:spcBef>
                <a:spcPts val="0"/>
              </a:spcBef>
              <a:spcAft>
                <a:spcPts val="0"/>
              </a:spcAft>
              <a:defRPr sz="2200" b="1">
                <a:solidFill>
                  <a:srgbClr val="173A42"/>
                </a:solidFill>
                <a:latin typeface="DejaVu Sans"/>
              </a:defRPr>
            </a:pPr>
            <a:r>
              <a:t>Practice</a:t>
            </a:r>
          </a:p>
        </p:txBody>
      </p:sp>
      <p:sp>
        <p:nvSpPr>
          <p:cNvPr id="9" name="TextBox 8"/>
          <p:cNvSpPr txBox="1"/>
          <p:nvPr/>
        </p:nvSpPr>
        <p:spPr>
          <a:xfrm>
            <a:off x="889000" y="3873500"/>
            <a:ext cx="2098675" cy="1333500"/>
          </a:xfrm>
          <a:prstGeom prst="rect">
            <a:avLst/>
          </a:prstGeom>
          <a:noFill/>
        </p:spPr>
        <p:txBody>
          <a:bodyPr wrap="none" lIns="0" rIns="0" tIns="0" bIns="0">
            <a:spAutoFit/>
          </a:bodyPr>
          <a:lstStyle/>
          <a:p>
            <a:pPr>
              <a:lnSpc>
                <a:spcPts val="2261"/>
              </a:lnSpc>
              <a:spcBef>
                <a:spcPts val="0"/>
              </a:spcBef>
              <a:spcAft>
                <a:spcPts val="0"/>
              </a:spcAft>
              <a:defRPr sz="1700" b="0">
                <a:solidFill>
                  <a:srgbClr val="173A42"/>
                </a:solidFill>
                <a:latin typeface="DejaVu Sans"/>
              </a:defRPr>
            </a:pPr>
            <a:r>
              <a:t>Develop on the</a:t>
            </a:r>
          </a:p>
          <a:p>
            <a:pPr>
              <a:lnSpc>
                <a:spcPts val="2261"/>
              </a:lnSpc>
              <a:spcBef>
                <a:spcPts val="0"/>
              </a:spcBef>
              <a:spcAft>
                <a:spcPts val="0"/>
              </a:spcAft>
              <a:defRPr sz="1700" b="0">
                <a:solidFill>
                  <a:srgbClr val="173A42"/>
                </a:solidFill>
                <a:latin typeface="DejaVu Sans"/>
              </a:defRPr>
            </a:pPr>
            <a:r>
              <a:t>supplied practice</a:t>
            </a:r>
          </a:p>
          <a:p>
            <a:pPr>
              <a:lnSpc>
                <a:spcPts val="2261"/>
              </a:lnSpc>
              <a:spcBef>
                <a:spcPts val="0"/>
              </a:spcBef>
              <a:spcAft>
                <a:spcPts val="0"/>
              </a:spcAft>
              <a:defRPr sz="1700" b="0">
                <a:solidFill>
                  <a:srgbClr val="173A42"/>
                </a:solidFill>
                <a:latin typeface="DejaVu Sans"/>
              </a:defRPr>
            </a:pPr>
            <a:r>
              <a:t>environment.</a:t>
            </a:r>
          </a:p>
        </p:txBody>
      </p:sp>
      <p:sp>
        <p:nvSpPr>
          <p:cNvPr id="10" name="TextBox 9"/>
          <p:cNvSpPr txBox="1"/>
          <p:nvPr/>
        </p:nvSpPr>
        <p:spPr>
          <a:xfrm>
            <a:off x="3267075" y="3594100"/>
            <a:ext cx="177800" cy="381000"/>
          </a:xfrm>
          <a:prstGeom prst="rect">
            <a:avLst/>
          </a:prstGeom>
          <a:noFill/>
        </p:spPr>
        <p:txBody>
          <a:bodyPr wrap="none" lIns="0" rIns="0" tIns="0" bIns="0">
            <a:spAutoFit/>
          </a:bodyPr>
          <a:lstStyle/>
          <a:p>
            <a:pPr>
              <a:lnSpc>
                <a:spcPts val="3175"/>
              </a:lnSpc>
              <a:spcBef>
                <a:spcPts val="0"/>
              </a:spcBef>
              <a:spcAft>
                <a:spcPts val="0"/>
              </a:spcAft>
              <a:defRPr sz="2500" b="1">
                <a:solidFill>
                  <a:srgbClr val="008C7B"/>
                </a:solidFill>
                <a:latin typeface="DejaVu Sans"/>
              </a:defRPr>
            </a:pPr>
            <a:r>
              <a:t>›</a:t>
            </a:r>
          </a:p>
        </p:txBody>
      </p:sp>
      <p:sp>
        <p:nvSpPr>
          <p:cNvPr id="11" name="Rounded Rectangle 10"/>
          <p:cNvSpPr/>
          <p:nvPr/>
        </p:nvSpPr>
        <p:spPr>
          <a:xfrm>
            <a:off x="3432175" y="2349500"/>
            <a:ext cx="2555875" cy="2971800"/>
          </a:xfrm>
          <a:prstGeom prst="roundRect">
            <a:avLst>
              <a:gd name="adj" fmla="val 4968"/>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3660775" y="2603500"/>
            <a:ext cx="431800" cy="381000"/>
          </a:xfrm>
          <a:prstGeom prst="roundRect">
            <a:avLst>
              <a:gd name="adj" fmla="val 15000"/>
            </a:avLst>
          </a:prstGeom>
          <a:solidFill>
            <a:srgbClr val="E8F3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749675" y="2692400"/>
            <a:ext cx="330200" cy="228600"/>
          </a:xfrm>
          <a:prstGeom prst="rect">
            <a:avLst/>
          </a:prstGeom>
          <a:noFill/>
        </p:spPr>
        <p:txBody>
          <a:bodyPr wrap="none" lIns="0" rIns="0" tIns="0" bIns="0">
            <a:spAutoFit/>
          </a:bodyPr>
          <a:lstStyle/>
          <a:p>
            <a:pPr>
              <a:lnSpc>
                <a:spcPts val="1524"/>
              </a:lnSpc>
              <a:spcBef>
                <a:spcPts val="0"/>
              </a:spcBef>
              <a:spcAft>
                <a:spcPts val="0"/>
              </a:spcAft>
              <a:defRPr sz="1200" b="1">
                <a:solidFill>
                  <a:srgbClr val="008C7B"/>
                </a:solidFill>
                <a:latin typeface="DejaVu Sans"/>
              </a:defRPr>
            </a:pPr>
            <a:r>
              <a:t>02</a:t>
            </a:r>
          </a:p>
        </p:txBody>
      </p:sp>
      <p:sp>
        <p:nvSpPr>
          <p:cNvPr id="14" name="TextBox 13"/>
          <p:cNvSpPr txBox="1"/>
          <p:nvPr/>
        </p:nvSpPr>
        <p:spPr>
          <a:xfrm>
            <a:off x="3660775" y="3314700"/>
            <a:ext cx="2098675" cy="419100"/>
          </a:xfrm>
          <a:prstGeom prst="rect">
            <a:avLst/>
          </a:prstGeom>
          <a:noFill/>
        </p:spPr>
        <p:txBody>
          <a:bodyPr wrap="none" lIns="0" rIns="0" tIns="0" bIns="0">
            <a:spAutoFit/>
          </a:bodyPr>
          <a:lstStyle/>
          <a:p>
            <a:pPr>
              <a:lnSpc>
                <a:spcPts val="2794"/>
              </a:lnSpc>
              <a:spcBef>
                <a:spcPts val="0"/>
              </a:spcBef>
              <a:spcAft>
                <a:spcPts val="0"/>
              </a:spcAft>
              <a:defRPr sz="2200" b="1">
                <a:solidFill>
                  <a:srgbClr val="173A42"/>
                </a:solidFill>
                <a:latin typeface="DejaVu Sans"/>
              </a:defRPr>
            </a:pPr>
            <a:r>
              <a:t>Freeze</a:t>
            </a:r>
          </a:p>
        </p:txBody>
      </p:sp>
      <p:sp>
        <p:nvSpPr>
          <p:cNvPr id="15" name="TextBox 14"/>
          <p:cNvSpPr txBox="1"/>
          <p:nvPr/>
        </p:nvSpPr>
        <p:spPr>
          <a:xfrm>
            <a:off x="3660775" y="3873500"/>
            <a:ext cx="2098675" cy="1333500"/>
          </a:xfrm>
          <a:prstGeom prst="rect">
            <a:avLst/>
          </a:prstGeom>
          <a:noFill/>
        </p:spPr>
        <p:txBody>
          <a:bodyPr wrap="none" lIns="0" rIns="0" tIns="0" bIns="0">
            <a:spAutoFit/>
          </a:bodyPr>
          <a:lstStyle/>
          <a:p>
            <a:pPr>
              <a:lnSpc>
                <a:spcPts val="2261"/>
              </a:lnSpc>
              <a:spcBef>
                <a:spcPts val="0"/>
              </a:spcBef>
              <a:spcAft>
                <a:spcPts val="0"/>
              </a:spcAft>
              <a:defRPr sz="1700" b="0">
                <a:solidFill>
                  <a:srgbClr val="173A42"/>
                </a:solidFill>
                <a:latin typeface="DejaVu Sans"/>
              </a:defRPr>
            </a:pPr>
            <a:r>
              <a:t>Package the</a:t>
            </a:r>
          </a:p>
          <a:p>
            <a:pPr>
              <a:lnSpc>
                <a:spcPts val="2261"/>
              </a:lnSpc>
              <a:spcBef>
                <a:spcPts val="0"/>
              </a:spcBef>
              <a:spcAft>
                <a:spcPts val="0"/>
              </a:spcAft>
              <a:defRPr sz="1700" b="0">
                <a:solidFill>
                  <a:srgbClr val="173A42"/>
                </a:solidFill>
                <a:latin typeface="DejaVu Sans"/>
              </a:defRPr>
            </a:pPr>
            <a:r>
              <a:t>harness and record</a:t>
            </a:r>
          </a:p>
          <a:p>
            <a:pPr>
              <a:lnSpc>
                <a:spcPts val="2261"/>
              </a:lnSpc>
              <a:spcBef>
                <a:spcPts val="0"/>
              </a:spcBef>
              <a:spcAft>
                <a:spcPts val="0"/>
              </a:spcAft>
              <a:defRPr sz="1700" b="0">
                <a:solidFill>
                  <a:srgbClr val="173A42"/>
                </a:solidFill>
                <a:latin typeface="DejaVu Sans"/>
              </a:defRPr>
            </a:pPr>
            <a:r>
              <a:t>its configuration.</a:t>
            </a:r>
          </a:p>
        </p:txBody>
      </p:sp>
      <p:sp>
        <p:nvSpPr>
          <p:cNvPr id="16" name="TextBox 15"/>
          <p:cNvSpPr txBox="1"/>
          <p:nvPr/>
        </p:nvSpPr>
        <p:spPr>
          <a:xfrm>
            <a:off x="6038850" y="3594100"/>
            <a:ext cx="177800" cy="381000"/>
          </a:xfrm>
          <a:prstGeom prst="rect">
            <a:avLst/>
          </a:prstGeom>
          <a:noFill/>
        </p:spPr>
        <p:txBody>
          <a:bodyPr wrap="none" lIns="0" rIns="0" tIns="0" bIns="0">
            <a:spAutoFit/>
          </a:bodyPr>
          <a:lstStyle/>
          <a:p>
            <a:pPr>
              <a:lnSpc>
                <a:spcPts val="3175"/>
              </a:lnSpc>
              <a:spcBef>
                <a:spcPts val="0"/>
              </a:spcBef>
              <a:spcAft>
                <a:spcPts val="0"/>
              </a:spcAft>
              <a:defRPr sz="2500" b="1">
                <a:solidFill>
                  <a:srgbClr val="008C7B"/>
                </a:solidFill>
                <a:latin typeface="DejaVu Sans"/>
              </a:defRPr>
            </a:pPr>
            <a:r>
              <a:t>›</a:t>
            </a:r>
          </a:p>
        </p:txBody>
      </p:sp>
      <p:sp>
        <p:nvSpPr>
          <p:cNvPr id="17" name="Rounded Rectangle 16"/>
          <p:cNvSpPr/>
          <p:nvPr/>
        </p:nvSpPr>
        <p:spPr>
          <a:xfrm>
            <a:off x="6203950" y="2349500"/>
            <a:ext cx="2555875" cy="2971800"/>
          </a:xfrm>
          <a:prstGeom prst="roundRect">
            <a:avLst>
              <a:gd name="adj" fmla="val 4968"/>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6432550" y="2603500"/>
            <a:ext cx="431800" cy="381000"/>
          </a:xfrm>
          <a:prstGeom prst="roundRect">
            <a:avLst>
              <a:gd name="adj" fmla="val 15000"/>
            </a:avLst>
          </a:prstGeom>
          <a:solidFill>
            <a:srgbClr val="E8F3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521450" y="2692400"/>
            <a:ext cx="330200" cy="228600"/>
          </a:xfrm>
          <a:prstGeom prst="rect">
            <a:avLst/>
          </a:prstGeom>
          <a:noFill/>
        </p:spPr>
        <p:txBody>
          <a:bodyPr wrap="none" lIns="0" rIns="0" tIns="0" bIns="0">
            <a:spAutoFit/>
          </a:bodyPr>
          <a:lstStyle/>
          <a:p>
            <a:pPr>
              <a:lnSpc>
                <a:spcPts val="1524"/>
              </a:lnSpc>
              <a:spcBef>
                <a:spcPts val="0"/>
              </a:spcBef>
              <a:spcAft>
                <a:spcPts val="0"/>
              </a:spcAft>
              <a:defRPr sz="1200" b="1">
                <a:solidFill>
                  <a:srgbClr val="008C7B"/>
                </a:solidFill>
                <a:latin typeface="DejaVu Sans"/>
              </a:defRPr>
            </a:pPr>
            <a:r>
              <a:t>03</a:t>
            </a:r>
          </a:p>
        </p:txBody>
      </p:sp>
      <p:sp>
        <p:nvSpPr>
          <p:cNvPr id="20" name="TextBox 19"/>
          <p:cNvSpPr txBox="1"/>
          <p:nvPr/>
        </p:nvSpPr>
        <p:spPr>
          <a:xfrm>
            <a:off x="6432550" y="3314700"/>
            <a:ext cx="2098675" cy="419100"/>
          </a:xfrm>
          <a:prstGeom prst="rect">
            <a:avLst/>
          </a:prstGeom>
          <a:noFill/>
        </p:spPr>
        <p:txBody>
          <a:bodyPr wrap="none" lIns="0" rIns="0" tIns="0" bIns="0">
            <a:spAutoFit/>
          </a:bodyPr>
          <a:lstStyle/>
          <a:p>
            <a:pPr>
              <a:lnSpc>
                <a:spcPts val="2794"/>
              </a:lnSpc>
              <a:spcBef>
                <a:spcPts val="0"/>
              </a:spcBef>
              <a:spcAft>
                <a:spcPts val="0"/>
              </a:spcAft>
              <a:defRPr sz="2200" b="1">
                <a:solidFill>
                  <a:srgbClr val="173A42"/>
                </a:solidFill>
                <a:latin typeface="DejaVu Sans"/>
              </a:defRPr>
            </a:pPr>
            <a:r>
              <a:t>Evaluate</a:t>
            </a:r>
          </a:p>
        </p:txBody>
      </p:sp>
      <p:sp>
        <p:nvSpPr>
          <p:cNvPr id="21" name="TextBox 20"/>
          <p:cNvSpPr txBox="1"/>
          <p:nvPr/>
        </p:nvSpPr>
        <p:spPr>
          <a:xfrm>
            <a:off x="6432550" y="3873500"/>
            <a:ext cx="2098675" cy="1333500"/>
          </a:xfrm>
          <a:prstGeom prst="rect">
            <a:avLst/>
          </a:prstGeom>
          <a:noFill/>
        </p:spPr>
        <p:txBody>
          <a:bodyPr wrap="none" lIns="0" rIns="0" tIns="0" bIns="0">
            <a:spAutoFit/>
          </a:bodyPr>
          <a:lstStyle/>
          <a:p>
            <a:pPr>
              <a:lnSpc>
                <a:spcPts val="2261"/>
              </a:lnSpc>
              <a:spcBef>
                <a:spcPts val="0"/>
              </a:spcBef>
              <a:spcAft>
                <a:spcPts val="0"/>
              </a:spcAft>
              <a:defRPr sz="1700" b="0">
                <a:solidFill>
                  <a:srgbClr val="173A42"/>
                </a:solidFill>
                <a:latin typeface="DejaVu Sans"/>
              </a:defRPr>
            </a:pPr>
            <a:r>
              <a:t>Run against the</a:t>
            </a:r>
          </a:p>
          <a:p>
            <a:pPr>
              <a:lnSpc>
                <a:spcPts val="2261"/>
              </a:lnSpc>
              <a:spcBef>
                <a:spcPts val="0"/>
              </a:spcBef>
              <a:spcAft>
                <a:spcPts val="0"/>
              </a:spcAft>
              <a:defRPr sz="1700" b="0">
                <a:solidFill>
                  <a:srgbClr val="173A42"/>
                </a:solidFill>
                <a:latin typeface="DejaVu Sans"/>
              </a:defRPr>
            </a:pPr>
            <a:r>
              <a:t>organizer-selected</a:t>
            </a:r>
          </a:p>
          <a:p>
            <a:pPr>
              <a:lnSpc>
                <a:spcPts val="2261"/>
              </a:lnSpc>
              <a:spcBef>
                <a:spcPts val="0"/>
              </a:spcBef>
              <a:spcAft>
                <a:spcPts val="0"/>
              </a:spcAft>
              <a:defRPr sz="1700" b="0">
                <a:solidFill>
                  <a:srgbClr val="173A42"/>
                </a:solidFill>
                <a:latin typeface="DejaVu Sans"/>
              </a:defRPr>
            </a:pPr>
            <a:r>
              <a:t>test definition.</a:t>
            </a:r>
          </a:p>
        </p:txBody>
      </p:sp>
      <p:sp>
        <p:nvSpPr>
          <p:cNvPr id="22" name="TextBox 21"/>
          <p:cNvSpPr txBox="1"/>
          <p:nvPr/>
        </p:nvSpPr>
        <p:spPr>
          <a:xfrm>
            <a:off x="8810625" y="3594100"/>
            <a:ext cx="177800" cy="381000"/>
          </a:xfrm>
          <a:prstGeom prst="rect">
            <a:avLst/>
          </a:prstGeom>
          <a:noFill/>
        </p:spPr>
        <p:txBody>
          <a:bodyPr wrap="none" lIns="0" rIns="0" tIns="0" bIns="0">
            <a:spAutoFit/>
          </a:bodyPr>
          <a:lstStyle/>
          <a:p>
            <a:pPr>
              <a:lnSpc>
                <a:spcPts val="3175"/>
              </a:lnSpc>
              <a:spcBef>
                <a:spcPts val="0"/>
              </a:spcBef>
              <a:spcAft>
                <a:spcPts val="0"/>
              </a:spcAft>
              <a:defRPr sz="2500" b="1">
                <a:solidFill>
                  <a:srgbClr val="008C7B"/>
                </a:solidFill>
                <a:latin typeface="DejaVu Sans"/>
              </a:defRPr>
            </a:pPr>
            <a:r>
              <a:t>›</a:t>
            </a:r>
          </a:p>
        </p:txBody>
      </p:sp>
      <p:sp>
        <p:nvSpPr>
          <p:cNvPr id="23" name="Rounded Rectangle 22"/>
          <p:cNvSpPr/>
          <p:nvPr/>
        </p:nvSpPr>
        <p:spPr>
          <a:xfrm>
            <a:off x="8975725" y="2349500"/>
            <a:ext cx="2555875" cy="2971800"/>
          </a:xfrm>
          <a:prstGeom prst="roundRect">
            <a:avLst>
              <a:gd name="adj" fmla="val 4968"/>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9204325" y="2603500"/>
            <a:ext cx="431800" cy="381000"/>
          </a:xfrm>
          <a:prstGeom prst="roundRect">
            <a:avLst>
              <a:gd name="adj" fmla="val 15000"/>
            </a:avLst>
          </a:prstGeom>
          <a:solidFill>
            <a:srgbClr val="E8F3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293225" y="2692400"/>
            <a:ext cx="330200" cy="228600"/>
          </a:xfrm>
          <a:prstGeom prst="rect">
            <a:avLst/>
          </a:prstGeom>
          <a:noFill/>
        </p:spPr>
        <p:txBody>
          <a:bodyPr wrap="none" lIns="0" rIns="0" tIns="0" bIns="0">
            <a:spAutoFit/>
          </a:bodyPr>
          <a:lstStyle/>
          <a:p>
            <a:pPr>
              <a:lnSpc>
                <a:spcPts val="1524"/>
              </a:lnSpc>
              <a:spcBef>
                <a:spcPts val="0"/>
              </a:spcBef>
              <a:spcAft>
                <a:spcPts val="0"/>
              </a:spcAft>
              <a:defRPr sz="1200" b="1">
                <a:solidFill>
                  <a:srgbClr val="008C7B"/>
                </a:solidFill>
                <a:latin typeface="DejaVu Sans"/>
              </a:defRPr>
            </a:pPr>
            <a:r>
              <a:t>04</a:t>
            </a:r>
          </a:p>
        </p:txBody>
      </p:sp>
      <p:sp>
        <p:nvSpPr>
          <p:cNvPr id="26" name="TextBox 25"/>
          <p:cNvSpPr txBox="1"/>
          <p:nvPr/>
        </p:nvSpPr>
        <p:spPr>
          <a:xfrm>
            <a:off x="9204325" y="3314700"/>
            <a:ext cx="2098675" cy="419100"/>
          </a:xfrm>
          <a:prstGeom prst="rect">
            <a:avLst/>
          </a:prstGeom>
          <a:noFill/>
        </p:spPr>
        <p:txBody>
          <a:bodyPr wrap="none" lIns="0" rIns="0" tIns="0" bIns="0">
            <a:spAutoFit/>
          </a:bodyPr>
          <a:lstStyle/>
          <a:p>
            <a:pPr>
              <a:lnSpc>
                <a:spcPts val="2794"/>
              </a:lnSpc>
              <a:spcBef>
                <a:spcPts val="0"/>
              </a:spcBef>
              <a:spcAft>
                <a:spcPts val="0"/>
              </a:spcAft>
              <a:defRPr sz="2200" b="1">
                <a:solidFill>
                  <a:srgbClr val="173A42"/>
                </a:solidFill>
                <a:latin typeface="DejaVu Sans"/>
              </a:defRPr>
            </a:pPr>
            <a:r>
              <a:t>Inspect</a:t>
            </a:r>
          </a:p>
        </p:txBody>
      </p:sp>
      <p:sp>
        <p:nvSpPr>
          <p:cNvPr id="27" name="TextBox 26"/>
          <p:cNvSpPr txBox="1"/>
          <p:nvPr/>
        </p:nvSpPr>
        <p:spPr>
          <a:xfrm>
            <a:off x="9204325" y="3873500"/>
            <a:ext cx="2098675" cy="1333500"/>
          </a:xfrm>
          <a:prstGeom prst="rect">
            <a:avLst/>
          </a:prstGeom>
          <a:noFill/>
        </p:spPr>
        <p:txBody>
          <a:bodyPr wrap="none" lIns="0" rIns="0" tIns="0" bIns="0">
            <a:spAutoFit/>
          </a:bodyPr>
          <a:lstStyle/>
          <a:p>
            <a:pPr>
              <a:lnSpc>
                <a:spcPts val="2261"/>
              </a:lnSpc>
              <a:spcBef>
                <a:spcPts val="0"/>
              </a:spcBef>
              <a:spcAft>
                <a:spcPts val="0"/>
              </a:spcAft>
              <a:defRPr sz="1700" b="0">
                <a:solidFill>
                  <a:srgbClr val="173A42"/>
                </a:solidFill>
                <a:latin typeface="DejaVu Sans"/>
              </a:defRPr>
            </a:pPr>
            <a:r>
              <a:t>Review the score,</a:t>
            </a:r>
          </a:p>
          <a:p>
            <a:pPr>
              <a:lnSpc>
                <a:spcPts val="2261"/>
              </a:lnSpc>
              <a:spcBef>
                <a:spcPts val="0"/>
              </a:spcBef>
              <a:spcAft>
                <a:spcPts val="0"/>
              </a:spcAft>
              <a:defRPr sz="1700" b="0">
                <a:solidFill>
                  <a:srgbClr val="173A42"/>
                </a:solidFill>
                <a:latin typeface="DejaVu Sans"/>
              </a:defRPr>
            </a:pPr>
            <a:r>
              <a:t>completion state,</a:t>
            </a:r>
          </a:p>
          <a:p>
            <a:pPr>
              <a:lnSpc>
                <a:spcPts val="2261"/>
              </a:lnSpc>
              <a:spcBef>
                <a:spcPts val="0"/>
              </a:spcBef>
              <a:spcAft>
                <a:spcPts val="0"/>
              </a:spcAft>
              <a:defRPr sz="1700" b="0">
                <a:solidFill>
                  <a:srgbClr val="173A42"/>
                </a:solidFill>
                <a:latin typeface="DejaVu Sans"/>
              </a:defRPr>
            </a:pPr>
            <a:r>
              <a:t>and action trace.</a:t>
            </a:r>
          </a:p>
        </p:txBody>
      </p:sp>
      <p:sp>
        <p:nvSpPr>
          <p:cNvPr id="28" name="Rounded Rectangle 27"/>
          <p:cNvSpPr/>
          <p:nvPr/>
        </p:nvSpPr>
        <p:spPr>
          <a:xfrm>
            <a:off x="660400" y="5842000"/>
            <a:ext cx="10871200" cy="546100"/>
          </a:xfrm>
          <a:prstGeom prst="roundRect">
            <a:avLst>
              <a:gd name="adj" fmla="val 15000"/>
            </a:avLst>
          </a:prstGeom>
          <a:solidFill>
            <a:srgbClr val="E8F3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38200" y="5994400"/>
            <a:ext cx="10502900" cy="355600"/>
          </a:xfrm>
          <a:prstGeom prst="rect">
            <a:avLst/>
          </a:prstGeom>
          <a:noFill/>
        </p:spPr>
        <p:txBody>
          <a:bodyPr wrap="none" lIns="0" rIns="0" tIns="0" bIns="0">
            <a:spAutoFit/>
          </a:bodyPr>
          <a:lstStyle/>
          <a:p>
            <a:pPr>
              <a:lnSpc>
                <a:spcPts val="1380"/>
              </a:lnSpc>
              <a:spcBef>
                <a:spcPts val="0"/>
              </a:spcBef>
              <a:spcAft>
                <a:spcPts val="0"/>
              </a:spcAft>
              <a:defRPr sz="1200" b="1">
                <a:solidFill>
                  <a:srgbClr val="173A42"/>
                </a:solidFill>
                <a:latin typeface="DejaVu Sans"/>
              </a:defRPr>
            </a:pPr>
            <a:r>
              <a:t>Reusing a definition resets cash, stock, simulated time, and the real-time deadline.</a:t>
            </a:r>
          </a:p>
        </p:txBody>
      </p:sp>
      <p:cxnSp>
        <p:nvCxnSpPr>
          <p:cNvPr id="30" name="Connector 29"/>
          <p:cNvCxnSpPr/>
          <p:nvPr/>
        </p:nvCxnSpPr>
        <p:spPr>
          <a:xfrm>
            <a:off x="660400" y="6565900"/>
            <a:ext cx="10871200" cy="0"/>
          </a:xfrm>
          <a:prstGeom prst="line">
            <a:avLst/>
          </a:prstGeom>
          <a:ln w="8255">
            <a:solidFill>
              <a:srgbClr val="DCE6E2"/>
            </a:solidFill>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660400" y="6654800"/>
            <a:ext cx="8509000" cy="127000"/>
          </a:xfrm>
          <a:prstGeom prst="rect">
            <a:avLst/>
          </a:prstGeom>
          <a:noFill/>
        </p:spPr>
        <p:txBody>
          <a:bodyPr wrap="none" lIns="0" rIns="0" tIns="0" bIns="0">
            <a:spAutoFit/>
          </a:bodyPr>
          <a:lstStyle/>
          <a:p>
            <a:pPr>
              <a:lnSpc>
                <a:spcPts val="952"/>
              </a:lnSpc>
              <a:spcBef>
                <a:spcPts val="0"/>
              </a:spcBef>
              <a:spcAft>
                <a:spcPts val="0"/>
              </a:spcAft>
              <a:defRPr sz="750" b="0">
                <a:solidFill>
                  <a:srgbClr val="557079"/>
                </a:solidFill>
                <a:latin typeface="DejaVu Sans"/>
              </a:defRPr>
            </a:pPr>
            <a:r>
              <a:t>VENDING BENCH  /  PARTICIPANT BRIEFING</a:t>
            </a:r>
          </a:p>
        </p:txBody>
      </p:sp>
      <p:sp>
        <p:nvSpPr>
          <p:cNvPr id="32" name="TextBox 31"/>
          <p:cNvSpPr txBox="1"/>
          <p:nvPr/>
        </p:nvSpPr>
        <p:spPr>
          <a:xfrm>
            <a:off x="11188700" y="6642100"/>
            <a:ext cx="342900" cy="152400"/>
          </a:xfrm>
          <a:prstGeom prst="rect">
            <a:avLst/>
          </a:prstGeom>
          <a:noFill/>
        </p:spPr>
        <p:txBody>
          <a:bodyPr wrap="none" lIns="0" rIns="0" tIns="0" bIns="0">
            <a:spAutoFit/>
          </a:bodyPr>
          <a:lstStyle/>
          <a:p>
            <a:pPr>
              <a:lnSpc>
                <a:spcPts val="1143"/>
              </a:lnSpc>
              <a:spcBef>
                <a:spcPts val="0"/>
              </a:spcBef>
              <a:spcAft>
                <a:spcPts val="0"/>
              </a:spcAft>
              <a:defRPr sz="900" b="1">
                <a:solidFill>
                  <a:srgbClr val="008C7B"/>
                </a:solidFill>
                <a:latin typeface="DejaVu Sans"/>
              </a:defRPr>
            </a:pPr>
            <a:r>
              <a:t>03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5F8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60400" y="355600"/>
            <a:ext cx="10287000" cy="228600"/>
          </a:xfrm>
          <a:prstGeom prst="rect">
            <a:avLst/>
          </a:prstGeom>
          <a:noFill/>
        </p:spPr>
        <p:txBody>
          <a:bodyPr wrap="none" lIns="0" rIns="0" tIns="0" bIns="0">
            <a:spAutoFit/>
          </a:bodyPr>
          <a:lstStyle/>
          <a:p>
            <a:pPr>
              <a:lnSpc>
                <a:spcPts val="1270"/>
              </a:lnSpc>
              <a:spcBef>
                <a:spcPts val="0"/>
              </a:spcBef>
              <a:spcAft>
                <a:spcPts val="0"/>
              </a:spcAft>
              <a:defRPr sz="1000" b="1">
                <a:solidFill>
                  <a:srgbClr val="008C7B"/>
                </a:solidFill>
                <a:latin typeface="DejaVu Sans"/>
              </a:defRPr>
            </a:pPr>
            <a:r>
              <a:t>02 / THE ENVIRONMENT</a:t>
            </a:r>
          </a:p>
        </p:txBody>
      </p:sp>
      <p:sp>
        <p:nvSpPr>
          <p:cNvPr id="4" name="TextBox 3"/>
          <p:cNvSpPr txBox="1"/>
          <p:nvPr/>
        </p:nvSpPr>
        <p:spPr>
          <a:xfrm>
            <a:off x="660400" y="825500"/>
            <a:ext cx="10871200" cy="1143000"/>
          </a:xfrm>
          <a:prstGeom prst="rect">
            <a:avLst/>
          </a:prstGeom>
          <a:noFill/>
        </p:spPr>
        <p:txBody>
          <a:bodyPr wrap="none" lIns="0" rIns="0" tIns="0" bIns="0">
            <a:spAutoFit/>
          </a:bodyPr>
          <a:lstStyle/>
          <a:p>
            <a:pPr>
              <a:lnSpc>
                <a:spcPts val="3596"/>
              </a:lnSpc>
              <a:spcBef>
                <a:spcPts val="0"/>
              </a:spcBef>
              <a:spcAft>
                <a:spcPts val="0"/>
              </a:spcAft>
              <a:defRPr sz="3100" b="1">
                <a:solidFill>
                  <a:srgbClr val="173A42"/>
                </a:solidFill>
                <a:latin typeface="DejaVu Sans"/>
              </a:defRPr>
            </a:pPr>
            <a:r>
              <a:t>Learn from quotes and realized sales.</a:t>
            </a:r>
          </a:p>
        </p:txBody>
      </p:sp>
      <p:sp>
        <p:nvSpPr>
          <p:cNvPr id="5" name="Rounded Rectangle 4"/>
          <p:cNvSpPr/>
          <p:nvPr/>
        </p:nvSpPr>
        <p:spPr>
          <a:xfrm>
            <a:off x="660400" y="2209800"/>
            <a:ext cx="5308600" cy="3352800"/>
          </a:xfrm>
          <a:prstGeom prst="roundRect">
            <a:avLst>
              <a:gd name="adj" fmla="val 3787"/>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60400" y="2209800"/>
            <a:ext cx="5308600" cy="50800"/>
          </a:xfrm>
          <a:prstGeom prst="rect">
            <a:avLst/>
          </a:prstGeom>
          <a:solidFill>
            <a:srgbClr val="008C7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39800" y="2489200"/>
            <a:ext cx="4749800" cy="444500"/>
          </a:xfrm>
          <a:prstGeom prst="rect">
            <a:avLst/>
          </a:prstGeom>
          <a:noFill/>
        </p:spPr>
        <p:txBody>
          <a:bodyPr wrap="none" lIns="0" rIns="0" tIns="0" bIns="0">
            <a:spAutoFit/>
          </a:bodyPr>
          <a:lstStyle/>
          <a:p>
            <a:pPr>
              <a:lnSpc>
                <a:spcPts val="1524"/>
              </a:lnSpc>
              <a:spcBef>
                <a:spcPts val="0"/>
              </a:spcBef>
              <a:spcAft>
                <a:spcPts val="0"/>
              </a:spcAft>
              <a:defRPr sz="1200" b="1">
                <a:solidFill>
                  <a:srgbClr val="008C7B"/>
                </a:solidFill>
                <a:latin typeface="DejaVu Sans"/>
              </a:defRPr>
            </a:pPr>
            <a:r>
              <a:t>AVAILABLE TO YOUR HARNESS</a:t>
            </a:r>
          </a:p>
        </p:txBody>
      </p:sp>
      <p:sp>
        <p:nvSpPr>
          <p:cNvPr id="8" name="Rounded Rectangle 7"/>
          <p:cNvSpPr/>
          <p:nvPr/>
        </p:nvSpPr>
        <p:spPr>
          <a:xfrm>
            <a:off x="939800" y="3073400"/>
            <a:ext cx="63500" cy="63500"/>
          </a:xfrm>
          <a:prstGeom prst="roundRect">
            <a:avLst>
              <a:gd name="adj" fmla="val 15000"/>
            </a:avLst>
          </a:prstGeom>
          <a:solidFill>
            <a:srgbClr val="008C7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168400" y="2997200"/>
            <a:ext cx="4508500" cy="1397000"/>
          </a:xfrm>
          <a:prstGeom prst="rect">
            <a:avLst/>
          </a:prstGeom>
          <a:noFill/>
        </p:spPr>
        <p:txBody>
          <a:bodyPr wrap="none" lIns="0" rIns="0" tIns="0" bIns="0">
            <a:spAutoFit/>
          </a:bodyPr>
          <a:lstStyle/>
          <a:p>
            <a:pPr>
              <a:lnSpc>
                <a:spcPts val="2160"/>
              </a:lnSpc>
              <a:spcBef>
                <a:spcPts val="0"/>
              </a:spcBef>
              <a:spcAft>
                <a:spcPts val="0"/>
              </a:spcAft>
              <a:defRPr sz="1600" b="0">
                <a:solidFill>
                  <a:srgbClr val="173A42"/>
                </a:solidFill>
                <a:latin typeface="DejaVu Sans"/>
              </a:defRPr>
            </a:pPr>
            <a:r>
              <a:t>Product names and reference prices</a:t>
            </a:r>
          </a:p>
        </p:txBody>
      </p:sp>
      <p:sp>
        <p:nvSpPr>
          <p:cNvPr id="10" name="Rounded Rectangle 9"/>
          <p:cNvSpPr/>
          <p:nvPr/>
        </p:nvSpPr>
        <p:spPr>
          <a:xfrm>
            <a:off x="939800" y="3429000"/>
            <a:ext cx="63500" cy="63500"/>
          </a:xfrm>
          <a:prstGeom prst="roundRect">
            <a:avLst>
              <a:gd name="adj" fmla="val 15000"/>
            </a:avLst>
          </a:prstGeom>
          <a:solidFill>
            <a:srgbClr val="008C7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168400" y="3352800"/>
            <a:ext cx="4508500" cy="1397000"/>
          </a:xfrm>
          <a:prstGeom prst="rect">
            <a:avLst/>
          </a:prstGeom>
          <a:noFill/>
        </p:spPr>
        <p:txBody>
          <a:bodyPr wrap="none" lIns="0" rIns="0" tIns="0" bIns="0">
            <a:spAutoFit/>
          </a:bodyPr>
          <a:lstStyle/>
          <a:p>
            <a:pPr>
              <a:lnSpc>
                <a:spcPts val="2160"/>
              </a:lnSpc>
              <a:spcBef>
                <a:spcPts val="0"/>
              </a:spcBef>
              <a:spcAft>
                <a:spcPts val="0"/>
              </a:spcAft>
              <a:defRPr sz="1600" b="0">
                <a:solidFill>
                  <a:srgbClr val="173A42"/>
                </a:solidFill>
                <a:latin typeface="DejaVu Sans"/>
              </a:defRPr>
            </a:pPr>
            <a:r>
              <a:t>Listed quotes and negotiation replies</a:t>
            </a:r>
          </a:p>
        </p:txBody>
      </p:sp>
      <p:sp>
        <p:nvSpPr>
          <p:cNvPr id="12" name="Rounded Rectangle 11"/>
          <p:cNvSpPr/>
          <p:nvPr/>
        </p:nvSpPr>
        <p:spPr>
          <a:xfrm>
            <a:off x="939800" y="3784600"/>
            <a:ext cx="63500" cy="63500"/>
          </a:xfrm>
          <a:prstGeom prst="roundRect">
            <a:avLst>
              <a:gd name="adj" fmla="val 15000"/>
            </a:avLst>
          </a:prstGeom>
          <a:solidFill>
            <a:srgbClr val="008C7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168400" y="3708400"/>
            <a:ext cx="4508500" cy="1397000"/>
          </a:xfrm>
          <a:prstGeom prst="rect">
            <a:avLst/>
          </a:prstGeom>
          <a:noFill/>
        </p:spPr>
        <p:txBody>
          <a:bodyPr wrap="none" lIns="0" rIns="0" tIns="0" bIns="0">
            <a:spAutoFit/>
          </a:bodyPr>
          <a:lstStyle/>
          <a:p>
            <a:pPr>
              <a:lnSpc>
                <a:spcPts val="2160"/>
              </a:lnSpc>
              <a:spcBef>
                <a:spcPts val="0"/>
              </a:spcBef>
              <a:spcAft>
                <a:spcPts val="0"/>
              </a:spcAft>
              <a:defRPr sz="1600" b="0">
                <a:solidFill>
                  <a:srgbClr val="173A42"/>
                </a:solidFill>
                <a:latin typeface="DejaVu Sans"/>
              </a:defRPr>
            </a:pPr>
            <a:r>
              <a:t>Balances, stock, and selling prices</a:t>
            </a:r>
          </a:p>
        </p:txBody>
      </p:sp>
      <p:sp>
        <p:nvSpPr>
          <p:cNvPr id="14" name="Rounded Rectangle 13"/>
          <p:cNvSpPr/>
          <p:nvPr/>
        </p:nvSpPr>
        <p:spPr>
          <a:xfrm>
            <a:off x="939800" y="4140200"/>
            <a:ext cx="63500" cy="63500"/>
          </a:xfrm>
          <a:prstGeom prst="roundRect">
            <a:avLst>
              <a:gd name="adj" fmla="val 15000"/>
            </a:avLst>
          </a:prstGeom>
          <a:solidFill>
            <a:srgbClr val="008C7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168400" y="4064000"/>
            <a:ext cx="4508500" cy="1397000"/>
          </a:xfrm>
          <a:prstGeom prst="rect">
            <a:avLst/>
          </a:prstGeom>
          <a:noFill/>
        </p:spPr>
        <p:txBody>
          <a:bodyPr wrap="none" lIns="0" rIns="0" tIns="0" bIns="0">
            <a:spAutoFit/>
          </a:bodyPr>
          <a:lstStyle/>
          <a:p>
            <a:pPr>
              <a:lnSpc>
                <a:spcPts val="2160"/>
              </a:lnSpc>
              <a:spcBef>
                <a:spcPts val="0"/>
              </a:spcBef>
              <a:spcAft>
                <a:spcPts val="0"/>
              </a:spcAft>
              <a:defRPr sz="1600" b="0">
                <a:solidFill>
                  <a:srgbClr val="173A42"/>
                </a:solidFill>
                <a:latin typeface="DejaVu Sans"/>
              </a:defRPr>
            </a:pPr>
            <a:r>
              <a:t>Realized sales, time costs, and rules</a:t>
            </a:r>
          </a:p>
        </p:txBody>
      </p:sp>
      <p:sp>
        <p:nvSpPr>
          <p:cNvPr id="16" name="Rounded Rectangle 15"/>
          <p:cNvSpPr/>
          <p:nvPr/>
        </p:nvSpPr>
        <p:spPr>
          <a:xfrm>
            <a:off x="6223000" y="2209800"/>
            <a:ext cx="5308600" cy="3352800"/>
          </a:xfrm>
          <a:prstGeom prst="roundRect">
            <a:avLst>
              <a:gd name="adj" fmla="val 3787"/>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223000" y="2209800"/>
            <a:ext cx="5308600" cy="50800"/>
          </a:xfrm>
          <a:prstGeom prst="rect">
            <a:avLst/>
          </a:prstGeom>
          <a:solidFill>
            <a:srgbClr val="5E8DC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502400" y="2489200"/>
            <a:ext cx="4749800" cy="444500"/>
          </a:xfrm>
          <a:prstGeom prst="rect">
            <a:avLst/>
          </a:prstGeom>
          <a:noFill/>
        </p:spPr>
        <p:txBody>
          <a:bodyPr wrap="none" lIns="0" rIns="0" tIns="0" bIns="0">
            <a:spAutoFit/>
          </a:bodyPr>
          <a:lstStyle/>
          <a:p>
            <a:pPr>
              <a:lnSpc>
                <a:spcPts val="1524"/>
              </a:lnSpc>
              <a:spcBef>
                <a:spcPts val="0"/>
              </a:spcBef>
              <a:spcAft>
                <a:spcPts val="0"/>
              </a:spcAft>
              <a:defRPr sz="1200" b="1">
                <a:solidFill>
                  <a:srgbClr val="557079"/>
                </a:solidFill>
                <a:latin typeface="DejaVu Sans"/>
              </a:defRPr>
            </a:pPr>
            <a:r>
              <a:t>KEPT WITH THE EVALUATOR</a:t>
            </a:r>
          </a:p>
        </p:txBody>
      </p:sp>
      <p:sp>
        <p:nvSpPr>
          <p:cNvPr id="19" name="Rounded Rectangle 18"/>
          <p:cNvSpPr/>
          <p:nvPr/>
        </p:nvSpPr>
        <p:spPr>
          <a:xfrm>
            <a:off x="6502400" y="3073400"/>
            <a:ext cx="63500" cy="63500"/>
          </a:xfrm>
          <a:prstGeom prst="roundRect">
            <a:avLst>
              <a:gd name="adj" fmla="val 15000"/>
            </a:avLst>
          </a:prstGeom>
          <a:solidFill>
            <a:srgbClr val="008C7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731000" y="2997200"/>
            <a:ext cx="4508500" cy="1397000"/>
          </a:xfrm>
          <a:prstGeom prst="rect">
            <a:avLst/>
          </a:prstGeom>
          <a:noFill/>
        </p:spPr>
        <p:txBody>
          <a:bodyPr wrap="none" lIns="0" rIns="0" tIns="0" bIns="0">
            <a:spAutoFit/>
          </a:bodyPr>
          <a:lstStyle/>
          <a:p>
            <a:pPr>
              <a:lnSpc>
                <a:spcPts val="2160"/>
              </a:lnSpc>
              <a:spcBef>
                <a:spcPts val="0"/>
              </a:spcBef>
              <a:spcAft>
                <a:spcPts val="0"/>
              </a:spcAft>
              <a:defRPr sz="1600" b="0">
                <a:solidFill>
                  <a:srgbClr val="173A42"/>
                </a:solidFill>
                <a:latin typeface="DejaVu Sans"/>
              </a:defRPr>
            </a:pPr>
            <a:r>
              <a:t>Supplier minimums and category labels</a:t>
            </a:r>
          </a:p>
        </p:txBody>
      </p:sp>
      <p:sp>
        <p:nvSpPr>
          <p:cNvPr id="21" name="Rounded Rectangle 20"/>
          <p:cNvSpPr/>
          <p:nvPr/>
        </p:nvSpPr>
        <p:spPr>
          <a:xfrm>
            <a:off x="6502400" y="3429000"/>
            <a:ext cx="63500" cy="63500"/>
          </a:xfrm>
          <a:prstGeom prst="roundRect">
            <a:avLst>
              <a:gd name="adj" fmla="val 15000"/>
            </a:avLst>
          </a:prstGeom>
          <a:solidFill>
            <a:srgbClr val="008C7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731000" y="3352800"/>
            <a:ext cx="4508500" cy="1397000"/>
          </a:xfrm>
          <a:prstGeom prst="rect">
            <a:avLst/>
          </a:prstGeom>
          <a:noFill/>
        </p:spPr>
        <p:txBody>
          <a:bodyPr wrap="none" lIns="0" rIns="0" tIns="0" bIns="0">
            <a:spAutoFit/>
          </a:bodyPr>
          <a:lstStyle/>
          <a:p>
            <a:pPr>
              <a:lnSpc>
                <a:spcPts val="2160"/>
              </a:lnSpc>
              <a:spcBef>
                <a:spcPts val="0"/>
              </a:spcBef>
              <a:spcAft>
                <a:spcPts val="0"/>
              </a:spcAft>
              <a:defRPr sz="1600" b="0">
                <a:solidFill>
                  <a:srgbClr val="173A42"/>
                </a:solidFill>
                <a:latin typeface="DejaVu Sans"/>
              </a:defRPr>
            </a:pPr>
            <a:r>
              <a:t>Latent demand and elasticity</a:t>
            </a:r>
          </a:p>
        </p:txBody>
      </p:sp>
      <p:sp>
        <p:nvSpPr>
          <p:cNvPr id="23" name="Rounded Rectangle 22"/>
          <p:cNvSpPr/>
          <p:nvPr/>
        </p:nvSpPr>
        <p:spPr>
          <a:xfrm>
            <a:off x="6502400" y="3784600"/>
            <a:ext cx="63500" cy="63500"/>
          </a:xfrm>
          <a:prstGeom prst="roundRect">
            <a:avLst>
              <a:gd name="adj" fmla="val 15000"/>
            </a:avLst>
          </a:prstGeom>
          <a:solidFill>
            <a:srgbClr val="008C7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731000" y="3708400"/>
            <a:ext cx="4508500" cy="1397000"/>
          </a:xfrm>
          <a:prstGeom prst="rect">
            <a:avLst/>
          </a:prstGeom>
          <a:noFill/>
        </p:spPr>
        <p:txBody>
          <a:bodyPr wrap="none" lIns="0" rIns="0" tIns="0" bIns="0">
            <a:spAutoFit/>
          </a:bodyPr>
          <a:lstStyle/>
          <a:p>
            <a:pPr>
              <a:lnSpc>
                <a:spcPts val="2160"/>
              </a:lnSpc>
              <a:spcBef>
                <a:spcPts val="0"/>
              </a:spcBef>
              <a:spcAft>
                <a:spcPts val="0"/>
              </a:spcAft>
              <a:defRPr sz="1600" b="0">
                <a:solidFill>
                  <a:srgbClr val="173A42"/>
                </a:solidFill>
                <a:latin typeface="DejaVu Sans"/>
              </a:defRPr>
            </a:pPr>
            <a:r>
              <a:t>Seed and future demand stream</a:t>
            </a:r>
          </a:p>
        </p:txBody>
      </p:sp>
      <p:sp>
        <p:nvSpPr>
          <p:cNvPr id="25" name="Rounded Rectangle 24"/>
          <p:cNvSpPr/>
          <p:nvPr/>
        </p:nvSpPr>
        <p:spPr>
          <a:xfrm>
            <a:off x="6502400" y="4140200"/>
            <a:ext cx="63500" cy="63500"/>
          </a:xfrm>
          <a:prstGeom prst="roundRect">
            <a:avLst>
              <a:gd name="adj" fmla="val 15000"/>
            </a:avLst>
          </a:prstGeom>
          <a:solidFill>
            <a:srgbClr val="008C7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731000" y="4064000"/>
            <a:ext cx="4508500" cy="1397000"/>
          </a:xfrm>
          <a:prstGeom prst="rect">
            <a:avLst/>
          </a:prstGeom>
          <a:noFill/>
        </p:spPr>
        <p:txBody>
          <a:bodyPr wrap="none" lIns="0" rIns="0" tIns="0" bIns="0">
            <a:spAutoFit/>
          </a:bodyPr>
          <a:lstStyle/>
          <a:p>
            <a:pPr>
              <a:lnSpc>
                <a:spcPts val="2160"/>
              </a:lnSpc>
              <a:spcBef>
                <a:spcPts val="0"/>
              </a:spcBef>
              <a:spcAft>
                <a:spcPts val="0"/>
              </a:spcAft>
              <a:defRPr sz="1600" b="0">
                <a:solidFill>
                  <a:srgbClr val="173A42"/>
                </a:solidFill>
                <a:latin typeface="DejaVu Sans"/>
              </a:defRPr>
            </a:pPr>
            <a:r>
              <a:t>Private test definition and service logs</a:t>
            </a:r>
          </a:p>
        </p:txBody>
      </p:sp>
      <p:sp>
        <p:nvSpPr>
          <p:cNvPr id="27" name="Rounded Rectangle 26"/>
          <p:cNvSpPr/>
          <p:nvPr/>
        </p:nvSpPr>
        <p:spPr>
          <a:xfrm>
            <a:off x="660400" y="5842000"/>
            <a:ext cx="10871200" cy="546100"/>
          </a:xfrm>
          <a:prstGeom prst="roundRect">
            <a:avLst>
              <a:gd name="adj" fmla="val 15000"/>
            </a:avLst>
          </a:prstGeom>
          <a:solidFill>
            <a:srgbClr val="E8F3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38200" y="5994400"/>
            <a:ext cx="10502900" cy="355600"/>
          </a:xfrm>
          <a:prstGeom prst="rect">
            <a:avLst/>
          </a:prstGeom>
          <a:noFill/>
        </p:spPr>
        <p:txBody>
          <a:bodyPr wrap="none" lIns="0" rIns="0" tIns="0" bIns="0">
            <a:spAutoFit/>
          </a:bodyPr>
          <a:lstStyle/>
          <a:p>
            <a:pPr>
              <a:lnSpc>
                <a:spcPts val="1380"/>
              </a:lnSpc>
              <a:spcBef>
                <a:spcPts val="0"/>
              </a:spcBef>
              <a:spcAft>
                <a:spcPts val="0"/>
              </a:spcAft>
              <a:defRPr sz="1200" b="1">
                <a:solidFill>
                  <a:srgbClr val="173A42"/>
                </a:solidFill>
                <a:latin typeface="DejaVu Sans"/>
              </a:defRPr>
            </a:pPr>
            <a:r>
              <a:t>Treat the public API as the information boundary for the test.</a:t>
            </a:r>
          </a:p>
        </p:txBody>
      </p:sp>
      <p:cxnSp>
        <p:nvCxnSpPr>
          <p:cNvPr id="29" name="Connector 28"/>
          <p:cNvCxnSpPr/>
          <p:nvPr/>
        </p:nvCxnSpPr>
        <p:spPr>
          <a:xfrm>
            <a:off x="660400" y="6565900"/>
            <a:ext cx="10871200" cy="0"/>
          </a:xfrm>
          <a:prstGeom prst="line">
            <a:avLst/>
          </a:prstGeom>
          <a:ln w="8255">
            <a:solidFill>
              <a:srgbClr val="DCE6E2"/>
            </a:solidFill>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660400" y="6654800"/>
            <a:ext cx="8509000" cy="127000"/>
          </a:xfrm>
          <a:prstGeom prst="rect">
            <a:avLst/>
          </a:prstGeom>
          <a:noFill/>
        </p:spPr>
        <p:txBody>
          <a:bodyPr wrap="none" lIns="0" rIns="0" tIns="0" bIns="0">
            <a:spAutoFit/>
          </a:bodyPr>
          <a:lstStyle/>
          <a:p>
            <a:pPr>
              <a:lnSpc>
                <a:spcPts val="952"/>
              </a:lnSpc>
              <a:spcBef>
                <a:spcPts val="0"/>
              </a:spcBef>
              <a:spcAft>
                <a:spcPts val="0"/>
              </a:spcAft>
              <a:defRPr sz="750" b="0">
                <a:solidFill>
                  <a:srgbClr val="557079"/>
                </a:solidFill>
                <a:latin typeface="DejaVu Sans"/>
              </a:defRPr>
            </a:pPr>
            <a:r>
              <a:t>VENDING BENCH  /  PARTICIPANT BRIEFING</a:t>
            </a:r>
          </a:p>
        </p:txBody>
      </p:sp>
      <p:sp>
        <p:nvSpPr>
          <p:cNvPr id="31" name="TextBox 30"/>
          <p:cNvSpPr txBox="1"/>
          <p:nvPr/>
        </p:nvSpPr>
        <p:spPr>
          <a:xfrm>
            <a:off x="11188700" y="6642100"/>
            <a:ext cx="342900" cy="152400"/>
          </a:xfrm>
          <a:prstGeom prst="rect">
            <a:avLst/>
          </a:prstGeom>
          <a:noFill/>
        </p:spPr>
        <p:txBody>
          <a:bodyPr wrap="none" lIns="0" rIns="0" tIns="0" bIns="0">
            <a:spAutoFit/>
          </a:bodyPr>
          <a:lstStyle/>
          <a:p>
            <a:pPr>
              <a:lnSpc>
                <a:spcPts val="1143"/>
              </a:lnSpc>
              <a:spcBef>
                <a:spcPts val="0"/>
              </a:spcBef>
              <a:spcAft>
                <a:spcPts val="0"/>
              </a:spcAft>
              <a:defRPr sz="900" b="1">
                <a:solidFill>
                  <a:srgbClr val="008C7B"/>
                </a:solidFill>
                <a:latin typeface="DejaVu Sans"/>
              </a:defRPr>
            </a:pPr>
            <a:r>
              <a:t>04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5F8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60400" y="355600"/>
            <a:ext cx="10287000" cy="228600"/>
          </a:xfrm>
          <a:prstGeom prst="rect">
            <a:avLst/>
          </a:prstGeom>
          <a:noFill/>
        </p:spPr>
        <p:txBody>
          <a:bodyPr wrap="none" lIns="0" rIns="0" tIns="0" bIns="0">
            <a:spAutoFit/>
          </a:bodyPr>
          <a:lstStyle/>
          <a:p>
            <a:pPr>
              <a:lnSpc>
                <a:spcPts val="1270"/>
              </a:lnSpc>
              <a:spcBef>
                <a:spcPts val="0"/>
              </a:spcBef>
              <a:spcAft>
                <a:spcPts val="0"/>
              </a:spcAft>
              <a:defRPr sz="1000" b="1">
                <a:solidFill>
                  <a:srgbClr val="008C7B"/>
                </a:solidFill>
                <a:latin typeface="DejaVu Sans"/>
              </a:defRPr>
            </a:pPr>
            <a:r>
              <a:t>02 / THE ENVIRONMENT</a:t>
            </a:r>
          </a:p>
        </p:txBody>
      </p:sp>
      <p:sp>
        <p:nvSpPr>
          <p:cNvPr id="4" name="TextBox 3"/>
          <p:cNvSpPr txBox="1"/>
          <p:nvPr/>
        </p:nvSpPr>
        <p:spPr>
          <a:xfrm>
            <a:off x="660400" y="825500"/>
            <a:ext cx="10871200" cy="1143000"/>
          </a:xfrm>
          <a:prstGeom prst="rect">
            <a:avLst/>
          </a:prstGeom>
          <a:noFill/>
        </p:spPr>
        <p:txBody>
          <a:bodyPr wrap="none" lIns="0" rIns="0" tIns="0" bIns="0">
            <a:spAutoFit/>
          </a:bodyPr>
          <a:lstStyle/>
          <a:p>
            <a:pPr>
              <a:lnSpc>
                <a:spcPts val="3596"/>
              </a:lnSpc>
              <a:spcBef>
                <a:spcPts val="0"/>
              </a:spcBef>
              <a:spcAft>
                <a:spcPts val="0"/>
              </a:spcAft>
              <a:defRPr sz="3100" b="1">
                <a:solidFill>
                  <a:srgbClr val="173A42"/>
                </a:solidFill>
                <a:latin typeface="DejaVu Sans"/>
              </a:defRPr>
            </a:pPr>
            <a:r>
              <a:t>A small business with tight operating</a:t>
            </a:r>
          </a:p>
          <a:p>
            <a:pPr>
              <a:lnSpc>
                <a:spcPts val="3596"/>
              </a:lnSpc>
              <a:spcBef>
                <a:spcPts val="0"/>
              </a:spcBef>
              <a:spcAft>
                <a:spcPts val="0"/>
              </a:spcAft>
              <a:defRPr sz="3100" b="1">
                <a:solidFill>
                  <a:srgbClr val="173A42"/>
                </a:solidFill>
                <a:latin typeface="DejaVu Sans"/>
              </a:defRPr>
            </a:pPr>
            <a:r>
              <a:t>constraints.</a:t>
            </a:r>
          </a:p>
        </p:txBody>
      </p:sp>
      <p:sp>
        <p:nvSpPr>
          <p:cNvPr id="5" name="Rounded Rectangle 4"/>
          <p:cNvSpPr/>
          <p:nvPr/>
        </p:nvSpPr>
        <p:spPr>
          <a:xfrm>
            <a:off x="660400" y="2247900"/>
            <a:ext cx="2565400" cy="15875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76300" y="2451100"/>
            <a:ext cx="2133600" cy="622300"/>
          </a:xfrm>
          <a:prstGeom prst="rect">
            <a:avLst/>
          </a:prstGeom>
          <a:noFill/>
        </p:spPr>
        <p:txBody>
          <a:bodyPr wrap="none" lIns="0" rIns="0" tIns="0" bIns="0">
            <a:spAutoFit/>
          </a:bodyPr>
          <a:lstStyle/>
          <a:p>
            <a:pPr>
              <a:lnSpc>
                <a:spcPts val="3429"/>
              </a:lnSpc>
              <a:spcBef>
                <a:spcPts val="0"/>
              </a:spcBef>
              <a:spcAft>
                <a:spcPts val="0"/>
              </a:spcAft>
              <a:defRPr sz="2700" b="1">
                <a:solidFill>
                  <a:srgbClr val="008C7B"/>
                </a:solidFill>
                <a:latin typeface="DejaVu Sans"/>
              </a:defRPr>
            </a:pPr>
            <a:r>
              <a:t>$500</a:t>
            </a:r>
          </a:p>
        </p:txBody>
      </p:sp>
      <p:sp>
        <p:nvSpPr>
          <p:cNvPr id="7" name="TextBox 6"/>
          <p:cNvSpPr txBox="1"/>
          <p:nvPr/>
        </p:nvSpPr>
        <p:spPr>
          <a:xfrm>
            <a:off x="876300" y="3187700"/>
            <a:ext cx="2133600" cy="546100"/>
          </a:xfrm>
          <a:prstGeom prst="rect">
            <a:avLst/>
          </a:prstGeom>
          <a:noFill/>
        </p:spPr>
        <p:txBody>
          <a:bodyPr wrap="none" lIns="0" rIns="0" tIns="0" bIns="0">
            <a:spAutoFit/>
          </a:bodyPr>
          <a:lstStyle/>
          <a:p>
            <a:pPr>
              <a:lnSpc>
                <a:spcPts val="1714"/>
              </a:lnSpc>
              <a:spcBef>
                <a:spcPts val="0"/>
              </a:spcBef>
              <a:spcAft>
                <a:spcPts val="0"/>
              </a:spcAft>
              <a:defRPr sz="1350" b="0">
                <a:solidFill>
                  <a:srgbClr val="557079"/>
                </a:solidFill>
                <a:latin typeface="DejaVu Sans"/>
              </a:defRPr>
            </a:pPr>
            <a:r>
              <a:t>Starting spendable cash</a:t>
            </a:r>
          </a:p>
        </p:txBody>
      </p:sp>
      <p:sp>
        <p:nvSpPr>
          <p:cNvPr id="8" name="Rounded Rectangle 7"/>
          <p:cNvSpPr/>
          <p:nvPr/>
        </p:nvSpPr>
        <p:spPr>
          <a:xfrm>
            <a:off x="3429000" y="2247900"/>
            <a:ext cx="2565400" cy="15875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644900" y="2451100"/>
            <a:ext cx="2133600" cy="622300"/>
          </a:xfrm>
          <a:prstGeom prst="rect">
            <a:avLst/>
          </a:prstGeom>
          <a:noFill/>
        </p:spPr>
        <p:txBody>
          <a:bodyPr wrap="none" lIns="0" rIns="0" tIns="0" bIns="0">
            <a:spAutoFit/>
          </a:bodyPr>
          <a:lstStyle/>
          <a:p>
            <a:pPr>
              <a:lnSpc>
                <a:spcPts val="3429"/>
              </a:lnSpc>
              <a:spcBef>
                <a:spcPts val="0"/>
              </a:spcBef>
              <a:spcAft>
                <a:spcPts val="0"/>
              </a:spcAft>
              <a:defRPr sz="2700" b="1">
                <a:solidFill>
                  <a:srgbClr val="008C7B"/>
                </a:solidFill>
                <a:latin typeface="DejaVu Sans"/>
              </a:defRPr>
            </a:pPr>
            <a:r>
              <a:t>$2 / day</a:t>
            </a:r>
          </a:p>
        </p:txBody>
      </p:sp>
      <p:sp>
        <p:nvSpPr>
          <p:cNvPr id="10" name="TextBox 9"/>
          <p:cNvSpPr txBox="1"/>
          <p:nvPr/>
        </p:nvSpPr>
        <p:spPr>
          <a:xfrm>
            <a:off x="3644900" y="3187700"/>
            <a:ext cx="2133600" cy="546100"/>
          </a:xfrm>
          <a:prstGeom prst="rect">
            <a:avLst/>
          </a:prstGeom>
          <a:noFill/>
        </p:spPr>
        <p:txBody>
          <a:bodyPr wrap="none" lIns="0" rIns="0" tIns="0" bIns="0">
            <a:spAutoFit/>
          </a:bodyPr>
          <a:lstStyle/>
          <a:p>
            <a:pPr>
              <a:lnSpc>
                <a:spcPts val="1714"/>
              </a:lnSpc>
              <a:spcBef>
                <a:spcPts val="0"/>
              </a:spcBef>
              <a:spcAft>
                <a:spcPts val="0"/>
              </a:spcAft>
              <a:defRPr sz="1350" b="0">
                <a:solidFill>
                  <a:srgbClr val="557079"/>
                </a:solidFill>
                <a:latin typeface="DejaVu Sans"/>
              </a:defRPr>
            </a:pPr>
            <a:r>
              <a:t>Fee paid from</a:t>
            </a:r>
          </a:p>
          <a:p>
            <a:pPr>
              <a:lnSpc>
                <a:spcPts val="1714"/>
              </a:lnSpc>
              <a:spcBef>
                <a:spcPts val="0"/>
              </a:spcBef>
              <a:spcAft>
                <a:spcPts val="0"/>
              </a:spcAft>
              <a:defRPr sz="1350" b="0">
                <a:solidFill>
                  <a:srgbClr val="557079"/>
                </a:solidFill>
                <a:latin typeface="DejaVu Sans"/>
              </a:defRPr>
            </a:pPr>
            <a:r>
              <a:t>spendable cash</a:t>
            </a:r>
          </a:p>
        </p:txBody>
      </p:sp>
      <p:sp>
        <p:nvSpPr>
          <p:cNvPr id="11" name="Rounded Rectangle 10"/>
          <p:cNvSpPr/>
          <p:nvPr/>
        </p:nvSpPr>
        <p:spPr>
          <a:xfrm>
            <a:off x="6197600" y="2247900"/>
            <a:ext cx="2565400" cy="15875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13500" y="2451100"/>
            <a:ext cx="2133600" cy="622300"/>
          </a:xfrm>
          <a:prstGeom prst="rect">
            <a:avLst/>
          </a:prstGeom>
          <a:noFill/>
        </p:spPr>
        <p:txBody>
          <a:bodyPr wrap="none" lIns="0" rIns="0" tIns="0" bIns="0">
            <a:spAutoFit/>
          </a:bodyPr>
          <a:lstStyle/>
          <a:p>
            <a:pPr>
              <a:lnSpc>
                <a:spcPts val="3429"/>
              </a:lnSpc>
              <a:spcBef>
                <a:spcPts val="0"/>
              </a:spcBef>
              <a:spcAft>
                <a:spcPts val="0"/>
              </a:spcAft>
              <a:defRPr sz="2700" b="1">
                <a:solidFill>
                  <a:srgbClr val="008C7B"/>
                </a:solidFill>
                <a:latin typeface="DejaVu Sans"/>
              </a:defRPr>
            </a:pPr>
            <a:r>
              <a:t>120 units</a:t>
            </a:r>
          </a:p>
        </p:txBody>
      </p:sp>
      <p:sp>
        <p:nvSpPr>
          <p:cNvPr id="13" name="TextBox 12"/>
          <p:cNvSpPr txBox="1"/>
          <p:nvPr/>
        </p:nvSpPr>
        <p:spPr>
          <a:xfrm>
            <a:off x="6413500" y="3187700"/>
            <a:ext cx="2133600" cy="546100"/>
          </a:xfrm>
          <a:prstGeom prst="rect">
            <a:avLst/>
          </a:prstGeom>
          <a:noFill/>
        </p:spPr>
        <p:txBody>
          <a:bodyPr wrap="none" lIns="0" rIns="0" tIns="0" bIns="0">
            <a:spAutoFit/>
          </a:bodyPr>
          <a:lstStyle/>
          <a:p>
            <a:pPr>
              <a:lnSpc>
                <a:spcPts val="1714"/>
              </a:lnSpc>
              <a:spcBef>
                <a:spcPts val="0"/>
              </a:spcBef>
              <a:spcAft>
                <a:spcPts val="0"/>
              </a:spcAft>
              <a:defRPr sz="1350" b="0">
                <a:solidFill>
                  <a:srgbClr val="557079"/>
                </a:solidFill>
                <a:latin typeface="DejaVu Sans"/>
              </a:defRPr>
            </a:pPr>
            <a:r>
              <a:t>4 rows × 3 slots × 10</a:t>
            </a:r>
          </a:p>
          <a:p>
            <a:pPr>
              <a:lnSpc>
                <a:spcPts val="1714"/>
              </a:lnSpc>
              <a:spcBef>
                <a:spcPts val="0"/>
              </a:spcBef>
              <a:spcAft>
                <a:spcPts val="0"/>
              </a:spcAft>
              <a:defRPr sz="1350" b="0">
                <a:solidFill>
                  <a:srgbClr val="557079"/>
                </a:solidFill>
                <a:latin typeface="DejaVu Sans"/>
              </a:defRPr>
            </a:pPr>
            <a:r>
              <a:t>units</a:t>
            </a:r>
          </a:p>
        </p:txBody>
      </p:sp>
      <p:sp>
        <p:nvSpPr>
          <p:cNvPr id="14" name="Rounded Rectangle 13"/>
          <p:cNvSpPr/>
          <p:nvPr/>
        </p:nvSpPr>
        <p:spPr>
          <a:xfrm>
            <a:off x="8966200" y="2247900"/>
            <a:ext cx="2565400" cy="15875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182100" y="2451100"/>
            <a:ext cx="2133600" cy="622300"/>
          </a:xfrm>
          <a:prstGeom prst="rect">
            <a:avLst/>
          </a:prstGeom>
          <a:noFill/>
        </p:spPr>
        <p:txBody>
          <a:bodyPr wrap="none" lIns="0" rIns="0" tIns="0" bIns="0">
            <a:spAutoFit/>
          </a:bodyPr>
          <a:lstStyle/>
          <a:p>
            <a:pPr>
              <a:lnSpc>
                <a:spcPts val="3429"/>
              </a:lnSpc>
              <a:spcBef>
                <a:spcPts val="0"/>
              </a:spcBef>
              <a:spcAft>
                <a:spcPts val="0"/>
              </a:spcAft>
              <a:defRPr sz="2700" b="1">
                <a:solidFill>
                  <a:srgbClr val="008C7B"/>
                </a:solidFill>
                <a:latin typeface="DejaVu Sans"/>
              </a:defRPr>
            </a:pPr>
            <a:r>
              <a:t>10 + 10</a:t>
            </a:r>
          </a:p>
        </p:txBody>
      </p:sp>
      <p:sp>
        <p:nvSpPr>
          <p:cNvPr id="16" name="TextBox 15"/>
          <p:cNvSpPr txBox="1"/>
          <p:nvPr/>
        </p:nvSpPr>
        <p:spPr>
          <a:xfrm>
            <a:off x="9182100" y="3187700"/>
            <a:ext cx="2133600" cy="546100"/>
          </a:xfrm>
          <a:prstGeom prst="rect">
            <a:avLst/>
          </a:prstGeom>
          <a:noFill/>
        </p:spPr>
        <p:txBody>
          <a:bodyPr wrap="none" lIns="0" rIns="0" tIns="0" bIns="0">
            <a:spAutoFit/>
          </a:bodyPr>
          <a:lstStyle/>
          <a:p>
            <a:pPr>
              <a:lnSpc>
                <a:spcPts val="1714"/>
              </a:lnSpc>
              <a:spcBef>
                <a:spcPts val="0"/>
              </a:spcBef>
              <a:spcAft>
                <a:spcPts val="0"/>
              </a:spcAft>
              <a:defRPr sz="1350" b="0">
                <a:solidFill>
                  <a:srgbClr val="557079"/>
                </a:solidFill>
                <a:latin typeface="DejaVu Sans"/>
              </a:defRPr>
            </a:pPr>
            <a:r>
              <a:t>Products and suppliers</a:t>
            </a:r>
          </a:p>
        </p:txBody>
      </p:sp>
      <p:sp>
        <p:nvSpPr>
          <p:cNvPr id="17" name="Rounded Rectangle 16"/>
          <p:cNvSpPr/>
          <p:nvPr/>
        </p:nvSpPr>
        <p:spPr>
          <a:xfrm>
            <a:off x="736600" y="4203700"/>
            <a:ext cx="63500" cy="63500"/>
          </a:xfrm>
          <a:prstGeom prst="roundRect">
            <a:avLst>
              <a:gd name="adj" fmla="val 15000"/>
            </a:avLst>
          </a:prstGeom>
          <a:solidFill>
            <a:srgbClr val="008C7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65200" y="4127500"/>
            <a:ext cx="10464800" cy="1397000"/>
          </a:xfrm>
          <a:prstGeom prst="rect">
            <a:avLst/>
          </a:prstGeom>
          <a:noFill/>
        </p:spPr>
        <p:txBody>
          <a:bodyPr wrap="none" lIns="0" rIns="0" tIns="0" bIns="0">
            <a:spAutoFit/>
          </a:bodyPr>
          <a:lstStyle/>
          <a:p>
            <a:pPr>
              <a:lnSpc>
                <a:spcPts val="2295"/>
              </a:lnSpc>
              <a:spcBef>
                <a:spcPts val="0"/>
              </a:spcBef>
              <a:spcAft>
                <a:spcPts val="0"/>
              </a:spcAft>
              <a:defRPr sz="1700" b="0">
                <a:solidFill>
                  <a:srgbClr val="173A42"/>
                </a:solidFill>
                <a:latin typeface="DejaVu Sans"/>
              </a:defRPr>
            </a:pPr>
            <a:r>
              <a:t>One product per slot; several slots may hold the same product.</a:t>
            </a:r>
          </a:p>
        </p:txBody>
      </p:sp>
      <p:sp>
        <p:nvSpPr>
          <p:cNvPr id="19" name="Rounded Rectangle 18"/>
          <p:cNvSpPr/>
          <p:nvPr/>
        </p:nvSpPr>
        <p:spPr>
          <a:xfrm>
            <a:off x="736600" y="4648200"/>
            <a:ext cx="63500" cy="63500"/>
          </a:xfrm>
          <a:prstGeom prst="roundRect">
            <a:avLst>
              <a:gd name="adj" fmla="val 15000"/>
            </a:avLst>
          </a:prstGeom>
          <a:solidFill>
            <a:srgbClr val="008C7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65200" y="4572000"/>
            <a:ext cx="10464800" cy="1397000"/>
          </a:xfrm>
          <a:prstGeom prst="rect">
            <a:avLst/>
          </a:prstGeom>
          <a:noFill/>
        </p:spPr>
        <p:txBody>
          <a:bodyPr wrap="none" lIns="0" rIns="0" tIns="0" bIns="0">
            <a:spAutoFit/>
          </a:bodyPr>
          <a:lstStyle/>
          <a:p>
            <a:pPr>
              <a:lnSpc>
                <a:spcPts val="2295"/>
              </a:lnSpc>
              <a:spcBef>
                <a:spcPts val="0"/>
              </a:spcBef>
              <a:spcAft>
                <a:spcPts val="0"/>
              </a:spcAft>
              <a:defRPr sz="1700" b="0">
                <a:solidFill>
                  <a:srgbClr val="173A42"/>
                </a:solidFill>
                <a:latin typeface="DejaVu Sans"/>
              </a:defRPr>
            </a:pPr>
            <a:r>
              <a:t>Storage is unlimited. Delivery is immediate. Products do not spoil.</a:t>
            </a:r>
          </a:p>
        </p:txBody>
      </p:sp>
      <p:sp>
        <p:nvSpPr>
          <p:cNvPr id="21" name="Rounded Rectangle 20"/>
          <p:cNvSpPr/>
          <p:nvPr/>
        </p:nvSpPr>
        <p:spPr>
          <a:xfrm>
            <a:off x="736600" y="5092700"/>
            <a:ext cx="63500" cy="63500"/>
          </a:xfrm>
          <a:prstGeom prst="roundRect">
            <a:avLst>
              <a:gd name="adj" fmla="val 15000"/>
            </a:avLst>
          </a:prstGeom>
          <a:solidFill>
            <a:srgbClr val="008C7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65200" y="5016500"/>
            <a:ext cx="10464800" cy="1397000"/>
          </a:xfrm>
          <a:prstGeom prst="rect">
            <a:avLst/>
          </a:prstGeom>
          <a:noFill/>
        </p:spPr>
        <p:txBody>
          <a:bodyPr wrap="none" lIns="0" rIns="0" tIns="0" bIns="0">
            <a:spAutoFit/>
          </a:bodyPr>
          <a:lstStyle/>
          <a:p>
            <a:pPr>
              <a:lnSpc>
                <a:spcPts val="2295"/>
              </a:lnSpc>
              <a:spcBef>
                <a:spcPts val="0"/>
              </a:spcBef>
              <a:spcAft>
                <a:spcPts val="0"/>
              </a:spcAft>
              <a:defRPr sz="1700" b="0">
                <a:solidFill>
                  <a:srgbClr val="173A42"/>
                </a:solidFill>
                <a:latin typeface="DejaVu Sans"/>
              </a:defRPr>
            </a:pPr>
            <a:r>
              <a:t>Collect machine cash to make it spendable.</a:t>
            </a:r>
          </a:p>
        </p:txBody>
      </p:sp>
      <p:sp>
        <p:nvSpPr>
          <p:cNvPr id="23" name="Rounded Rectangle 22"/>
          <p:cNvSpPr/>
          <p:nvPr/>
        </p:nvSpPr>
        <p:spPr>
          <a:xfrm>
            <a:off x="660400" y="5842000"/>
            <a:ext cx="10871200" cy="546100"/>
          </a:xfrm>
          <a:prstGeom prst="roundRect">
            <a:avLst>
              <a:gd name="adj" fmla="val 15000"/>
            </a:avLst>
          </a:prstGeom>
          <a:solidFill>
            <a:srgbClr val="E8F3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38200" y="5994400"/>
            <a:ext cx="10502900" cy="355600"/>
          </a:xfrm>
          <a:prstGeom prst="rect">
            <a:avLst/>
          </a:prstGeom>
          <a:noFill/>
        </p:spPr>
        <p:txBody>
          <a:bodyPr wrap="none" lIns="0" rIns="0" tIns="0" bIns="0">
            <a:spAutoFit/>
          </a:bodyPr>
          <a:lstStyle/>
          <a:p>
            <a:pPr>
              <a:lnSpc>
                <a:spcPts val="1380"/>
              </a:lnSpc>
              <a:spcBef>
                <a:spcPts val="0"/>
              </a:spcBef>
              <a:spcAft>
                <a:spcPts val="0"/>
              </a:spcAft>
              <a:defRPr sz="1200" b="1">
                <a:solidFill>
                  <a:srgbClr val="173A42"/>
                </a:solidFill>
                <a:latin typeface="DejaVu Sans"/>
              </a:defRPr>
            </a:pPr>
            <a:r>
              <a:t>Reference defaults shown. Read the selected environment's public rules at startup.</a:t>
            </a:r>
          </a:p>
        </p:txBody>
      </p:sp>
      <p:cxnSp>
        <p:nvCxnSpPr>
          <p:cNvPr id="25" name="Connector 24"/>
          <p:cNvCxnSpPr/>
          <p:nvPr/>
        </p:nvCxnSpPr>
        <p:spPr>
          <a:xfrm>
            <a:off x="660400" y="6565900"/>
            <a:ext cx="10871200" cy="0"/>
          </a:xfrm>
          <a:prstGeom prst="line">
            <a:avLst/>
          </a:prstGeom>
          <a:ln w="8255">
            <a:solidFill>
              <a:srgbClr val="DCE6E2"/>
            </a:solidFill>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660400" y="6654800"/>
            <a:ext cx="8509000" cy="127000"/>
          </a:xfrm>
          <a:prstGeom prst="rect">
            <a:avLst/>
          </a:prstGeom>
          <a:noFill/>
        </p:spPr>
        <p:txBody>
          <a:bodyPr wrap="none" lIns="0" rIns="0" tIns="0" bIns="0">
            <a:spAutoFit/>
          </a:bodyPr>
          <a:lstStyle/>
          <a:p>
            <a:pPr>
              <a:lnSpc>
                <a:spcPts val="952"/>
              </a:lnSpc>
              <a:spcBef>
                <a:spcPts val="0"/>
              </a:spcBef>
              <a:spcAft>
                <a:spcPts val="0"/>
              </a:spcAft>
              <a:defRPr sz="750" b="0">
                <a:solidFill>
                  <a:srgbClr val="557079"/>
                </a:solidFill>
                <a:latin typeface="DejaVu Sans"/>
              </a:defRPr>
            </a:pPr>
            <a:r>
              <a:t>VENDING BENCH  /  PARTICIPANT BRIEFING</a:t>
            </a:r>
          </a:p>
        </p:txBody>
      </p:sp>
      <p:sp>
        <p:nvSpPr>
          <p:cNvPr id="27" name="TextBox 26"/>
          <p:cNvSpPr txBox="1"/>
          <p:nvPr/>
        </p:nvSpPr>
        <p:spPr>
          <a:xfrm>
            <a:off x="11188700" y="6642100"/>
            <a:ext cx="342900" cy="152400"/>
          </a:xfrm>
          <a:prstGeom prst="rect">
            <a:avLst/>
          </a:prstGeom>
          <a:noFill/>
        </p:spPr>
        <p:txBody>
          <a:bodyPr wrap="none" lIns="0" rIns="0" tIns="0" bIns="0">
            <a:spAutoFit/>
          </a:bodyPr>
          <a:lstStyle/>
          <a:p>
            <a:pPr>
              <a:lnSpc>
                <a:spcPts val="1143"/>
              </a:lnSpc>
              <a:spcBef>
                <a:spcPts val="0"/>
              </a:spcBef>
              <a:spcAft>
                <a:spcPts val="0"/>
              </a:spcAft>
              <a:defRPr sz="900" b="1">
                <a:solidFill>
                  <a:srgbClr val="008C7B"/>
                </a:solidFill>
                <a:latin typeface="DejaVu Sans"/>
              </a:defRPr>
            </a:pPr>
            <a:r>
              <a:t>05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5F8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60400" y="355600"/>
            <a:ext cx="10287000" cy="228600"/>
          </a:xfrm>
          <a:prstGeom prst="rect">
            <a:avLst/>
          </a:prstGeom>
          <a:noFill/>
        </p:spPr>
        <p:txBody>
          <a:bodyPr wrap="none" lIns="0" rIns="0" tIns="0" bIns="0">
            <a:spAutoFit/>
          </a:bodyPr>
          <a:lstStyle/>
          <a:p>
            <a:pPr>
              <a:lnSpc>
                <a:spcPts val="1270"/>
              </a:lnSpc>
              <a:spcBef>
                <a:spcPts val="0"/>
              </a:spcBef>
              <a:spcAft>
                <a:spcPts val="0"/>
              </a:spcAft>
              <a:defRPr sz="1000" b="1">
                <a:solidFill>
                  <a:srgbClr val="008C7B"/>
                </a:solidFill>
                <a:latin typeface="DejaVu Sans"/>
              </a:defRPr>
            </a:pPr>
            <a:r>
              <a:t>02 / THE ENVIRONMENT</a:t>
            </a:r>
          </a:p>
        </p:txBody>
      </p:sp>
      <p:sp>
        <p:nvSpPr>
          <p:cNvPr id="4" name="TextBox 3"/>
          <p:cNvSpPr txBox="1"/>
          <p:nvPr/>
        </p:nvSpPr>
        <p:spPr>
          <a:xfrm>
            <a:off x="660400" y="825500"/>
            <a:ext cx="10871200" cy="1143000"/>
          </a:xfrm>
          <a:prstGeom prst="rect">
            <a:avLst/>
          </a:prstGeom>
          <a:noFill/>
        </p:spPr>
        <p:txBody>
          <a:bodyPr wrap="none" lIns="0" rIns="0" tIns="0" bIns="0">
            <a:spAutoFit/>
          </a:bodyPr>
          <a:lstStyle/>
          <a:p>
            <a:pPr>
              <a:lnSpc>
                <a:spcPts val="3596"/>
              </a:lnSpc>
              <a:spcBef>
                <a:spcPts val="0"/>
              </a:spcBef>
              <a:spcAft>
                <a:spcPts val="0"/>
              </a:spcAft>
              <a:defRPr sz="3100" b="1">
                <a:solidFill>
                  <a:srgbClr val="173A42"/>
                </a:solidFill>
                <a:latin typeface="DejaVu Sans"/>
              </a:defRPr>
            </a:pPr>
            <a:r>
              <a:t>There are two clocks to manage.</a:t>
            </a:r>
          </a:p>
        </p:txBody>
      </p:sp>
      <p:sp>
        <p:nvSpPr>
          <p:cNvPr id="5" name="Rounded Rectangle 4"/>
          <p:cNvSpPr/>
          <p:nvPr/>
        </p:nvSpPr>
        <p:spPr>
          <a:xfrm>
            <a:off x="660400" y="2209800"/>
            <a:ext cx="5308600" cy="3352800"/>
          </a:xfrm>
          <a:prstGeom prst="roundRect">
            <a:avLst>
              <a:gd name="adj" fmla="val 3787"/>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60400" y="2209800"/>
            <a:ext cx="5308600" cy="50800"/>
          </a:xfrm>
          <a:prstGeom prst="rect">
            <a:avLst/>
          </a:prstGeom>
          <a:solidFill>
            <a:srgbClr val="008C7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39800" y="2489200"/>
            <a:ext cx="4749800" cy="444500"/>
          </a:xfrm>
          <a:prstGeom prst="rect">
            <a:avLst/>
          </a:prstGeom>
          <a:noFill/>
        </p:spPr>
        <p:txBody>
          <a:bodyPr wrap="none" lIns="0" rIns="0" tIns="0" bIns="0">
            <a:spAutoFit/>
          </a:bodyPr>
          <a:lstStyle/>
          <a:p>
            <a:pPr>
              <a:lnSpc>
                <a:spcPts val="1524"/>
              </a:lnSpc>
              <a:spcBef>
                <a:spcPts val="0"/>
              </a:spcBef>
              <a:spcAft>
                <a:spcPts val="0"/>
              </a:spcAft>
              <a:defRPr sz="1200" b="1">
                <a:solidFill>
                  <a:srgbClr val="008C7B"/>
                </a:solidFill>
                <a:latin typeface="DejaVu Sans"/>
              </a:defRPr>
            </a:pPr>
            <a:r>
              <a:t>REAL TIME</a:t>
            </a:r>
          </a:p>
        </p:txBody>
      </p:sp>
      <p:sp>
        <p:nvSpPr>
          <p:cNvPr id="8" name="Rounded Rectangle 7"/>
          <p:cNvSpPr/>
          <p:nvPr/>
        </p:nvSpPr>
        <p:spPr>
          <a:xfrm>
            <a:off x="939800" y="3073400"/>
            <a:ext cx="63500" cy="63500"/>
          </a:xfrm>
          <a:prstGeom prst="roundRect">
            <a:avLst>
              <a:gd name="adj" fmla="val 15000"/>
            </a:avLst>
          </a:prstGeom>
          <a:solidFill>
            <a:srgbClr val="008C7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168400" y="2997200"/>
            <a:ext cx="4508500" cy="1397000"/>
          </a:xfrm>
          <a:prstGeom prst="rect">
            <a:avLst/>
          </a:prstGeom>
          <a:noFill/>
        </p:spPr>
        <p:txBody>
          <a:bodyPr wrap="none" lIns="0" rIns="0" tIns="0" bIns="0">
            <a:spAutoFit/>
          </a:bodyPr>
          <a:lstStyle/>
          <a:p>
            <a:pPr>
              <a:lnSpc>
                <a:spcPts val="2160"/>
              </a:lnSpc>
              <a:spcBef>
                <a:spcPts val="0"/>
              </a:spcBef>
              <a:spcAft>
                <a:spcPts val="0"/>
              </a:spcAft>
              <a:defRPr sz="1600" b="0">
                <a:solidFill>
                  <a:srgbClr val="173A42"/>
                </a:solidFill>
                <a:latin typeface="DejaVu Sans"/>
              </a:defRPr>
            </a:pPr>
            <a:r>
              <a:t>Default: 2 hours from environment creation</a:t>
            </a:r>
          </a:p>
        </p:txBody>
      </p:sp>
      <p:sp>
        <p:nvSpPr>
          <p:cNvPr id="10" name="Rounded Rectangle 9"/>
          <p:cNvSpPr/>
          <p:nvPr/>
        </p:nvSpPr>
        <p:spPr>
          <a:xfrm>
            <a:off x="939800" y="3429000"/>
            <a:ext cx="63500" cy="63500"/>
          </a:xfrm>
          <a:prstGeom prst="roundRect">
            <a:avLst>
              <a:gd name="adj" fmla="val 15000"/>
            </a:avLst>
          </a:prstGeom>
          <a:solidFill>
            <a:srgbClr val="008C7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168400" y="3352800"/>
            <a:ext cx="4508500" cy="1397000"/>
          </a:xfrm>
          <a:prstGeom prst="rect">
            <a:avLst/>
          </a:prstGeom>
          <a:noFill/>
        </p:spPr>
        <p:txBody>
          <a:bodyPr wrap="none" lIns="0" rIns="0" tIns="0" bIns="0">
            <a:spAutoFit/>
          </a:bodyPr>
          <a:lstStyle/>
          <a:p>
            <a:pPr>
              <a:lnSpc>
                <a:spcPts val="2160"/>
              </a:lnSpc>
              <a:spcBef>
                <a:spcPts val="0"/>
              </a:spcBef>
              <a:spcAft>
                <a:spcPts val="0"/>
              </a:spcAft>
              <a:defRPr sz="1600" b="0">
                <a:solidFill>
                  <a:srgbClr val="173A42"/>
                </a:solidFill>
                <a:latin typeface="DejaVu Sans"/>
              </a:defRPr>
            </a:pPr>
            <a:r>
              <a:t>Thinking and network latency use this</a:t>
            </a:r>
          </a:p>
          <a:p>
            <a:pPr>
              <a:lnSpc>
                <a:spcPts val="2160"/>
              </a:lnSpc>
              <a:spcBef>
                <a:spcPts val="0"/>
              </a:spcBef>
              <a:spcAft>
                <a:spcPts val="0"/>
              </a:spcAft>
              <a:defRPr sz="1600" b="0">
                <a:solidFill>
                  <a:srgbClr val="173A42"/>
                </a:solidFill>
                <a:latin typeface="DejaVu Sans"/>
              </a:defRPr>
            </a:pPr>
            <a:r>
              <a:t>budget</a:t>
            </a:r>
          </a:p>
        </p:txBody>
      </p:sp>
      <p:sp>
        <p:nvSpPr>
          <p:cNvPr id="12" name="Rounded Rectangle 11"/>
          <p:cNvSpPr/>
          <p:nvPr/>
        </p:nvSpPr>
        <p:spPr>
          <a:xfrm>
            <a:off x="939800" y="4058920"/>
            <a:ext cx="63500" cy="63500"/>
          </a:xfrm>
          <a:prstGeom prst="roundRect">
            <a:avLst>
              <a:gd name="adj" fmla="val 15000"/>
            </a:avLst>
          </a:prstGeom>
          <a:solidFill>
            <a:srgbClr val="008C7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168400" y="3982720"/>
            <a:ext cx="4508500" cy="1397000"/>
          </a:xfrm>
          <a:prstGeom prst="rect">
            <a:avLst/>
          </a:prstGeom>
          <a:noFill/>
        </p:spPr>
        <p:txBody>
          <a:bodyPr wrap="none" lIns="0" rIns="0" tIns="0" bIns="0">
            <a:spAutoFit/>
          </a:bodyPr>
          <a:lstStyle/>
          <a:p>
            <a:pPr>
              <a:lnSpc>
                <a:spcPts val="2160"/>
              </a:lnSpc>
              <a:spcBef>
                <a:spcPts val="0"/>
              </a:spcBef>
              <a:spcAft>
                <a:spcPts val="0"/>
              </a:spcAft>
              <a:defRPr sz="1600" b="0">
                <a:solidFill>
                  <a:srgbClr val="173A42"/>
                </a:solidFill>
                <a:latin typeface="DejaVu Sans"/>
              </a:defRPr>
            </a:pPr>
            <a:r>
              <a:t>After expiry, actions are rejected</a:t>
            </a:r>
          </a:p>
        </p:txBody>
      </p:sp>
      <p:sp>
        <p:nvSpPr>
          <p:cNvPr id="14" name="Rounded Rectangle 13"/>
          <p:cNvSpPr/>
          <p:nvPr/>
        </p:nvSpPr>
        <p:spPr>
          <a:xfrm>
            <a:off x="939800" y="4414520"/>
            <a:ext cx="63500" cy="63500"/>
          </a:xfrm>
          <a:prstGeom prst="roundRect">
            <a:avLst>
              <a:gd name="adj" fmla="val 15000"/>
            </a:avLst>
          </a:prstGeom>
          <a:solidFill>
            <a:srgbClr val="008C7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168400" y="4338320"/>
            <a:ext cx="4508500" cy="1397000"/>
          </a:xfrm>
          <a:prstGeom prst="rect">
            <a:avLst/>
          </a:prstGeom>
          <a:noFill/>
        </p:spPr>
        <p:txBody>
          <a:bodyPr wrap="none" lIns="0" rIns="0" tIns="0" bIns="0">
            <a:spAutoFit/>
          </a:bodyPr>
          <a:lstStyle/>
          <a:p>
            <a:pPr>
              <a:lnSpc>
                <a:spcPts val="2160"/>
              </a:lnSpc>
              <a:spcBef>
                <a:spcPts val="0"/>
              </a:spcBef>
              <a:spcAft>
                <a:spcPts val="0"/>
              </a:spcAft>
              <a:defRPr sz="1600" b="0">
                <a:solidFill>
                  <a:srgbClr val="173A42"/>
                </a:solidFill>
                <a:latin typeface="DejaVu Sans"/>
              </a:defRPr>
            </a:pPr>
            <a:r>
              <a:t>No automatic simulation of unplayed days</a:t>
            </a:r>
          </a:p>
        </p:txBody>
      </p:sp>
      <p:sp>
        <p:nvSpPr>
          <p:cNvPr id="16" name="Rounded Rectangle 15"/>
          <p:cNvSpPr/>
          <p:nvPr/>
        </p:nvSpPr>
        <p:spPr>
          <a:xfrm>
            <a:off x="6223000" y="2209800"/>
            <a:ext cx="5308600" cy="3352800"/>
          </a:xfrm>
          <a:prstGeom prst="roundRect">
            <a:avLst>
              <a:gd name="adj" fmla="val 3787"/>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223000" y="2209800"/>
            <a:ext cx="5308600" cy="50800"/>
          </a:xfrm>
          <a:prstGeom prst="rect">
            <a:avLst/>
          </a:prstGeom>
          <a:solidFill>
            <a:srgbClr val="5E8DC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502400" y="2489200"/>
            <a:ext cx="4749800" cy="444500"/>
          </a:xfrm>
          <a:prstGeom prst="rect">
            <a:avLst/>
          </a:prstGeom>
          <a:noFill/>
        </p:spPr>
        <p:txBody>
          <a:bodyPr wrap="none" lIns="0" rIns="0" tIns="0" bIns="0">
            <a:spAutoFit/>
          </a:bodyPr>
          <a:lstStyle/>
          <a:p>
            <a:pPr>
              <a:lnSpc>
                <a:spcPts val="1524"/>
              </a:lnSpc>
              <a:spcBef>
                <a:spcPts val="0"/>
              </a:spcBef>
              <a:spcAft>
                <a:spcPts val="0"/>
              </a:spcAft>
              <a:defRPr sz="1200" b="1">
                <a:solidFill>
                  <a:srgbClr val="557079"/>
                </a:solidFill>
                <a:latin typeface="DejaVu Sans"/>
              </a:defRPr>
            </a:pPr>
            <a:r>
              <a:t>SIMULATED TIME</a:t>
            </a:r>
          </a:p>
        </p:txBody>
      </p:sp>
      <p:sp>
        <p:nvSpPr>
          <p:cNvPr id="19" name="Rounded Rectangle 18"/>
          <p:cNvSpPr/>
          <p:nvPr/>
        </p:nvSpPr>
        <p:spPr>
          <a:xfrm>
            <a:off x="6502400" y="3073400"/>
            <a:ext cx="63500" cy="63500"/>
          </a:xfrm>
          <a:prstGeom prst="roundRect">
            <a:avLst>
              <a:gd name="adj" fmla="val 15000"/>
            </a:avLst>
          </a:prstGeom>
          <a:solidFill>
            <a:srgbClr val="008C7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731000" y="2997200"/>
            <a:ext cx="4508500" cy="1397000"/>
          </a:xfrm>
          <a:prstGeom prst="rect">
            <a:avLst/>
          </a:prstGeom>
          <a:noFill/>
        </p:spPr>
        <p:txBody>
          <a:bodyPr wrap="none" lIns="0" rIns="0" tIns="0" bIns="0">
            <a:spAutoFit/>
          </a:bodyPr>
          <a:lstStyle/>
          <a:p>
            <a:pPr>
              <a:lnSpc>
                <a:spcPts val="2160"/>
              </a:lnSpc>
              <a:spcBef>
                <a:spcPts val="0"/>
              </a:spcBef>
              <a:spcAft>
                <a:spcPts val="0"/>
              </a:spcAft>
              <a:defRPr sz="1600" b="0">
                <a:solidFill>
                  <a:srgbClr val="173A42"/>
                </a:solidFill>
                <a:latin typeface="DejaVu Sans"/>
              </a:defRPr>
            </a:pPr>
            <a:r>
              <a:t>Advances only through environment actions</a:t>
            </a:r>
          </a:p>
        </p:txBody>
      </p:sp>
      <p:sp>
        <p:nvSpPr>
          <p:cNvPr id="21" name="Rounded Rectangle 20"/>
          <p:cNvSpPr/>
          <p:nvPr/>
        </p:nvSpPr>
        <p:spPr>
          <a:xfrm>
            <a:off x="6502400" y="3429000"/>
            <a:ext cx="63500" cy="63500"/>
          </a:xfrm>
          <a:prstGeom prst="roundRect">
            <a:avLst>
              <a:gd name="adj" fmla="val 15000"/>
            </a:avLst>
          </a:prstGeom>
          <a:solidFill>
            <a:srgbClr val="008C7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731000" y="3352800"/>
            <a:ext cx="4508500" cy="1397000"/>
          </a:xfrm>
          <a:prstGeom prst="rect">
            <a:avLst/>
          </a:prstGeom>
          <a:noFill/>
        </p:spPr>
        <p:txBody>
          <a:bodyPr wrap="none" lIns="0" rIns="0" tIns="0" bIns="0">
            <a:spAutoFit/>
          </a:bodyPr>
          <a:lstStyle/>
          <a:p>
            <a:pPr>
              <a:lnSpc>
                <a:spcPts val="2160"/>
              </a:lnSpc>
              <a:spcBef>
                <a:spcPts val="0"/>
              </a:spcBef>
              <a:spcAft>
                <a:spcPts val="0"/>
              </a:spcAft>
              <a:defRPr sz="1600" b="0">
                <a:solidFill>
                  <a:srgbClr val="173A42"/>
                </a:solidFill>
                <a:latin typeface="DejaVu Sans"/>
              </a:defRPr>
            </a:pPr>
            <a:r>
              <a:t>Sales resolve in fixed intervals</a:t>
            </a:r>
          </a:p>
        </p:txBody>
      </p:sp>
      <p:sp>
        <p:nvSpPr>
          <p:cNvPr id="23" name="Rounded Rectangle 22"/>
          <p:cNvSpPr/>
          <p:nvPr/>
        </p:nvSpPr>
        <p:spPr>
          <a:xfrm>
            <a:off x="6502400" y="3784600"/>
            <a:ext cx="63500" cy="63500"/>
          </a:xfrm>
          <a:prstGeom prst="roundRect">
            <a:avLst>
              <a:gd name="adj" fmla="val 15000"/>
            </a:avLst>
          </a:prstGeom>
          <a:solidFill>
            <a:srgbClr val="008C7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731000" y="3708400"/>
            <a:ext cx="4508500" cy="1397000"/>
          </a:xfrm>
          <a:prstGeom prst="rect">
            <a:avLst/>
          </a:prstGeom>
          <a:noFill/>
        </p:spPr>
        <p:txBody>
          <a:bodyPr wrap="none" lIns="0" rIns="0" tIns="0" bIns="0">
            <a:spAutoFit/>
          </a:bodyPr>
          <a:lstStyle/>
          <a:p>
            <a:pPr>
              <a:lnSpc>
                <a:spcPts val="2160"/>
              </a:lnSpc>
              <a:spcBef>
                <a:spcPts val="0"/>
              </a:spcBef>
              <a:spcAft>
                <a:spcPts val="0"/>
              </a:spcAft>
              <a:defRPr sz="1600" b="0">
                <a:solidFill>
                  <a:srgbClr val="173A42"/>
                </a:solidFill>
                <a:latin typeface="DejaVu Sans"/>
              </a:defRPr>
            </a:pPr>
            <a:r>
              <a:t>Midnight triggers fees and debt accounting</a:t>
            </a:r>
          </a:p>
        </p:txBody>
      </p:sp>
      <p:sp>
        <p:nvSpPr>
          <p:cNvPr id="25" name="Rounded Rectangle 24"/>
          <p:cNvSpPr/>
          <p:nvPr/>
        </p:nvSpPr>
        <p:spPr>
          <a:xfrm>
            <a:off x="6502400" y="4140200"/>
            <a:ext cx="63500" cy="63500"/>
          </a:xfrm>
          <a:prstGeom prst="roundRect">
            <a:avLst>
              <a:gd name="adj" fmla="val 15000"/>
            </a:avLst>
          </a:prstGeom>
          <a:solidFill>
            <a:srgbClr val="008C7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731000" y="4064000"/>
            <a:ext cx="4508500" cy="1397000"/>
          </a:xfrm>
          <a:prstGeom prst="rect">
            <a:avLst/>
          </a:prstGeom>
          <a:noFill/>
        </p:spPr>
        <p:txBody>
          <a:bodyPr wrap="none" lIns="0" rIns="0" tIns="0" bIns="0">
            <a:spAutoFit/>
          </a:bodyPr>
          <a:lstStyle/>
          <a:p>
            <a:pPr>
              <a:lnSpc>
                <a:spcPts val="2160"/>
              </a:lnSpc>
              <a:spcBef>
                <a:spcPts val="0"/>
              </a:spcBef>
              <a:spcAft>
                <a:spcPts val="0"/>
              </a:spcAft>
              <a:defRPr sz="1600" b="0">
                <a:solidFill>
                  <a:srgbClr val="173A42"/>
                </a:solidFill>
                <a:latin typeface="DejaVu Sans"/>
              </a:defRPr>
            </a:pPr>
            <a:r>
              <a:t>end_day advances to the next midnight</a:t>
            </a:r>
          </a:p>
        </p:txBody>
      </p:sp>
      <p:sp>
        <p:nvSpPr>
          <p:cNvPr id="27" name="Rounded Rectangle 26"/>
          <p:cNvSpPr/>
          <p:nvPr/>
        </p:nvSpPr>
        <p:spPr>
          <a:xfrm>
            <a:off x="660400" y="5842000"/>
            <a:ext cx="10871200" cy="546100"/>
          </a:xfrm>
          <a:prstGeom prst="roundRect">
            <a:avLst>
              <a:gd name="adj" fmla="val 15000"/>
            </a:avLst>
          </a:prstGeom>
          <a:solidFill>
            <a:srgbClr val="E8F3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38200" y="5994400"/>
            <a:ext cx="10502900" cy="355600"/>
          </a:xfrm>
          <a:prstGeom prst="rect">
            <a:avLst/>
          </a:prstGeom>
          <a:noFill/>
        </p:spPr>
        <p:txBody>
          <a:bodyPr wrap="none" lIns="0" rIns="0" tIns="0" bIns="0">
            <a:spAutoFit/>
          </a:bodyPr>
          <a:lstStyle/>
          <a:p>
            <a:pPr>
              <a:lnSpc>
                <a:spcPts val="1380"/>
              </a:lnSpc>
              <a:spcBef>
                <a:spcPts val="0"/>
              </a:spcBef>
              <a:spcAft>
                <a:spcPts val="0"/>
              </a:spcAft>
              <a:defRPr sz="1200" b="1">
                <a:solidFill>
                  <a:srgbClr val="173A42"/>
                </a:solidFill>
                <a:latin typeface="DejaVu Sans"/>
              </a:defRPr>
            </a:pPr>
            <a:r>
              <a:t>Benchmark runs have no simulated-day cap. Practice smoke runs do.</a:t>
            </a:r>
          </a:p>
        </p:txBody>
      </p:sp>
      <p:cxnSp>
        <p:nvCxnSpPr>
          <p:cNvPr id="29" name="Connector 28"/>
          <p:cNvCxnSpPr/>
          <p:nvPr/>
        </p:nvCxnSpPr>
        <p:spPr>
          <a:xfrm>
            <a:off x="660400" y="6565900"/>
            <a:ext cx="10871200" cy="0"/>
          </a:xfrm>
          <a:prstGeom prst="line">
            <a:avLst/>
          </a:prstGeom>
          <a:ln w="8255">
            <a:solidFill>
              <a:srgbClr val="DCE6E2"/>
            </a:solidFill>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660400" y="6654800"/>
            <a:ext cx="8509000" cy="127000"/>
          </a:xfrm>
          <a:prstGeom prst="rect">
            <a:avLst/>
          </a:prstGeom>
          <a:noFill/>
        </p:spPr>
        <p:txBody>
          <a:bodyPr wrap="none" lIns="0" rIns="0" tIns="0" bIns="0">
            <a:spAutoFit/>
          </a:bodyPr>
          <a:lstStyle/>
          <a:p>
            <a:pPr>
              <a:lnSpc>
                <a:spcPts val="952"/>
              </a:lnSpc>
              <a:spcBef>
                <a:spcPts val="0"/>
              </a:spcBef>
              <a:spcAft>
                <a:spcPts val="0"/>
              </a:spcAft>
              <a:defRPr sz="750" b="0">
                <a:solidFill>
                  <a:srgbClr val="557079"/>
                </a:solidFill>
                <a:latin typeface="DejaVu Sans"/>
              </a:defRPr>
            </a:pPr>
            <a:r>
              <a:t>VENDING BENCH  /  PARTICIPANT BRIEFING</a:t>
            </a:r>
          </a:p>
        </p:txBody>
      </p:sp>
      <p:sp>
        <p:nvSpPr>
          <p:cNvPr id="31" name="TextBox 30"/>
          <p:cNvSpPr txBox="1"/>
          <p:nvPr/>
        </p:nvSpPr>
        <p:spPr>
          <a:xfrm>
            <a:off x="11188700" y="6642100"/>
            <a:ext cx="342900" cy="152400"/>
          </a:xfrm>
          <a:prstGeom prst="rect">
            <a:avLst/>
          </a:prstGeom>
          <a:noFill/>
        </p:spPr>
        <p:txBody>
          <a:bodyPr wrap="none" lIns="0" rIns="0" tIns="0" bIns="0">
            <a:spAutoFit/>
          </a:bodyPr>
          <a:lstStyle/>
          <a:p>
            <a:pPr>
              <a:lnSpc>
                <a:spcPts val="1143"/>
              </a:lnSpc>
              <a:spcBef>
                <a:spcPts val="0"/>
              </a:spcBef>
              <a:spcAft>
                <a:spcPts val="0"/>
              </a:spcAft>
              <a:defRPr sz="900" b="1">
                <a:solidFill>
                  <a:srgbClr val="008C7B"/>
                </a:solidFill>
                <a:latin typeface="DejaVu Sans"/>
              </a:defRPr>
            </a:pPr>
            <a:r>
              <a:t>06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5F8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60400" y="355600"/>
            <a:ext cx="10287000" cy="228600"/>
          </a:xfrm>
          <a:prstGeom prst="rect">
            <a:avLst/>
          </a:prstGeom>
          <a:noFill/>
        </p:spPr>
        <p:txBody>
          <a:bodyPr wrap="none" lIns="0" rIns="0" tIns="0" bIns="0">
            <a:spAutoFit/>
          </a:bodyPr>
          <a:lstStyle/>
          <a:p>
            <a:pPr>
              <a:lnSpc>
                <a:spcPts val="1270"/>
              </a:lnSpc>
              <a:spcBef>
                <a:spcPts val="0"/>
              </a:spcBef>
              <a:spcAft>
                <a:spcPts val="0"/>
              </a:spcAft>
              <a:defRPr sz="1000" b="1">
                <a:solidFill>
                  <a:srgbClr val="008C7B"/>
                </a:solidFill>
                <a:latin typeface="DejaVu Sans"/>
              </a:defRPr>
            </a:pPr>
            <a:r>
              <a:t>02 / THE ENVIRONMENT</a:t>
            </a:r>
          </a:p>
        </p:txBody>
      </p:sp>
      <p:sp>
        <p:nvSpPr>
          <p:cNvPr id="4" name="TextBox 3"/>
          <p:cNvSpPr txBox="1"/>
          <p:nvPr/>
        </p:nvSpPr>
        <p:spPr>
          <a:xfrm>
            <a:off x="660400" y="825500"/>
            <a:ext cx="10871200" cy="1143000"/>
          </a:xfrm>
          <a:prstGeom prst="rect">
            <a:avLst/>
          </a:prstGeom>
          <a:noFill/>
        </p:spPr>
        <p:txBody>
          <a:bodyPr wrap="none" lIns="0" rIns="0" tIns="0" bIns="0">
            <a:spAutoFit/>
          </a:bodyPr>
          <a:lstStyle/>
          <a:p>
            <a:pPr>
              <a:lnSpc>
                <a:spcPts val="3596"/>
              </a:lnSpc>
              <a:spcBef>
                <a:spcPts val="0"/>
              </a:spcBef>
              <a:spcAft>
                <a:spcPts val="0"/>
              </a:spcAft>
              <a:defRPr sz="3100" b="1">
                <a:solidFill>
                  <a:srgbClr val="173A42"/>
                </a:solidFill>
                <a:latin typeface="DejaVu Sans"/>
              </a:defRPr>
            </a:pPr>
            <a:r>
              <a:t>Keep the operating loop moving.</a:t>
            </a:r>
          </a:p>
        </p:txBody>
      </p:sp>
      <p:sp>
        <p:nvSpPr>
          <p:cNvPr id="5" name="Rounded Rectangle 4"/>
          <p:cNvSpPr/>
          <p:nvPr/>
        </p:nvSpPr>
        <p:spPr>
          <a:xfrm>
            <a:off x="660400" y="2349500"/>
            <a:ext cx="2555875" cy="2971800"/>
          </a:xfrm>
          <a:prstGeom prst="roundRect">
            <a:avLst>
              <a:gd name="adj" fmla="val 4968"/>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889000" y="2603500"/>
            <a:ext cx="431800" cy="381000"/>
          </a:xfrm>
          <a:prstGeom prst="roundRect">
            <a:avLst>
              <a:gd name="adj" fmla="val 15000"/>
            </a:avLst>
          </a:prstGeom>
          <a:solidFill>
            <a:srgbClr val="E8F3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77900" y="2692400"/>
            <a:ext cx="330200" cy="228600"/>
          </a:xfrm>
          <a:prstGeom prst="rect">
            <a:avLst/>
          </a:prstGeom>
          <a:noFill/>
        </p:spPr>
        <p:txBody>
          <a:bodyPr wrap="none" lIns="0" rIns="0" tIns="0" bIns="0">
            <a:spAutoFit/>
          </a:bodyPr>
          <a:lstStyle/>
          <a:p>
            <a:pPr>
              <a:lnSpc>
                <a:spcPts val="1524"/>
              </a:lnSpc>
              <a:spcBef>
                <a:spcPts val="0"/>
              </a:spcBef>
              <a:spcAft>
                <a:spcPts val="0"/>
              </a:spcAft>
              <a:defRPr sz="1200" b="1">
                <a:solidFill>
                  <a:srgbClr val="008C7B"/>
                </a:solidFill>
                <a:latin typeface="DejaVu Sans"/>
              </a:defRPr>
            </a:pPr>
            <a:r>
              <a:t>01</a:t>
            </a:r>
          </a:p>
        </p:txBody>
      </p:sp>
      <p:sp>
        <p:nvSpPr>
          <p:cNvPr id="8" name="TextBox 7"/>
          <p:cNvSpPr txBox="1"/>
          <p:nvPr/>
        </p:nvSpPr>
        <p:spPr>
          <a:xfrm>
            <a:off x="889000" y="3314700"/>
            <a:ext cx="2098675" cy="419100"/>
          </a:xfrm>
          <a:prstGeom prst="rect">
            <a:avLst/>
          </a:prstGeom>
          <a:noFill/>
        </p:spPr>
        <p:txBody>
          <a:bodyPr wrap="none" lIns="0" rIns="0" tIns="0" bIns="0">
            <a:spAutoFit/>
          </a:bodyPr>
          <a:lstStyle/>
          <a:p>
            <a:pPr>
              <a:lnSpc>
                <a:spcPts val="2794"/>
              </a:lnSpc>
              <a:spcBef>
                <a:spcPts val="0"/>
              </a:spcBef>
              <a:spcAft>
                <a:spcPts val="0"/>
              </a:spcAft>
              <a:defRPr sz="2200" b="1">
                <a:solidFill>
                  <a:srgbClr val="173A42"/>
                </a:solidFill>
                <a:latin typeface="DejaVu Sans"/>
              </a:defRPr>
            </a:pPr>
            <a:r>
              <a:t>Source</a:t>
            </a:r>
          </a:p>
        </p:txBody>
      </p:sp>
      <p:sp>
        <p:nvSpPr>
          <p:cNvPr id="9" name="TextBox 8"/>
          <p:cNvSpPr txBox="1"/>
          <p:nvPr/>
        </p:nvSpPr>
        <p:spPr>
          <a:xfrm>
            <a:off x="889000" y="3873500"/>
            <a:ext cx="2098675" cy="1333500"/>
          </a:xfrm>
          <a:prstGeom prst="rect">
            <a:avLst/>
          </a:prstGeom>
          <a:noFill/>
        </p:spPr>
        <p:txBody>
          <a:bodyPr wrap="none" lIns="0" rIns="0" tIns="0" bIns="0">
            <a:spAutoFit/>
          </a:bodyPr>
          <a:lstStyle/>
          <a:p>
            <a:pPr>
              <a:lnSpc>
                <a:spcPts val="2261"/>
              </a:lnSpc>
              <a:spcBef>
                <a:spcPts val="0"/>
              </a:spcBef>
              <a:spcAft>
                <a:spcPts val="0"/>
              </a:spcAft>
              <a:defRPr sz="1700" b="0">
                <a:solidFill>
                  <a:srgbClr val="173A42"/>
                </a:solidFill>
                <a:latin typeface="DejaVu Sans"/>
              </a:defRPr>
            </a:pPr>
            <a:r>
              <a:t>Compare quotes</a:t>
            </a:r>
          </a:p>
          <a:p>
            <a:pPr>
              <a:lnSpc>
                <a:spcPts val="2261"/>
              </a:lnSpc>
              <a:spcBef>
                <a:spcPts val="0"/>
              </a:spcBef>
              <a:spcAft>
                <a:spcPts val="0"/>
              </a:spcAft>
              <a:defRPr sz="1700" b="0">
                <a:solidFill>
                  <a:srgbClr val="173A42"/>
                </a:solidFill>
                <a:latin typeface="DejaVu Sans"/>
              </a:defRPr>
            </a:pPr>
            <a:r>
              <a:t>and submit an</a:t>
            </a:r>
          </a:p>
          <a:p>
            <a:pPr>
              <a:lnSpc>
                <a:spcPts val="2261"/>
              </a:lnSpc>
              <a:spcBef>
                <a:spcPts val="0"/>
              </a:spcBef>
              <a:spcAft>
                <a:spcPts val="0"/>
              </a:spcAft>
              <a:defRPr sz="1700" b="0">
                <a:solidFill>
                  <a:srgbClr val="173A42"/>
                </a:solidFill>
                <a:latin typeface="DejaVu Sans"/>
              </a:defRPr>
            </a:pPr>
            <a:r>
              <a:t>offer.</a:t>
            </a:r>
          </a:p>
        </p:txBody>
      </p:sp>
      <p:sp>
        <p:nvSpPr>
          <p:cNvPr id="10" name="TextBox 9"/>
          <p:cNvSpPr txBox="1"/>
          <p:nvPr/>
        </p:nvSpPr>
        <p:spPr>
          <a:xfrm>
            <a:off x="3267075" y="3594100"/>
            <a:ext cx="177800" cy="381000"/>
          </a:xfrm>
          <a:prstGeom prst="rect">
            <a:avLst/>
          </a:prstGeom>
          <a:noFill/>
        </p:spPr>
        <p:txBody>
          <a:bodyPr wrap="none" lIns="0" rIns="0" tIns="0" bIns="0">
            <a:spAutoFit/>
          </a:bodyPr>
          <a:lstStyle/>
          <a:p>
            <a:pPr>
              <a:lnSpc>
                <a:spcPts val="3175"/>
              </a:lnSpc>
              <a:spcBef>
                <a:spcPts val="0"/>
              </a:spcBef>
              <a:spcAft>
                <a:spcPts val="0"/>
              </a:spcAft>
              <a:defRPr sz="2500" b="1">
                <a:solidFill>
                  <a:srgbClr val="008C7B"/>
                </a:solidFill>
                <a:latin typeface="DejaVu Sans"/>
              </a:defRPr>
            </a:pPr>
            <a:r>
              <a:t>›</a:t>
            </a:r>
          </a:p>
        </p:txBody>
      </p:sp>
      <p:sp>
        <p:nvSpPr>
          <p:cNvPr id="11" name="Rounded Rectangle 10"/>
          <p:cNvSpPr/>
          <p:nvPr/>
        </p:nvSpPr>
        <p:spPr>
          <a:xfrm>
            <a:off x="3432175" y="2349500"/>
            <a:ext cx="2555875" cy="2971800"/>
          </a:xfrm>
          <a:prstGeom prst="roundRect">
            <a:avLst>
              <a:gd name="adj" fmla="val 4968"/>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3660775" y="2603500"/>
            <a:ext cx="431800" cy="381000"/>
          </a:xfrm>
          <a:prstGeom prst="roundRect">
            <a:avLst>
              <a:gd name="adj" fmla="val 15000"/>
            </a:avLst>
          </a:prstGeom>
          <a:solidFill>
            <a:srgbClr val="E8F3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749675" y="2692400"/>
            <a:ext cx="330200" cy="228600"/>
          </a:xfrm>
          <a:prstGeom prst="rect">
            <a:avLst/>
          </a:prstGeom>
          <a:noFill/>
        </p:spPr>
        <p:txBody>
          <a:bodyPr wrap="none" lIns="0" rIns="0" tIns="0" bIns="0">
            <a:spAutoFit/>
          </a:bodyPr>
          <a:lstStyle/>
          <a:p>
            <a:pPr>
              <a:lnSpc>
                <a:spcPts val="1524"/>
              </a:lnSpc>
              <a:spcBef>
                <a:spcPts val="0"/>
              </a:spcBef>
              <a:spcAft>
                <a:spcPts val="0"/>
              </a:spcAft>
              <a:defRPr sz="1200" b="1">
                <a:solidFill>
                  <a:srgbClr val="008C7B"/>
                </a:solidFill>
                <a:latin typeface="DejaVu Sans"/>
              </a:defRPr>
            </a:pPr>
            <a:r>
              <a:t>02</a:t>
            </a:r>
          </a:p>
        </p:txBody>
      </p:sp>
      <p:sp>
        <p:nvSpPr>
          <p:cNvPr id="14" name="TextBox 13"/>
          <p:cNvSpPr txBox="1"/>
          <p:nvPr/>
        </p:nvSpPr>
        <p:spPr>
          <a:xfrm>
            <a:off x="3660775" y="3314700"/>
            <a:ext cx="2098675" cy="419100"/>
          </a:xfrm>
          <a:prstGeom prst="rect">
            <a:avLst/>
          </a:prstGeom>
          <a:noFill/>
        </p:spPr>
        <p:txBody>
          <a:bodyPr wrap="none" lIns="0" rIns="0" tIns="0" bIns="0">
            <a:spAutoFit/>
          </a:bodyPr>
          <a:lstStyle/>
          <a:p>
            <a:pPr>
              <a:lnSpc>
                <a:spcPts val="2794"/>
              </a:lnSpc>
              <a:spcBef>
                <a:spcPts val="0"/>
              </a:spcBef>
              <a:spcAft>
                <a:spcPts val="0"/>
              </a:spcAft>
              <a:defRPr sz="2200" b="1">
                <a:solidFill>
                  <a:srgbClr val="173A42"/>
                </a:solidFill>
                <a:latin typeface="DejaVu Sans"/>
              </a:defRPr>
            </a:pPr>
            <a:r>
              <a:t>Prepare</a:t>
            </a:r>
          </a:p>
        </p:txBody>
      </p:sp>
      <p:sp>
        <p:nvSpPr>
          <p:cNvPr id="15" name="TextBox 14"/>
          <p:cNvSpPr txBox="1"/>
          <p:nvPr/>
        </p:nvSpPr>
        <p:spPr>
          <a:xfrm>
            <a:off x="3660775" y="3873500"/>
            <a:ext cx="2098675" cy="1333500"/>
          </a:xfrm>
          <a:prstGeom prst="rect">
            <a:avLst/>
          </a:prstGeom>
          <a:noFill/>
        </p:spPr>
        <p:txBody>
          <a:bodyPr wrap="none" lIns="0" rIns="0" tIns="0" bIns="0">
            <a:spAutoFit/>
          </a:bodyPr>
          <a:lstStyle/>
          <a:p>
            <a:pPr>
              <a:lnSpc>
                <a:spcPts val="2261"/>
              </a:lnSpc>
              <a:spcBef>
                <a:spcPts val="0"/>
              </a:spcBef>
              <a:spcAft>
                <a:spcPts val="0"/>
              </a:spcAft>
              <a:defRPr sz="1700" b="0">
                <a:solidFill>
                  <a:srgbClr val="173A42"/>
                </a:solidFill>
                <a:latin typeface="DejaVu Sans"/>
              </a:defRPr>
            </a:pPr>
            <a:r>
              <a:t>Set prices and</a:t>
            </a:r>
          </a:p>
          <a:p>
            <a:pPr>
              <a:lnSpc>
                <a:spcPts val="2261"/>
              </a:lnSpc>
              <a:spcBef>
                <a:spcPts val="0"/>
              </a:spcBef>
              <a:spcAft>
                <a:spcPts val="0"/>
              </a:spcAft>
              <a:defRPr sz="1700" b="0">
                <a:solidFill>
                  <a:srgbClr val="173A42"/>
                </a:solidFill>
                <a:latin typeface="DejaVu Sans"/>
              </a:defRPr>
            </a:pPr>
            <a:r>
              <a:t>move stock into</a:t>
            </a:r>
          </a:p>
          <a:p>
            <a:pPr>
              <a:lnSpc>
                <a:spcPts val="2261"/>
              </a:lnSpc>
              <a:spcBef>
                <a:spcPts val="0"/>
              </a:spcBef>
              <a:spcAft>
                <a:spcPts val="0"/>
              </a:spcAft>
              <a:defRPr sz="1700" b="0">
                <a:solidFill>
                  <a:srgbClr val="173A42"/>
                </a:solidFill>
                <a:latin typeface="DejaVu Sans"/>
              </a:defRPr>
            </a:pPr>
            <a:r>
              <a:t>slots.</a:t>
            </a:r>
          </a:p>
        </p:txBody>
      </p:sp>
      <p:sp>
        <p:nvSpPr>
          <p:cNvPr id="16" name="TextBox 15"/>
          <p:cNvSpPr txBox="1"/>
          <p:nvPr/>
        </p:nvSpPr>
        <p:spPr>
          <a:xfrm>
            <a:off x="6038850" y="3594100"/>
            <a:ext cx="177800" cy="381000"/>
          </a:xfrm>
          <a:prstGeom prst="rect">
            <a:avLst/>
          </a:prstGeom>
          <a:noFill/>
        </p:spPr>
        <p:txBody>
          <a:bodyPr wrap="none" lIns="0" rIns="0" tIns="0" bIns="0">
            <a:spAutoFit/>
          </a:bodyPr>
          <a:lstStyle/>
          <a:p>
            <a:pPr>
              <a:lnSpc>
                <a:spcPts val="3175"/>
              </a:lnSpc>
              <a:spcBef>
                <a:spcPts val="0"/>
              </a:spcBef>
              <a:spcAft>
                <a:spcPts val="0"/>
              </a:spcAft>
              <a:defRPr sz="2500" b="1">
                <a:solidFill>
                  <a:srgbClr val="008C7B"/>
                </a:solidFill>
                <a:latin typeface="DejaVu Sans"/>
              </a:defRPr>
            </a:pPr>
            <a:r>
              <a:t>›</a:t>
            </a:r>
          </a:p>
        </p:txBody>
      </p:sp>
      <p:sp>
        <p:nvSpPr>
          <p:cNvPr id="17" name="Rounded Rectangle 16"/>
          <p:cNvSpPr/>
          <p:nvPr/>
        </p:nvSpPr>
        <p:spPr>
          <a:xfrm>
            <a:off x="6203950" y="2349500"/>
            <a:ext cx="2555875" cy="2971800"/>
          </a:xfrm>
          <a:prstGeom prst="roundRect">
            <a:avLst>
              <a:gd name="adj" fmla="val 4968"/>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6432550" y="2603500"/>
            <a:ext cx="431800" cy="381000"/>
          </a:xfrm>
          <a:prstGeom prst="roundRect">
            <a:avLst>
              <a:gd name="adj" fmla="val 15000"/>
            </a:avLst>
          </a:prstGeom>
          <a:solidFill>
            <a:srgbClr val="E8F3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521450" y="2692400"/>
            <a:ext cx="330200" cy="228600"/>
          </a:xfrm>
          <a:prstGeom prst="rect">
            <a:avLst/>
          </a:prstGeom>
          <a:noFill/>
        </p:spPr>
        <p:txBody>
          <a:bodyPr wrap="none" lIns="0" rIns="0" tIns="0" bIns="0">
            <a:spAutoFit/>
          </a:bodyPr>
          <a:lstStyle/>
          <a:p>
            <a:pPr>
              <a:lnSpc>
                <a:spcPts val="1524"/>
              </a:lnSpc>
              <a:spcBef>
                <a:spcPts val="0"/>
              </a:spcBef>
              <a:spcAft>
                <a:spcPts val="0"/>
              </a:spcAft>
              <a:defRPr sz="1200" b="1">
                <a:solidFill>
                  <a:srgbClr val="008C7B"/>
                </a:solidFill>
                <a:latin typeface="DejaVu Sans"/>
              </a:defRPr>
            </a:pPr>
            <a:r>
              <a:t>03</a:t>
            </a:r>
          </a:p>
        </p:txBody>
      </p:sp>
      <p:sp>
        <p:nvSpPr>
          <p:cNvPr id="20" name="TextBox 19"/>
          <p:cNvSpPr txBox="1"/>
          <p:nvPr/>
        </p:nvSpPr>
        <p:spPr>
          <a:xfrm>
            <a:off x="6432550" y="3314700"/>
            <a:ext cx="2098675" cy="419100"/>
          </a:xfrm>
          <a:prstGeom prst="rect">
            <a:avLst/>
          </a:prstGeom>
          <a:noFill/>
        </p:spPr>
        <p:txBody>
          <a:bodyPr wrap="none" lIns="0" rIns="0" tIns="0" bIns="0">
            <a:spAutoFit/>
          </a:bodyPr>
          <a:lstStyle/>
          <a:p>
            <a:pPr>
              <a:lnSpc>
                <a:spcPts val="2794"/>
              </a:lnSpc>
              <a:spcBef>
                <a:spcPts val="0"/>
              </a:spcBef>
              <a:spcAft>
                <a:spcPts val="0"/>
              </a:spcAft>
              <a:defRPr sz="2200" b="1">
                <a:solidFill>
                  <a:srgbClr val="173A42"/>
                </a:solidFill>
                <a:latin typeface="DejaVu Sans"/>
              </a:defRPr>
            </a:pPr>
            <a:r>
              <a:t>Sell</a:t>
            </a:r>
          </a:p>
        </p:txBody>
      </p:sp>
      <p:sp>
        <p:nvSpPr>
          <p:cNvPr id="21" name="TextBox 20"/>
          <p:cNvSpPr txBox="1"/>
          <p:nvPr/>
        </p:nvSpPr>
        <p:spPr>
          <a:xfrm>
            <a:off x="6432550" y="3873500"/>
            <a:ext cx="2098675" cy="1333500"/>
          </a:xfrm>
          <a:prstGeom prst="rect">
            <a:avLst/>
          </a:prstGeom>
          <a:noFill/>
        </p:spPr>
        <p:txBody>
          <a:bodyPr wrap="none" lIns="0" rIns="0" tIns="0" bIns="0">
            <a:spAutoFit/>
          </a:bodyPr>
          <a:lstStyle/>
          <a:p>
            <a:pPr>
              <a:lnSpc>
                <a:spcPts val="2261"/>
              </a:lnSpc>
              <a:spcBef>
                <a:spcPts val="0"/>
              </a:spcBef>
              <a:spcAft>
                <a:spcPts val="0"/>
              </a:spcAft>
              <a:defRPr sz="1700" b="0">
                <a:solidFill>
                  <a:srgbClr val="173A42"/>
                </a:solidFill>
                <a:latin typeface="DejaVu Sans"/>
              </a:defRPr>
            </a:pPr>
            <a:r>
              <a:t>Advance time and</a:t>
            </a:r>
          </a:p>
          <a:p>
            <a:pPr>
              <a:lnSpc>
                <a:spcPts val="2261"/>
              </a:lnSpc>
              <a:spcBef>
                <a:spcPts val="0"/>
              </a:spcBef>
              <a:spcAft>
                <a:spcPts val="0"/>
              </a:spcAft>
              <a:defRPr sz="1700" b="0">
                <a:solidFill>
                  <a:srgbClr val="173A42"/>
                </a:solidFill>
                <a:latin typeface="DejaVu Sans"/>
              </a:defRPr>
            </a:pPr>
            <a:r>
              <a:t>observe realized</a:t>
            </a:r>
          </a:p>
          <a:p>
            <a:pPr>
              <a:lnSpc>
                <a:spcPts val="2261"/>
              </a:lnSpc>
              <a:spcBef>
                <a:spcPts val="0"/>
              </a:spcBef>
              <a:spcAft>
                <a:spcPts val="0"/>
              </a:spcAft>
              <a:defRPr sz="1700" b="0">
                <a:solidFill>
                  <a:srgbClr val="173A42"/>
                </a:solidFill>
                <a:latin typeface="DejaVu Sans"/>
              </a:defRPr>
            </a:pPr>
            <a:r>
              <a:t>sales.</a:t>
            </a:r>
          </a:p>
        </p:txBody>
      </p:sp>
      <p:sp>
        <p:nvSpPr>
          <p:cNvPr id="22" name="TextBox 21"/>
          <p:cNvSpPr txBox="1"/>
          <p:nvPr/>
        </p:nvSpPr>
        <p:spPr>
          <a:xfrm>
            <a:off x="8810625" y="3594100"/>
            <a:ext cx="177800" cy="381000"/>
          </a:xfrm>
          <a:prstGeom prst="rect">
            <a:avLst/>
          </a:prstGeom>
          <a:noFill/>
        </p:spPr>
        <p:txBody>
          <a:bodyPr wrap="none" lIns="0" rIns="0" tIns="0" bIns="0">
            <a:spAutoFit/>
          </a:bodyPr>
          <a:lstStyle/>
          <a:p>
            <a:pPr>
              <a:lnSpc>
                <a:spcPts val="3175"/>
              </a:lnSpc>
              <a:spcBef>
                <a:spcPts val="0"/>
              </a:spcBef>
              <a:spcAft>
                <a:spcPts val="0"/>
              </a:spcAft>
              <a:defRPr sz="2500" b="1">
                <a:solidFill>
                  <a:srgbClr val="008C7B"/>
                </a:solidFill>
                <a:latin typeface="DejaVu Sans"/>
              </a:defRPr>
            </a:pPr>
            <a:r>
              <a:t>›</a:t>
            </a:r>
          </a:p>
        </p:txBody>
      </p:sp>
      <p:sp>
        <p:nvSpPr>
          <p:cNvPr id="23" name="Rounded Rectangle 22"/>
          <p:cNvSpPr/>
          <p:nvPr/>
        </p:nvSpPr>
        <p:spPr>
          <a:xfrm>
            <a:off x="8975725" y="2349500"/>
            <a:ext cx="2555875" cy="2971800"/>
          </a:xfrm>
          <a:prstGeom prst="roundRect">
            <a:avLst>
              <a:gd name="adj" fmla="val 4968"/>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9204325" y="2603500"/>
            <a:ext cx="431800" cy="381000"/>
          </a:xfrm>
          <a:prstGeom prst="roundRect">
            <a:avLst>
              <a:gd name="adj" fmla="val 15000"/>
            </a:avLst>
          </a:prstGeom>
          <a:solidFill>
            <a:srgbClr val="E8F3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293225" y="2692400"/>
            <a:ext cx="330200" cy="228600"/>
          </a:xfrm>
          <a:prstGeom prst="rect">
            <a:avLst/>
          </a:prstGeom>
          <a:noFill/>
        </p:spPr>
        <p:txBody>
          <a:bodyPr wrap="none" lIns="0" rIns="0" tIns="0" bIns="0">
            <a:spAutoFit/>
          </a:bodyPr>
          <a:lstStyle/>
          <a:p>
            <a:pPr>
              <a:lnSpc>
                <a:spcPts val="1524"/>
              </a:lnSpc>
              <a:spcBef>
                <a:spcPts val="0"/>
              </a:spcBef>
              <a:spcAft>
                <a:spcPts val="0"/>
              </a:spcAft>
              <a:defRPr sz="1200" b="1">
                <a:solidFill>
                  <a:srgbClr val="008C7B"/>
                </a:solidFill>
                <a:latin typeface="DejaVu Sans"/>
              </a:defRPr>
            </a:pPr>
            <a:r>
              <a:t>04</a:t>
            </a:r>
          </a:p>
        </p:txBody>
      </p:sp>
      <p:sp>
        <p:nvSpPr>
          <p:cNvPr id="26" name="TextBox 25"/>
          <p:cNvSpPr txBox="1"/>
          <p:nvPr/>
        </p:nvSpPr>
        <p:spPr>
          <a:xfrm>
            <a:off x="9204325" y="3314700"/>
            <a:ext cx="2098675" cy="419100"/>
          </a:xfrm>
          <a:prstGeom prst="rect">
            <a:avLst/>
          </a:prstGeom>
          <a:noFill/>
        </p:spPr>
        <p:txBody>
          <a:bodyPr wrap="none" lIns="0" rIns="0" tIns="0" bIns="0">
            <a:spAutoFit/>
          </a:bodyPr>
          <a:lstStyle/>
          <a:p>
            <a:pPr>
              <a:lnSpc>
                <a:spcPts val="2794"/>
              </a:lnSpc>
              <a:spcBef>
                <a:spcPts val="0"/>
              </a:spcBef>
              <a:spcAft>
                <a:spcPts val="0"/>
              </a:spcAft>
              <a:defRPr sz="2200" b="1">
                <a:solidFill>
                  <a:srgbClr val="173A42"/>
                </a:solidFill>
                <a:latin typeface="DejaVu Sans"/>
              </a:defRPr>
            </a:pPr>
            <a:r>
              <a:t>Reinvest</a:t>
            </a:r>
          </a:p>
        </p:txBody>
      </p:sp>
      <p:sp>
        <p:nvSpPr>
          <p:cNvPr id="27" name="TextBox 26"/>
          <p:cNvSpPr txBox="1"/>
          <p:nvPr/>
        </p:nvSpPr>
        <p:spPr>
          <a:xfrm>
            <a:off x="9204325" y="3873500"/>
            <a:ext cx="2098675" cy="1333500"/>
          </a:xfrm>
          <a:prstGeom prst="rect">
            <a:avLst/>
          </a:prstGeom>
          <a:noFill/>
        </p:spPr>
        <p:txBody>
          <a:bodyPr wrap="none" lIns="0" rIns="0" tIns="0" bIns="0">
            <a:spAutoFit/>
          </a:bodyPr>
          <a:lstStyle/>
          <a:p>
            <a:pPr>
              <a:lnSpc>
                <a:spcPts val="2261"/>
              </a:lnSpc>
              <a:spcBef>
                <a:spcPts val="0"/>
              </a:spcBef>
              <a:spcAft>
                <a:spcPts val="0"/>
              </a:spcAft>
              <a:defRPr sz="1700" b="0">
                <a:solidFill>
                  <a:srgbClr val="173A42"/>
                </a:solidFill>
                <a:latin typeface="DejaVu Sans"/>
              </a:defRPr>
            </a:pPr>
            <a:r>
              <a:t>Collect cash, pay</a:t>
            </a:r>
          </a:p>
          <a:p>
            <a:pPr>
              <a:lnSpc>
                <a:spcPts val="2261"/>
              </a:lnSpc>
              <a:spcBef>
                <a:spcPts val="0"/>
              </a:spcBef>
              <a:spcAft>
                <a:spcPts val="0"/>
              </a:spcAft>
              <a:defRPr sz="1700" b="0">
                <a:solidFill>
                  <a:srgbClr val="173A42"/>
                </a:solidFill>
                <a:latin typeface="DejaVu Sans"/>
              </a:defRPr>
            </a:pPr>
            <a:r>
              <a:t>fees, and</a:t>
            </a:r>
          </a:p>
          <a:p>
            <a:pPr>
              <a:lnSpc>
                <a:spcPts val="2261"/>
              </a:lnSpc>
              <a:spcBef>
                <a:spcPts val="0"/>
              </a:spcBef>
              <a:spcAft>
                <a:spcPts val="0"/>
              </a:spcAft>
              <a:defRPr sz="1700" b="0">
                <a:solidFill>
                  <a:srgbClr val="173A42"/>
                </a:solidFill>
                <a:latin typeface="DejaVu Sans"/>
              </a:defRPr>
            </a:pPr>
            <a:r>
              <a:t>replenish.</a:t>
            </a:r>
          </a:p>
        </p:txBody>
      </p:sp>
      <p:sp>
        <p:nvSpPr>
          <p:cNvPr id="28" name="Rounded Rectangle 27"/>
          <p:cNvSpPr/>
          <p:nvPr/>
        </p:nvSpPr>
        <p:spPr>
          <a:xfrm>
            <a:off x="660400" y="5842000"/>
            <a:ext cx="10871200" cy="546100"/>
          </a:xfrm>
          <a:prstGeom prst="roundRect">
            <a:avLst>
              <a:gd name="adj" fmla="val 15000"/>
            </a:avLst>
          </a:prstGeom>
          <a:solidFill>
            <a:srgbClr val="E8F3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38200" y="5994400"/>
            <a:ext cx="10502900" cy="355600"/>
          </a:xfrm>
          <a:prstGeom prst="rect">
            <a:avLst/>
          </a:prstGeom>
          <a:noFill/>
        </p:spPr>
        <p:txBody>
          <a:bodyPr wrap="none" lIns="0" rIns="0" tIns="0" bIns="0">
            <a:spAutoFit/>
          </a:bodyPr>
          <a:lstStyle/>
          <a:p>
            <a:pPr>
              <a:lnSpc>
                <a:spcPts val="1380"/>
              </a:lnSpc>
              <a:spcBef>
                <a:spcPts val="0"/>
              </a:spcBef>
              <a:spcAft>
                <a:spcPts val="0"/>
              </a:spcAft>
              <a:defRPr sz="1200" b="1">
                <a:solidFill>
                  <a:srgbClr val="173A42"/>
                </a:solidFill>
                <a:latin typeface="DejaVu Sans"/>
              </a:defRPr>
            </a:pPr>
            <a:r>
              <a:t>At the default limit, 10 consecutive incomplete daily-fee payments end the episode.</a:t>
            </a:r>
          </a:p>
        </p:txBody>
      </p:sp>
      <p:cxnSp>
        <p:nvCxnSpPr>
          <p:cNvPr id="30" name="Connector 29"/>
          <p:cNvCxnSpPr/>
          <p:nvPr/>
        </p:nvCxnSpPr>
        <p:spPr>
          <a:xfrm>
            <a:off x="660400" y="6565900"/>
            <a:ext cx="10871200" cy="0"/>
          </a:xfrm>
          <a:prstGeom prst="line">
            <a:avLst/>
          </a:prstGeom>
          <a:ln w="8255">
            <a:solidFill>
              <a:srgbClr val="DCE6E2"/>
            </a:solidFill>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660400" y="6654800"/>
            <a:ext cx="8509000" cy="127000"/>
          </a:xfrm>
          <a:prstGeom prst="rect">
            <a:avLst/>
          </a:prstGeom>
          <a:noFill/>
        </p:spPr>
        <p:txBody>
          <a:bodyPr wrap="none" lIns="0" rIns="0" tIns="0" bIns="0">
            <a:spAutoFit/>
          </a:bodyPr>
          <a:lstStyle/>
          <a:p>
            <a:pPr>
              <a:lnSpc>
                <a:spcPts val="952"/>
              </a:lnSpc>
              <a:spcBef>
                <a:spcPts val="0"/>
              </a:spcBef>
              <a:spcAft>
                <a:spcPts val="0"/>
              </a:spcAft>
              <a:defRPr sz="750" b="0">
                <a:solidFill>
                  <a:srgbClr val="557079"/>
                </a:solidFill>
                <a:latin typeface="DejaVu Sans"/>
              </a:defRPr>
            </a:pPr>
            <a:r>
              <a:t>VENDING BENCH  /  PARTICIPANT BRIEFING</a:t>
            </a:r>
          </a:p>
        </p:txBody>
      </p:sp>
      <p:sp>
        <p:nvSpPr>
          <p:cNvPr id="32" name="TextBox 31"/>
          <p:cNvSpPr txBox="1"/>
          <p:nvPr/>
        </p:nvSpPr>
        <p:spPr>
          <a:xfrm>
            <a:off x="11188700" y="6642100"/>
            <a:ext cx="342900" cy="152400"/>
          </a:xfrm>
          <a:prstGeom prst="rect">
            <a:avLst/>
          </a:prstGeom>
          <a:noFill/>
        </p:spPr>
        <p:txBody>
          <a:bodyPr wrap="none" lIns="0" rIns="0" tIns="0" bIns="0">
            <a:spAutoFit/>
          </a:bodyPr>
          <a:lstStyle/>
          <a:p>
            <a:pPr>
              <a:lnSpc>
                <a:spcPts val="1143"/>
              </a:lnSpc>
              <a:spcBef>
                <a:spcPts val="0"/>
              </a:spcBef>
              <a:spcAft>
                <a:spcPts val="0"/>
              </a:spcAft>
              <a:defRPr sz="900" b="1">
                <a:solidFill>
                  <a:srgbClr val="008C7B"/>
                </a:solidFill>
                <a:latin typeface="DejaVu Sans"/>
              </a:defRPr>
            </a:pPr>
            <a:r>
              <a:t>07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5F8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60400" y="355600"/>
            <a:ext cx="10287000" cy="228600"/>
          </a:xfrm>
          <a:prstGeom prst="rect">
            <a:avLst/>
          </a:prstGeom>
          <a:noFill/>
        </p:spPr>
        <p:txBody>
          <a:bodyPr wrap="none" lIns="0" rIns="0" tIns="0" bIns="0">
            <a:spAutoFit/>
          </a:bodyPr>
          <a:lstStyle/>
          <a:p>
            <a:pPr>
              <a:lnSpc>
                <a:spcPts val="1270"/>
              </a:lnSpc>
              <a:spcBef>
                <a:spcPts val="0"/>
              </a:spcBef>
              <a:spcAft>
                <a:spcPts val="0"/>
              </a:spcAft>
              <a:defRPr sz="1000" b="1">
                <a:solidFill>
                  <a:srgbClr val="008C7B"/>
                </a:solidFill>
                <a:latin typeface="DejaVu Sans"/>
              </a:defRPr>
            </a:pPr>
            <a:r>
              <a:t>02 / THE ENVIRONMENT</a:t>
            </a:r>
          </a:p>
        </p:txBody>
      </p:sp>
      <p:sp>
        <p:nvSpPr>
          <p:cNvPr id="4" name="TextBox 3"/>
          <p:cNvSpPr txBox="1"/>
          <p:nvPr/>
        </p:nvSpPr>
        <p:spPr>
          <a:xfrm>
            <a:off x="660400" y="825500"/>
            <a:ext cx="10871200" cy="1143000"/>
          </a:xfrm>
          <a:prstGeom prst="rect">
            <a:avLst/>
          </a:prstGeom>
          <a:noFill/>
        </p:spPr>
        <p:txBody>
          <a:bodyPr wrap="none" lIns="0" rIns="0" tIns="0" bIns="0">
            <a:spAutoFit/>
          </a:bodyPr>
          <a:lstStyle/>
          <a:p>
            <a:pPr>
              <a:lnSpc>
                <a:spcPts val="3596"/>
              </a:lnSpc>
              <a:spcBef>
                <a:spcPts val="0"/>
              </a:spcBef>
              <a:spcAft>
                <a:spcPts val="0"/>
              </a:spcAft>
              <a:defRPr sz="3100" b="1">
                <a:solidFill>
                  <a:srgbClr val="173A42"/>
                </a:solidFill>
                <a:latin typeface="DejaVu Sans"/>
              </a:defRPr>
            </a:pPr>
            <a:r>
              <a:t>Negotiation produces structured outcomes.</a:t>
            </a:r>
          </a:p>
        </p:txBody>
      </p:sp>
      <p:sp>
        <p:nvSpPr>
          <p:cNvPr id="5" name="Rounded Rectangle 4"/>
          <p:cNvSpPr/>
          <p:nvPr/>
        </p:nvSpPr>
        <p:spPr>
          <a:xfrm>
            <a:off x="660400" y="2120900"/>
            <a:ext cx="10871200" cy="431800"/>
          </a:xfrm>
          <a:prstGeom prst="roundRect">
            <a:avLst>
              <a:gd name="adj" fmla="val 14705"/>
            </a:avLst>
          </a:prstGeom>
          <a:solidFill>
            <a:srgbClr val="173A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5500" y="2247900"/>
            <a:ext cx="2159000" cy="228600"/>
          </a:xfrm>
          <a:prstGeom prst="rect">
            <a:avLst/>
          </a:prstGeom>
          <a:noFill/>
        </p:spPr>
        <p:txBody>
          <a:bodyPr wrap="none" lIns="0" rIns="0" tIns="0" bIns="0">
            <a:spAutoFit/>
          </a:bodyPr>
          <a:lstStyle/>
          <a:p>
            <a:pPr>
              <a:lnSpc>
                <a:spcPts val="1524"/>
              </a:lnSpc>
              <a:spcBef>
                <a:spcPts val="0"/>
              </a:spcBef>
              <a:spcAft>
                <a:spcPts val="0"/>
              </a:spcAft>
              <a:defRPr sz="1200" b="1">
                <a:solidFill>
                  <a:srgbClr val="FFFFFF"/>
                </a:solidFill>
                <a:latin typeface="DejaVu Sans"/>
              </a:defRPr>
            </a:pPr>
            <a:r>
              <a:t>OUTCOME</a:t>
            </a:r>
          </a:p>
        </p:txBody>
      </p:sp>
      <p:sp>
        <p:nvSpPr>
          <p:cNvPr id="7" name="TextBox 6"/>
          <p:cNvSpPr txBox="1"/>
          <p:nvPr/>
        </p:nvSpPr>
        <p:spPr>
          <a:xfrm>
            <a:off x="3302000" y="2247900"/>
            <a:ext cx="3746500" cy="228600"/>
          </a:xfrm>
          <a:prstGeom prst="rect">
            <a:avLst/>
          </a:prstGeom>
          <a:noFill/>
        </p:spPr>
        <p:txBody>
          <a:bodyPr wrap="none" lIns="0" rIns="0" tIns="0" bIns="0">
            <a:spAutoFit/>
          </a:bodyPr>
          <a:lstStyle/>
          <a:p>
            <a:pPr>
              <a:lnSpc>
                <a:spcPts val="1524"/>
              </a:lnSpc>
              <a:spcBef>
                <a:spcPts val="0"/>
              </a:spcBef>
              <a:spcAft>
                <a:spcPts val="0"/>
              </a:spcAft>
              <a:defRPr sz="1200" b="1">
                <a:solidFill>
                  <a:srgbClr val="FFFFFF"/>
                </a:solidFill>
                <a:latin typeface="DejaVu Sans"/>
              </a:defRPr>
            </a:pPr>
            <a:r>
              <a:t>MEANING</a:t>
            </a:r>
          </a:p>
        </p:txBody>
      </p:sp>
      <p:sp>
        <p:nvSpPr>
          <p:cNvPr id="8" name="TextBox 7"/>
          <p:cNvSpPr txBox="1"/>
          <p:nvPr/>
        </p:nvSpPr>
        <p:spPr>
          <a:xfrm>
            <a:off x="7366000" y="2247900"/>
            <a:ext cx="4013200" cy="228600"/>
          </a:xfrm>
          <a:prstGeom prst="rect">
            <a:avLst/>
          </a:prstGeom>
          <a:noFill/>
        </p:spPr>
        <p:txBody>
          <a:bodyPr wrap="none" lIns="0" rIns="0" tIns="0" bIns="0">
            <a:spAutoFit/>
          </a:bodyPr>
          <a:lstStyle/>
          <a:p>
            <a:pPr>
              <a:lnSpc>
                <a:spcPts val="1524"/>
              </a:lnSpc>
              <a:spcBef>
                <a:spcPts val="0"/>
              </a:spcBef>
              <a:spcAft>
                <a:spcPts val="0"/>
              </a:spcAft>
              <a:defRPr sz="1200" b="1">
                <a:solidFill>
                  <a:srgbClr val="FFFFFF"/>
                </a:solidFill>
                <a:latin typeface="DejaVu Sans"/>
              </a:defRPr>
            </a:pPr>
            <a:r>
              <a:t>BUSINESS EFFECT</a:t>
            </a:r>
          </a:p>
        </p:txBody>
      </p:sp>
      <p:sp>
        <p:nvSpPr>
          <p:cNvPr id="9" name="Rectangle 8"/>
          <p:cNvSpPr/>
          <p:nvPr/>
        </p:nvSpPr>
        <p:spPr>
          <a:xfrm>
            <a:off x="660400" y="2552700"/>
            <a:ext cx="10871200" cy="76835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5500" y="2705100"/>
            <a:ext cx="2159000" cy="590550"/>
          </a:xfrm>
          <a:prstGeom prst="rect">
            <a:avLst/>
          </a:prstGeom>
          <a:noFill/>
        </p:spPr>
        <p:txBody>
          <a:bodyPr wrap="none" lIns="0" rIns="0" tIns="0" bIns="0">
            <a:spAutoFit/>
          </a:bodyPr>
          <a:lstStyle/>
          <a:p>
            <a:pPr>
              <a:lnSpc>
                <a:spcPts val="1844"/>
              </a:lnSpc>
              <a:spcBef>
                <a:spcPts val="0"/>
              </a:spcBef>
              <a:spcAft>
                <a:spcPts val="0"/>
              </a:spcAft>
              <a:defRPr sz="1550" b="1">
                <a:solidFill>
                  <a:srgbClr val="008C7B"/>
                </a:solidFill>
                <a:latin typeface="DejaVu Sans"/>
              </a:defRPr>
            </a:pPr>
            <a:r>
              <a:t>accepted</a:t>
            </a:r>
          </a:p>
        </p:txBody>
      </p:sp>
      <p:sp>
        <p:nvSpPr>
          <p:cNvPr id="11" name="TextBox 10"/>
          <p:cNvSpPr txBox="1"/>
          <p:nvPr/>
        </p:nvSpPr>
        <p:spPr>
          <a:xfrm>
            <a:off x="3302000" y="2705100"/>
            <a:ext cx="3746500" cy="590550"/>
          </a:xfrm>
          <a:prstGeom prst="rect">
            <a:avLst/>
          </a:prstGeom>
          <a:noFill/>
        </p:spPr>
        <p:txBody>
          <a:bodyPr wrap="none" lIns="0" rIns="0" tIns="0" bIns="0">
            <a:spAutoFit/>
          </a:bodyPr>
          <a:lstStyle/>
          <a:p>
            <a:pPr>
              <a:lnSpc>
                <a:spcPts val="1844"/>
              </a:lnSpc>
              <a:spcBef>
                <a:spcPts val="0"/>
              </a:spcBef>
              <a:spcAft>
                <a:spcPts val="0"/>
              </a:spcAft>
              <a:defRPr sz="1550" b="0">
                <a:solidFill>
                  <a:srgbClr val="173A42"/>
                </a:solidFill>
                <a:latin typeface="DejaVu Sans"/>
              </a:defRPr>
            </a:pPr>
            <a:r>
              <a:t>Offer accepted and funded</a:t>
            </a:r>
          </a:p>
        </p:txBody>
      </p:sp>
      <p:sp>
        <p:nvSpPr>
          <p:cNvPr id="12" name="TextBox 11"/>
          <p:cNvSpPr txBox="1"/>
          <p:nvPr/>
        </p:nvSpPr>
        <p:spPr>
          <a:xfrm>
            <a:off x="7366000" y="2705100"/>
            <a:ext cx="4013200" cy="590550"/>
          </a:xfrm>
          <a:prstGeom prst="rect">
            <a:avLst/>
          </a:prstGeom>
          <a:noFill/>
        </p:spPr>
        <p:txBody>
          <a:bodyPr wrap="none" lIns="0" rIns="0" tIns="0" bIns="0">
            <a:spAutoFit/>
          </a:bodyPr>
          <a:lstStyle/>
          <a:p>
            <a:pPr>
              <a:lnSpc>
                <a:spcPts val="1844"/>
              </a:lnSpc>
              <a:spcBef>
                <a:spcPts val="0"/>
              </a:spcBef>
              <a:spcAft>
                <a:spcPts val="0"/>
              </a:spcAft>
              <a:defRPr sz="1550" b="0">
                <a:solidFill>
                  <a:srgbClr val="173A42"/>
                </a:solidFill>
                <a:latin typeface="DejaVu Sans"/>
              </a:defRPr>
            </a:pPr>
            <a:r>
              <a:t>Cash debited; stock delivered</a:t>
            </a:r>
          </a:p>
        </p:txBody>
      </p:sp>
      <p:sp>
        <p:nvSpPr>
          <p:cNvPr id="13" name="Rectangle 12"/>
          <p:cNvSpPr/>
          <p:nvPr/>
        </p:nvSpPr>
        <p:spPr>
          <a:xfrm>
            <a:off x="660400" y="3321050"/>
            <a:ext cx="10871200" cy="768350"/>
          </a:xfrm>
          <a:prstGeom prst="rect">
            <a:avLst/>
          </a:prstGeom>
          <a:solidFill>
            <a:srgbClr val="EDF3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25500" y="3473450"/>
            <a:ext cx="2159000" cy="590550"/>
          </a:xfrm>
          <a:prstGeom prst="rect">
            <a:avLst/>
          </a:prstGeom>
          <a:noFill/>
        </p:spPr>
        <p:txBody>
          <a:bodyPr wrap="none" lIns="0" rIns="0" tIns="0" bIns="0">
            <a:spAutoFit/>
          </a:bodyPr>
          <a:lstStyle/>
          <a:p>
            <a:pPr>
              <a:lnSpc>
                <a:spcPts val="1844"/>
              </a:lnSpc>
              <a:spcBef>
                <a:spcPts val="0"/>
              </a:spcBef>
              <a:spcAft>
                <a:spcPts val="0"/>
              </a:spcAft>
              <a:defRPr sz="1550" b="1">
                <a:solidFill>
                  <a:srgbClr val="008C7B"/>
                </a:solidFill>
                <a:latin typeface="DejaVu Sans"/>
              </a:defRPr>
            </a:pPr>
            <a:r>
              <a:t>counteroffer</a:t>
            </a:r>
          </a:p>
        </p:txBody>
      </p:sp>
      <p:sp>
        <p:nvSpPr>
          <p:cNvPr id="15" name="TextBox 14"/>
          <p:cNvSpPr txBox="1"/>
          <p:nvPr/>
        </p:nvSpPr>
        <p:spPr>
          <a:xfrm>
            <a:off x="3302000" y="3473450"/>
            <a:ext cx="3746500" cy="590550"/>
          </a:xfrm>
          <a:prstGeom prst="rect">
            <a:avLst/>
          </a:prstGeom>
          <a:noFill/>
        </p:spPr>
        <p:txBody>
          <a:bodyPr wrap="none" lIns="0" rIns="0" tIns="0" bIns="0">
            <a:spAutoFit/>
          </a:bodyPr>
          <a:lstStyle/>
          <a:p>
            <a:pPr>
              <a:lnSpc>
                <a:spcPts val="1844"/>
              </a:lnSpc>
              <a:spcBef>
                <a:spcPts val="0"/>
              </a:spcBef>
              <a:spcAft>
                <a:spcPts val="0"/>
              </a:spcAft>
              <a:defRPr sz="1550" b="0">
                <a:solidFill>
                  <a:srgbClr val="173A42"/>
                </a:solidFill>
                <a:latin typeface="DejaVu Sans"/>
              </a:defRPr>
            </a:pPr>
            <a:r>
              <a:t>Different price proposed</a:t>
            </a:r>
          </a:p>
        </p:txBody>
      </p:sp>
      <p:sp>
        <p:nvSpPr>
          <p:cNvPr id="16" name="TextBox 15"/>
          <p:cNvSpPr txBox="1"/>
          <p:nvPr/>
        </p:nvSpPr>
        <p:spPr>
          <a:xfrm>
            <a:off x="7366000" y="3473450"/>
            <a:ext cx="4013200" cy="590550"/>
          </a:xfrm>
          <a:prstGeom prst="rect">
            <a:avLst/>
          </a:prstGeom>
          <a:noFill/>
        </p:spPr>
        <p:txBody>
          <a:bodyPr wrap="none" lIns="0" rIns="0" tIns="0" bIns="0">
            <a:spAutoFit/>
          </a:bodyPr>
          <a:lstStyle/>
          <a:p>
            <a:pPr>
              <a:lnSpc>
                <a:spcPts val="1844"/>
              </a:lnSpc>
              <a:spcBef>
                <a:spcPts val="0"/>
              </a:spcBef>
              <a:spcAft>
                <a:spcPts val="0"/>
              </a:spcAft>
              <a:defRPr sz="1550" b="0">
                <a:solidFill>
                  <a:srgbClr val="173A42"/>
                </a:solidFill>
                <a:latin typeface="DejaVu Sans"/>
              </a:defRPr>
            </a:pPr>
            <a:r>
              <a:t>No purchase; submit a new offer</a:t>
            </a:r>
          </a:p>
        </p:txBody>
      </p:sp>
      <p:sp>
        <p:nvSpPr>
          <p:cNvPr id="17" name="Rectangle 16"/>
          <p:cNvSpPr/>
          <p:nvPr/>
        </p:nvSpPr>
        <p:spPr>
          <a:xfrm>
            <a:off x="660400" y="4089400"/>
            <a:ext cx="10871200" cy="76835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5500" y="4241800"/>
            <a:ext cx="2159000" cy="590550"/>
          </a:xfrm>
          <a:prstGeom prst="rect">
            <a:avLst/>
          </a:prstGeom>
          <a:noFill/>
        </p:spPr>
        <p:txBody>
          <a:bodyPr wrap="none" lIns="0" rIns="0" tIns="0" bIns="0">
            <a:spAutoFit/>
          </a:bodyPr>
          <a:lstStyle/>
          <a:p>
            <a:pPr>
              <a:lnSpc>
                <a:spcPts val="1844"/>
              </a:lnSpc>
              <a:spcBef>
                <a:spcPts val="0"/>
              </a:spcBef>
              <a:spcAft>
                <a:spcPts val="0"/>
              </a:spcAft>
              <a:defRPr sz="1550" b="1">
                <a:solidFill>
                  <a:srgbClr val="008C7B"/>
                </a:solidFill>
                <a:latin typeface="DejaVu Sans"/>
              </a:defRPr>
            </a:pPr>
            <a:r>
              <a:t>no_reply</a:t>
            </a:r>
          </a:p>
        </p:txBody>
      </p:sp>
      <p:sp>
        <p:nvSpPr>
          <p:cNvPr id="19" name="TextBox 18"/>
          <p:cNvSpPr txBox="1"/>
          <p:nvPr/>
        </p:nvSpPr>
        <p:spPr>
          <a:xfrm>
            <a:off x="3302000" y="4241800"/>
            <a:ext cx="3746500" cy="590550"/>
          </a:xfrm>
          <a:prstGeom prst="rect">
            <a:avLst/>
          </a:prstGeom>
          <a:noFill/>
        </p:spPr>
        <p:txBody>
          <a:bodyPr wrap="none" lIns="0" rIns="0" tIns="0" bIns="0">
            <a:spAutoFit/>
          </a:bodyPr>
          <a:lstStyle/>
          <a:p>
            <a:pPr>
              <a:lnSpc>
                <a:spcPts val="1844"/>
              </a:lnSpc>
              <a:spcBef>
                <a:spcPts val="0"/>
              </a:spcBef>
              <a:spcAft>
                <a:spcPts val="0"/>
              </a:spcAft>
              <a:defRPr sz="1550" b="0">
                <a:solidFill>
                  <a:srgbClr val="173A42"/>
                </a:solidFill>
                <a:latin typeface="DejaVu Sans"/>
              </a:defRPr>
            </a:pPr>
            <a:r>
              <a:t>Supplier declines to engage</a:t>
            </a:r>
          </a:p>
        </p:txBody>
      </p:sp>
      <p:sp>
        <p:nvSpPr>
          <p:cNvPr id="20" name="TextBox 19"/>
          <p:cNvSpPr txBox="1"/>
          <p:nvPr/>
        </p:nvSpPr>
        <p:spPr>
          <a:xfrm>
            <a:off x="7366000" y="4241800"/>
            <a:ext cx="4013200" cy="590550"/>
          </a:xfrm>
          <a:prstGeom prst="rect">
            <a:avLst/>
          </a:prstGeom>
          <a:noFill/>
        </p:spPr>
        <p:txBody>
          <a:bodyPr wrap="none" lIns="0" rIns="0" tIns="0" bIns="0">
            <a:spAutoFit/>
          </a:bodyPr>
          <a:lstStyle/>
          <a:p>
            <a:pPr>
              <a:lnSpc>
                <a:spcPts val="1844"/>
              </a:lnSpc>
              <a:spcBef>
                <a:spcPts val="0"/>
              </a:spcBef>
              <a:spcAft>
                <a:spcPts val="0"/>
              </a:spcAft>
              <a:defRPr sz="1550" b="0">
                <a:solidFill>
                  <a:srgbClr val="173A42"/>
                </a:solidFill>
                <a:latin typeface="DejaVu Sans"/>
              </a:defRPr>
            </a:pPr>
            <a:r>
              <a:t>Normal result; action time is spent</a:t>
            </a:r>
          </a:p>
        </p:txBody>
      </p:sp>
      <p:sp>
        <p:nvSpPr>
          <p:cNvPr id="21" name="Rectangle 20"/>
          <p:cNvSpPr/>
          <p:nvPr/>
        </p:nvSpPr>
        <p:spPr>
          <a:xfrm>
            <a:off x="660400" y="4857750"/>
            <a:ext cx="10871200" cy="768350"/>
          </a:xfrm>
          <a:prstGeom prst="rect">
            <a:avLst/>
          </a:prstGeom>
          <a:solidFill>
            <a:srgbClr val="EDF3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5500" y="5010150"/>
            <a:ext cx="2159000" cy="590550"/>
          </a:xfrm>
          <a:prstGeom prst="rect">
            <a:avLst/>
          </a:prstGeom>
          <a:noFill/>
        </p:spPr>
        <p:txBody>
          <a:bodyPr wrap="none" lIns="0" rIns="0" tIns="0" bIns="0">
            <a:spAutoFit/>
          </a:bodyPr>
          <a:lstStyle/>
          <a:p>
            <a:pPr>
              <a:lnSpc>
                <a:spcPts val="1844"/>
              </a:lnSpc>
              <a:spcBef>
                <a:spcPts val="0"/>
              </a:spcBef>
              <a:spcAft>
                <a:spcPts val="0"/>
              </a:spcAft>
              <a:defRPr sz="1550" b="1">
                <a:solidFill>
                  <a:srgbClr val="008C7B"/>
                </a:solidFill>
                <a:latin typeface="DejaVu Sans"/>
              </a:defRPr>
            </a:pPr>
            <a:r>
              <a:t>insufficient_funds</a:t>
            </a:r>
          </a:p>
        </p:txBody>
      </p:sp>
      <p:sp>
        <p:nvSpPr>
          <p:cNvPr id="23" name="TextBox 22"/>
          <p:cNvSpPr txBox="1"/>
          <p:nvPr/>
        </p:nvSpPr>
        <p:spPr>
          <a:xfrm>
            <a:off x="3302000" y="5010150"/>
            <a:ext cx="3746500" cy="590550"/>
          </a:xfrm>
          <a:prstGeom prst="rect">
            <a:avLst/>
          </a:prstGeom>
          <a:noFill/>
        </p:spPr>
        <p:txBody>
          <a:bodyPr wrap="none" lIns="0" rIns="0" tIns="0" bIns="0">
            <a:spAutoFit/>
          </a:bodyPr>
          <a:lstStyle/>
          <a:p>
            <a:pPr>
              <a:lnSpc>
                <a:spcPts val="1844"/>
              </a:lnSpc>
              <a:spcBef>
                <a:spcPts val="0"/>
              </a:spcBef>
              <a:spcAft>
                <a:spcPts val="0"/>
              </a:spcAft>
              <a:defRPr sz="1550" b="0">
                <a:solidFill>
                  <a:srgbClr val="173A42"/>
                </a:solidFill>
                <a:latin typeface="DejaVu Sans"/>
              </a:defRPr>
            </a:pPr>
            <a:r>
              <a:t>Accepted terms exceed cash</a:t>
            </a:r>
          </a:p>
        </p:txBody>
      </p:sp>
      <p:sp>
        <p:nvSpPr>
          <p:cNvPr id="24" name="TextBox 23"/>
          <p:cNvSpPr txBox="1"/>
          <p:nvPr/>
        </p:nvSpPr>
        <p:spPr>
          <a:xfrm>
            <a:off x="7366000" y="5010150"/>
            <a:ext cx="4013200" cy="590550"/>
          </a:xfrm>
          <a:prstGeom prst="rect">
            <a:avLst/>
          </a:prstGeom>
          <a:noFill/>
        </p:spPr>
        <p:txBody>
          <a:bodyPr wrap="none" lIns="0" rIns="0" tIns="0" bIns="0">
            <a:spAutoFit/>
          </a:bodyPr>
          <a:lstStyle/>
          <a:p>
            <a:pPr>
              <a:lnSpc>
                <a:spcPts val="1844"/>
              </a:lnSpc>
              <a:spcBef>
                <a:spcPts val="0"/>
              </a:spcBef>
              <a:spcAft>
                <a:spcPts val="0"/>
              </a:spcAft>
              <a:defRPr sz="1550" b="0">
                <a:solidFill>
                  <a:srgbClr val="173A42"/>
                </a:solidFill>
                <a:latin typeface="DejaVu Sans"/>
              </a:defRPr>
            </a:pPr>
            <a:r>
              <a:t>No partial purchase</a:t>
            </a:r>
          </a:p>
        </p:txBody>
      </p:sp>
      <p:sp>
        <p:nvSpPr>
          <p:cNvPr id="25" name="Rounded Rectangle 24"/>
          <p:cNvSpPr/>
          <p:nvPr/>
        </p:nvSpPr>
        <p:spPr>
          <a:xfrm>
            <a:off x="660400" y="5842000"/>
            <a:ext cx="10871200" cy="546100"/>
          </a:xfrm>
          <a:prstGeom prst="roundRect">
            <a:avLst>
              <a:gd name="adj" fmla="val 15000"/>
            </a:avLst>
          </a:prstGeom>
          <a:solidFill>
            <a:srgbClr val="E8F3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38200" y="5994400"/>
            <a:ext cx="10502900" cy="355600"/>
          </a:xfrm>
          <a:prstGeom prst="rect">
            <a:avLst/>
          </a:prstGeom>
          <a:noFill/>
        </p:spPr>
        <p:txBody>
          <a:bodyPr wrap="none" lIns="0" rIns="0" tIns="0" bIns="0">
            <a:spAutoFit/>
          </a:bodyPr>
          <a:lstStyle/>
          <a:p>
            <a:pPr>
              <a:lnSpc>
                <a:spcPts val="1380"/>
              </a:lnSpc>
              <a:spcBef>
                <a:spcPts val="0"/>
              </a:spcBef>
              <a:spcAft>
                <a:spcPts val="0"/>
              </a:spcAft>
              <a:defRPr sz="1200" b="1">
                <a:solidFill>
                  <a:srgbClr val="173A42"/>
                </a:solidFill>
                <a:latin typeface="DejaVu Sans"/>
              </a:defRPr>
            </a:pPr>
            <a:r>
              <a:t>A suggestion for another product is optional; it never buys anything automatically.</a:t>
            </a:r>
          </a:p>
        </p:txBody>
      </p:sp>
      <p:cxnSp>
        <p:nvCxnSpPr>
          <p:cNvPr id="27" name="Connector 26"/>
          <p:cNvCxnSpPr/>
          <p:nvPr/>
        </p:nvCxnSpPr>
        <p:spPr>
          <a:xfrm>
            <a:off x="660400" y="6565900"/>
            <a:ext cx="10871200" cy="0"/>
          </a:xfrm>
          <a:prstGeom prst="line">
            <a:avLst/>
          </a:prstGeom>
          <a:ln w="8255">
            <a:solidFill>
              <a:srgbClr val="DCE6E2"/>
            </a:solidFill>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660400" y="6654800"/>
            <a:ext cx="8509000" cy="127000"/>
          </a:xfrm>
          <a:prstGeom prst="rect">
            <a:avLst/>
          </a:prstGeom>
          <a:noFill/>
        </p:spPr>
        <p:txBody>
          <a:bodyPr wrap="none" lIns="0" rIns="0" tIns="0" bIns="0">
            <a:spAutoFit/>
          </a:bodyPr>
          <a:lstStyle/>
          <a:p>
            <a:pPr>
              <a:lnSpc>
                <a:spcPts val="952"/>
              </a:lnSpc>
              <a:spcBef>
                <a:spcPts val="0"/>
              </a:spcBef>
              <a:spcAft>
                <a:spcPts val="0"/>
              </a:spcAft>
              <a:defRPr sz="750" b="0">
                <a:solidFill>
                  <a:srgbClr val="557079"/>
                </a:solidFill>
                <a:latin typeface="DejaVu Sans"/>
              </a:defRPr>
            </a:pPr>
            <a:r>
              <a:t>VENDING BENCH  /  PARTICIPANT BRIEFING</a:t>
            </a:r>
          </a:p>
        </p:txBody>
      </p:sp>
      <p:sp>
        <p:nvSpPr>
          <p:cNvPr id="29" name="TextBox 28"/>
          <p:cNvSpPr txBox="1"/>
          <p:nvPr/>
        </p:nvSpPr>
        <p:spPr>
          <a:xfrm>
            <a:off x="11188700" y="6642100"/>
            <a:ext cx="342900" cy="152400"/>
          </a:xfrm>
          <a:prstGeom prst="rect">
            <a:avLst/>
          </a:prstGeom>
          <a:noFill/>
        </p:spPr>
        <p:txBody>
          <a:bodyPr wrap="none" lIns="0" rIns="0" tIns="0" bIns="0">
            <a:spAutoFit/>
          </a:bodyPr>
          <a:lstStyle/>
          <a:p>
            <a:pPr>
              <a:lnSpc>
                <a:spcPts val="1143"/>
              </a:lnSpc>
              <a:spcBef>
                <a:spcPts val="0"/>
              </a:spcBef>
              <a:spcAft>
                <a:spcPts val="0"/>
              </a:spcAft>
              <a:defRPr sz="900" b="1">
                <a:solidFill>
                  <a:srgbClr val="008C7B"/>
                </a:solidFill>
                <a:latin typeface="DejaVu Sans"/>
              </a:defRPr>
            </a:pPr>
            <a:r>
              <a:t>08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5F8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60400" y="355600"/>
            <a:ext cx="10287000" cy="228600"/>
          </a:xfrm>
          <a:prstGeom prst="rect">
            <a:avLst/>
          </a:prstGeom>
          <a:noFill/>
        </p:spPr>
        <p:txBody>
          <a:bodyPr wrap="none" lIns="0" rIns="0" tIns="0" bIns="0">
            <a:spAutoFit/>
          </a:bodyPr>
          <a:lstStyle/>
          <a:p>
            <a:pPr>
              <a:lnSpc>
                <a:spcPts val="1270"/>
              </a:lnSpc>
              <a:spcBef>
                <a:spcPts val="0"/>
              </a:spcBef>
              <a:spcAft>
                <a:spcPts val="0"/>
              </a:spcAft>
              <a:defRPr sz="1000" b="1">
                <a:solidFill>
                  <a:srgbClr val="008C7B"/>
                </a:solidFill>
                <a:latin typeface="DejaVu Sans"/>
              </a:defRPr>
            </a:pPr>
            <a:r>
              <a:t>02 / THE ENVIRONMENT</a:t>
            </a:r>
          </a:p>
        </p:txBody>
      </p:sp>
      <p:sp>
        <p:nvSpPr>
          <p:cNvPr id="4" name="TextBox 3"/>
          <p:cNvSpPr txBox="1"/>
          <p:nvPr/>
        </p:nvSpPr>
        <p:spPr>
          <a:xfrm>
            <a:off x="660400" y="825500"/>
            <a:ext cx="10871200" cy="1143000"/>
          </a:xfrm>
          <a:prstGeom prst="rect">
            <a:avLst/>
          </a:prstGeom>
          <a:noFill/>
        </p:spPr>
        <p:txBody>
          <a:bodyPr wrap="none" lIns="0" rIns="0" tIns="0" bIns="0">
            <a:spAutoFit/>
          </a:bodyPr>
          <a:lstStyle/>
          <a:p>
            <a:pPr>
              <a:lnSpc>
                <a:spcPts val="3596"/>
              </a:lnSpc>
              <a:spcBef>
                <a:spcPts val="0"/>
              </a:spcBef>
              <a:spcAft>
                <a:spcPts val="0"/>
              </a:spcAft>
              <a:defRPr sz="3100" b="1">
                <a:solidFill>
                  <a:srgbClr val="173A42"/>
                </a:solidFill>
                <a:latin typeface="DejaVu Sans"/>
              </a:defRPr>
            </a:pPr>
            <a:r>
              <a:t>Pricing trades margin against demand.</a:t>
            </a:r>
          </a:p>
        </p:txBody>
      </p:sp>
      <p:sp>
        <p:nvSpPr>
          <p:cNvPr id="5" name="Rounded Rectangle 4"/>
          <p:cNvSpPr/>
          <p:nvPr/>
        </p:nvSpPr>
        <p:spPr>
          <a:xfrm>
            <a:off x="660400" y="2159000"/>
            <a:ext cx="4737100" cy="3327400"/>
          </a:xfrm>
          <a:prstGeom prst="roundRect">
            <a:avLst>
              <a:gd name="adj" fmla="val 3816"/>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2362200"/>
            <a:ext cx="4178300" cy="279400"/>
          </a:xfrm>
          <a:prstGeom prst="rect">
            <a:avLst/>
          </a:prstGeom>
          <a:noFill/>
        </p:spPr>
        <p:txBody>
          <a:bodyPr wrap="none" lIns="0" rIns="0" tIns="0" bIns="0">
            <a:spAutoFit/>
          </a:bodyPr>
          <a:lstStyle/>
          <a:p>
            <a:pPr>
              <a:lnSpc>
                <a:spcPts val="1270"/>
              </a:lnSpc>
              <a:spcBef>
                <a:spcPts val="0"/>
              </a:spcBef>
              <a:spcAft>
                <a:spcPts val="0"/>
              </a:spcAft>
              <a:defRPr sz="1000" b="1">
                <a:solidFill>
                  <a:srgbClr val="557079"/>
                </a:solidFill>
                <a:latin typeface="DejaVu Sans"/>
              </a:defRPr>
            </a:pPr>
            <a:r>
              <a:t>QUALITATIVE RELATIONSHIP</a:t>
            </a:r>
          </a:p>
        </p:txBody>
      </p:sp>
      <p:cxnSp>
        <p:nvCxnSpPr>
          <p:cNvPr id="7" name="Connector 6"/>
          <p:cNvCxnSpPr/>
          <p:nvPr/>
        </p:nvCxnSpPr>
        <p:spPr>
          <a:xfrm>
            <a:off x="1333500" y="4889500"/>
            <a:ext cx="3657600" cy="0"/>
          </a:xfrm>
          <a:prstGeom prst="line">
            <a:avLst/>
          </a:prstGeom>
          <a:ln w="12700">
            <a:solidFill>
              <a:srgbClr val="557079"/>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V="1">
            <a:off x="1333500" y="2882900"/>
            <a:ext cx="0" cy="2006600"/>
          </a:xfrm>
          <a:prstGeom prst="line">
            <a:avLst/>
          </a:prstGeom>
          <a:ln w="12700">
            <a:solidFill>
              <a:srgbClr val="557079"/>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927100" y="2705100"/>
            <a:ext cx="3492500" cy="292100"/>
          </a:xfrm>
          <a:prstGeom prst="rect">
            <a:avLst/>
          </a:prstGeom>
          <a:noFill/>
        </p:spPr>
        <p:txBody>
          <a:bodyPr wrap="none" lIns="0" rIns="0" tIns="0" bIns="0">
            <a:spAutoFit/>
          </a:bodyPr>
          <a:lstStyle/>
          <a:p>
            <a:pPr>
              <a:lnSpc>
                <a:spcPts val="1524"/>
              </a:lnSpc>
              <a:spcBef>
                <a:spcPts val="0"/>
              </a:spcBef>
              <a:spcAft>
                <a:spcPts val="0"/>
              </a:spcAft>
              <a:defRPr sz="1200" b="0">
                <a:solidFill>
                  <a:srgbClr val="008C7B"/>
                </a:solidFill>
                <a:latin typeface="DejaVu Sans"/>
              </a:defRPr>
            </a:pPr>
            <a:r>
              <a:t>Expected demand</a:t>
            </a:r>
          </a:p>
        </p:txBody>
      </p:sp>
      <p:sp>
        <p:nvSpPr>
          <p:cNvPr id="10" name="TextBox 9"/>
          <p:cNvSpPr txBox="1"/>
          <p:nvPr/>
        </p:nvSpPr>
        <p:spPr>
          <a:xfrm>
            <a:off x="2552700" y="5080000"/>
            <a:ext cx="2463800" cy="279400"/>
          </a:xfrm>
          <a:prstGeom prst="rect">
            <a:avLst/>
          </a:prstGeom>
          <a:noFill/>
        </p:spPr>
        <p:txBody>
          <a:bodyPr wrap="none" lIns="0" rIns="0" tIns="0" bIns="0">
            <a:spAutoFit/>
          </a:bodyPr>
          <a:lstStyle/>
          <a:p>
            <a:pPr>
              <a:lnSpc>
                <a:spcPts val="1524"/>
              </a:lnSpc>
              <a:spcBef>
                <a:spcPts val="0"/>
              </a:spcBef>
              <a:spcAft>
                <a:spcPts val="0"/>
              </a:spcAft>
              <a:defRPr sz="1200" b="0">
                <a:solidFill>
                  <a:srgbClr val="557079"/>
                </a:solidFill>
                <a:latin typeface="DejaVu Sans"/>
              </a:defRPr>
            </a:pPr>
            <a:r>
              <a:t>Selling price →</a:t>
            </a:r>
          </a:p>
        </p:txBody>
      </p:sp>
      <p:cxnSp>
        <p:nvCxnSpPr>
          <p:cNvPr id="11" name="Connector 10"/>
          <p:cNvCxnSpPr/>
          <p:nvPr/>
        </p:nvCxnSpPr>
        <p:spPr>
          <a:xfrm>
            <a:off x="1447800" y="3111500"/>
            <a:ext cx="127000" cy="185043"/>
          </a:xfrm>
          <a:prstGeom prst="line">
            <a:avLst/>
          </a:prstGeom>
          <a:ln w="38100">
            <a:solidFill>
              <a:srgbClr val="008C7B"/>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1574800" y="3296543"/>
            <a:ext cx="127000" cy="163301"/>
          </a:xfrm>
          <a:prstGeom prst="line">
            <a:avLst/>
          </a:prstGeom>
          <a:ln w="38100">
            <a:solidFill>
              <a:srgbClr val="008C7B"/>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1701800" y="3459844"/>
            <a:ext cx="127000" cy="144112"/>
          </a:xfrm>
          <a:prstGeom prst="line">
            <a:avLst/>
          </a:prstGeom>
          <a:ln w="38100">
            <a:solidFill>
              <a:srgbClr val="008C7B"/>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1828800" y="3603956"/>
            <a:ext cx="127000" cy="127179"/>
          </a:xfrm>
          <a:prstGeom prst="line">
            <a:avLst/>
          </a:prstGeom>
          <a:ln w="38100">
            <a:solidFill>
              <a:srgbClr val="008C7B"/>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1955800" y="3731135"/>
            <a:ext cx="127000" cy="112235"/>
          </a:xfrm>
          <a:prstGeom prst="line">
            <a:avLst/>
          </a:prstGeom>
          <a:ln w="38100">
            <a:solidFill>
              <a:srgbClr val="008C7B"/>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2082800" y="3843370"/>
            <a:ext cx="127000" cy="99047"/>
          </a:xfrm>
          <a:prstGeom prst="line">
            <a:avLst/>
          </a:prstGeom>
          <a:ln w="38100">
            <a:solidFill>
              <a:srgbClr val="008C7B"/>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2209800" y="3942417"/>
            <a:ext cx="127000" cy="87408"/>
          </a:xfrm>
          <a:prstGeom prst="line">
            <a:avLst/>
          </a:prstGeom>
          <a:ln w="38100">
            <a:solidFill>
              <a:srgbClr val="008C7B"/>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2336800" y="4029825"/>
            <a:ext cx="127000" cy="77138"/>
          </a:xfrm>
          <a:prstGeom prst="line">
            <a:avLst/>
          </a:prstGeom>
          <a:ln w="38100">
            <a:solidFill>
              <a:srgbClr val="008C7B"/>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2463800" y="4106963"/>
            <a:ext cx="127000" cy="68074"/>
          </a:xfrm>
          <a:prstGeom prst="line">
            <a:avLst/>
          </a:prstGeom>
          <a:ln w="38100">
            <a:solidFill>
              <a:srgbClr val="008C7B"/>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2590800" y="4175037"/>
            <a:ext cx="127000" cy="60075"/>
          </a:xfrm>
          <a:prstGeom prst="line">
            <a:avLst/>
          </a:prstGeom>
          <a:ln w="38100">
            <a:solidFill>
              <a:srgbClr val="008C7B"/>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2717800" y="4235112"/>
            <a:ext cx="127000" cy="53016"/>
          </a:xfrm>
          <a:prstGeom prst="line">
            <a:avLst/>
          </a:prstGeom>
          <a:ln w="38100">
            <a:solidFill>
              <a:srgbClr val="008C7B"/>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2844800" y="4288128"/>
            <a:ext cx="127000" cy="46786"/>
          </a:xfrm>
          <a:prstGeom prst="line">
            <a:avLst/>
          </a:prstGeom>
          <a:ln w="38100">
            <a:solidFill>
              <a:srgbClr val="008C7B"/>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2971800" y="4334914"/>
            <a:ext cx="127000" cy="41289"/>
          </a:xfrm>
          <a:prstGeom prst="line">
            <a:avLst/>
          </a:prstGeom>
          <a:ln w="38100">
            <a:solidFill>
              <a:srgbClr val="008C7B"/>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3098800" y="4376203"/>
            <a:ext cx="127000" cy="36437"/>
          </a:xfrm>
          <a:prstGeom prst="line">
            <a:avLst/>
          </a:prstGeom>
          <a:ln w="38100">
            <a:solidFill>
              <a:srgbClr val="008C7B"/>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3225800" y="4412640"/>
            <a:ext cx="127000" cy="32156"/>
          </a:xfrm>
          <a:prstGeom prst="line">
            <a:avLst/>
          </a:prstGeom>
          <a:ln w="38100">
            <a:solidFill>
              <a:srgbClr val="008C7B"/>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3352800" y="4444796"/>
            <a:ext cx="127000" cy="28377"/>
          </a:xfrm>
          <a:prstGeom prst="line">
            <a:avLst/>
          </a:prstGeom>
          <a:ln w="38100">
            <a:solidFill>
              <a:srgbClr val="008C7B"/>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3479800" y="4473173"/>
            <a:ext cx="127000" cy="25043"/>
          </a:xfrm>
          <a:prstGeom prst="line">
            <a:avLst/>
          </a:prstGeom>
          <a:ln w="38100">
            <a:solidFill>
              <a:srgbClr val="008C7B"/>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3606800" y="4498216"/>
            <a:ext cx="127000" cy="22101"/>
          </a:xfrm>
          <a:prstGeom prst="line">
            <a:avLst/>
          </a:prstGeom>
          <a:ln w="38100">
            <a:solidFill>
              <a:srgbClr val="008C7B"/>
            </a:solidFill>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3733800" y="4520317"/>
            <a:ext cx="127000" cy="19503"/>
          </a:xfrm>
          <a:prstGeom prst="line">
            <a:avLst/>
          </a:prstGeom>
          <a:ln w="38100">
            <a:solidFill>
              <a:srgbClr val="008C7B"/>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3860800" y="4539820"/>
            <a:ext cx="127000" cy="17212"/>
          </a:xfrm>
          <a:prstGeom prst="line">
            <a:avLst/>
          </a:prstGeom>
          <a:ln w="38100">
            <a:solidFill>
              <a:srgbClr val="008C7B"/>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3987800" y="4557032"/>
            <a:ext cx="127000" cy="15189"/>
          </a:xfrm>
          <a:prstGeom prst="line">
            <a:avLst/>
          </a:prstGeom>
          <a:ln w="38100">
            <a:solidFill>
              <a:srgbClr val="008C7B"/>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4114800" y="4572221"/>
            <a:ext cx="127000" cy="13405"/>
          </a:xfrm>
          <a:prstGeom prst="line">
            <a:avLst/>
          </a:prstGeom>
          <a:ln w="38100">
            <a:solidFill>
              <a:srgbClr val="008C7B"/>
            </a:solidFill>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4241800" y="4585626"/>
            <a:ext cx="127000" cy="11829"/>
          </a:xfrm>
          <a:prstGeom prst="line">
            <a:avLst/>
          </a:prstGeom>
          <a:ln w="38100">
            <a:solidFill>
              <a:srgbClr val="008C7B"/>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4368800" y="4597455"/>
            <a:ext cx="127000" cy="10440"/>
          </a:xfrm>
          <a:prstGeom prst="line">
            <a:avLst/>
          </a:prstGeom>
          <a:ln w="38100">
            <a:solidFill>
              <a:srgbClr val="008C7B"/>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4495800" y="4607895"/>
            <a:ext cx="127000" cy="9213"/>
          </a:xfrm>
          <a:prstGeom prst="line">
            <a:avLst/>
          </a:prstGeom>
          <a:ln w="38100">
            <a:solidFill>
              <a:srgbClr val="008C7B"/>
            </a:solidFill>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4622800" y="4617108"/>
            <a:ext cx="127000" cy="8130"/>
          </a:xfrm>
          <a:prstGeom prst="line">
            <a:avLst/>
          </a:prstGeom>
          <a:ln w="38100">
            <a:solidFill>
              <a:srgbClr val="008C7B"/>
            </a:solidFill>
          </a:ln>
        </p:spPr>
        <p:style>
          <a:lnRef idx="2">
            <a:schemeClr val="accent1"/>
          </a:lnRef>
          <a:fillRef idx="0">
            <a:schemeClr val="accent1"/>
          </a:fillRef>
          <a:effectRef idx="1">
            <a:schemeClr val="accent1"/>
          </a:effectRef>
          <a:fontRef idx="minor">
            <a:schemeClr val="tx1"/>
          </a:fontRef>
        </p:style>
      </p:cxnSp>
      <p:sp>
        <p:nvSpPr>
          <p:cNvPr id="37" name="Rounded Rectangle 36"/>
          <p:cNvSpPr/>
          <p:nvPr/>
        </p:nvSpPr>
        <p:spPr>
          <a:xfrm>
            <a:off x="5816600" y="2273300"/>
            <a:ext cx="63500" cy="63500"/>
          </a:xfrm>
          <a:prstGeom prst="roundRect">
            <a:avLst>
              <a:gd name="adj" fmla="val 15000"/>
            </a:avLst>
          </a:prstGeom>
          <a:solidFill>
            <a:srgbClr val="008C7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045200" y="2197100"/>
            <a:ext cx="5486400" cy="1397000"/>
          </a:xfrm>
          <a:prstGeom prst="rect">
            <a:avLst/>
          </a:prstGeom>
          <a:noFill/>
        </p:spPr>
        <p:txBody>
          <a:bodyPr wrap="none" lIns="0" rIns="0" tIns="0" bIns="0">
            <a:spAutoFit/>
          </a:bodyPr>
          <a:lstStyle/>
          <a:p>
            <a:pPr>
              <a:lnSpc>
                <a:spcPts val="2295"/>
              </a:lnSpc>
              <a:spcBef>
                <a:spcPts val="0"/>
              </a:spcBef>
              <a:spcAft>
                <a:spcPts val="0"/>
              </a:spcAft>
              <a:defRPr sz="1700" b="0">
                <a:solidFill>
                  <a:srgbClr val="173A42"/>
                </a:solidFill>
                <a:latin typeface="DejaVu Sans"/>
              </a:defRPr>
            </a:pPr>
            <a:r>
              <a:t>Demand is stochastic and price-sensitive.</a:t>
            </a:r>
          </a:p>
        </p:txBody>
      </p:sp>
      <p:sp>
        <p:nvSpPr>
          <p:cNvPr id="39" name="Rounded Rectangle 38"/>
          <p:cNvSpPr/>
          <p:nvPr/>
        </p:nvSpPr>
        <p:spPr>
          <a:xfrm>
            <a:off x="5816600" y="2717800"/>
            <a:ext cx="63500" cy="63500"/>
          </a:xfrm>
          <a:prstGeom prst="roundRect">
            <a:avLst>
              <a:gd name="adj" fmla="val 15000"/>
            </a:avLst>
          </a:prstGeom>
          <a:solidFill>
            <a:srgbClr val="008C7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045200" y="2641600"/>
            <a:ext cx="5486400" cy="1397000"/>
          </a:xfrm>
          <a:prstGeom prst="rect">
            <a:avLst/>
          </a:prstGeom>
          <a:noFill/>
        </p:spPr>
        <p:txBody>
          <a:bodyPr wrap="none" lIns="0" rIns="0" tIns="0" bIns="0">
            <a:spAutoFit/>
          </a:bodyPr>
          <a:lstStyle/>
          <a:p>
            <a:pPr>
              <a:lnSpc>
                <a:spcPts val="2295"/>
              </a:lnSpc>
              <a:spcBef>
                <a:spcPts val="0"/>
              </a:spcBef>
              <a:spcAft>
                <a:spcPts val="0"/>
              </a:spcAft>
              <a:defRPr sz="1700" b="0">
                <a:solidFill>
                  <a:srgbClr val="173A42"/>
                </a:solidFill>
                <a:latin typeface="DejaVu Sans"/>
              </a:defRPr>
            </a:pPr>
            <a:r>
              <a:t>Higher prices reduce expected demand; one day's</a:t>
            </a:r>
          </a:p>
          <a:p>
            <a:pPr>
              <a:lnSpc>
                <a:spcPts val="2295"/>
              </a:lnSpc>
              <a:spcBef>
                <a:spcPts val="0"/>
              </a:spcBef>
              <a:spcAft>
                <a:spcPts val="0"/>
              </a:spcAft>
              <a:defRPr sz="1700" b="0">
                <a:solidFill>
                  <a:srgbClr val="173A42"/>
                </a:solidFill>
                <a:latin typeface="DejaVu Sans"/>
              </a:defRPr>
            </a:pPr>
            <a:r>
              <a:t>sales can be noisy.</a:t>
            </a:r>
          </a:p>
        </p:txBody>
      </p:sp>
      <p:sp>
        <p:nvSpPr>
          <p:cNvPr id="41" name="Rounded Rectangle 40"/>
          <p:cNvSpPr/>
          <p:nvPr/>
        </p:nvSpPr>
        <p:spPr>
          <a:xfrm>
            <a:off x="5816600" y="3453765"/>
            <a:ext cx="63500" cy="63500"/>
          </a:xfrm>
          <a:prstGeom prst="roundRect">
            <a:avLst>
              <a:gd name="adj" fmla="val 15000"/>
            </a:avLst>
          </a:prstGeom>
          <a:solidFill>
            <a:srgbClr val="008C7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6045200" y="3377565"/>
            <a:ext cx="5486400" cy="1397000"/>
          </a:xfrm>
          <a:prstGeom prst="rect">
            <a:avLst/>
          </a:prstGeom>
          <a:noFill/>
        </p:spPr>
        <p:txBody>
          <a:bodyPr wrap="none" lIns="0" rIns="0" tIns="0" bIns="0">
            <a:spAutoFit/>
          </a:bodyPr>
          <a:lstStyle/>
          <a:p>
            <a:pPr>
              <a:lnSpc>
                <a:spcPts val="2295"/>
              </a:lnSpc>
              <a:spcBef>
                <a:spcPts val="0"/>
              </a:spcBef>
              <a:spcAft>
                <a:spcPts val="0"/>
              </a:spcAft>
              <a:defRPr sz="1700" b="0">
                <a:solidFill>
                  <a:srgbClr val="173A42"/>
                </a:solidFill>
                <a:latin typeface="DejaVu Sans"/>
              </a:defRPr>
            </a:pPr>
            <a:r>
              <a:t>Stockouts lose sales. Extra slots provide stock, not</a:t>
            </a:r>
          </a:p>
          <a:p>
            <a:pPr>
              <a:lnSpc>
                <a:spcPts val="2295"/>
              </a:lnSpc>
              <a:spcBef>
                <a:spcPts val="0"/>
              </a:spcBef>
              <a:spcAft>
                <a:spcPts val="0"/>
              </a:spcAft>
              <a:defRPr sz="1700" b="0">
                <a:solidFill>
                  <a:srgbClr val="173A42"/>
                </a:solidFill>
                <a:latin typeface="DejaVu Sans"/>
              </a:defRPr>
            </a:pPr>
            <a:r>
              <a:t>extra demand.</a:t>
            </a:r>
          </a:p>
        </p:txBody>
      </p:sp>
      <p:sp>
        <p:nvSpPr>
          <p:cNvPr id="43" name="Rounded Rectangle 42"/>
          <p:cNvSpPr/>
          <p:nvPr/>
        </p:nvSpPr>
        <p:spPr>
          <a:xfrm>
            <a:off x="5816600" y="4189729"/>
            <a:ext cx="63500" cy="63500"/>
          </a:xfrm>
          <a:prstGeom prst="roundRect">
            <a:avLst>
              <a:gd name="adj" fmla="val 15000"/>
            </a:avLst>
          </a:prstGeom>
          <a:solidFill>
            <a:srgbClr val="008C7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6045200" y="4113529"/>
            <a:ext cx="5486400" cy="1397000"/>
          </a:xfrm>
          <a:prstGeom prst="rect">
            <a:avLst/>
          </a:prstGeom>
          <a:noFill/>
        </p:spPr>
        <p:txBody>
          <a:bodyPr wrap="none" lIns="0" rIns="0" tIns="0" bIns="0">
            <a:spAutoFit/>
          </a:bodyPr>
          <a:lstStyle/>
          <a:p>
            <a:pPr>
              <a:lnSpc>
                <a:spcPts val="2295"/>
              </a:lnSpc>
              <a:spcBef>
                <a:spcPts val="0"/>
              </a:spcBef>
              <a:spcAft>
                <a:spcPts val="0"/>
              </a:spcAft>
              <a:defRPr sz="1700" b="0">
                <a:solidFill>
                  <a:srgbClr val="173A42"/>
                </a:solidFill>
                <a:latin typeface="DejaVu Sans"/>
              </a:defRPr>
            </a:pPr>
            <a:r>
              <a:t>Each product has one selling price across all its</a:t>
            </a:r>
          </a:p>
          <a:p>
            <a:pPr>
              <a:lnSpc>
                <a:spcPts val="2295"/>
              </a:lnSpc>
              <a:spcBef>
                <a:spcPts val="0"/>
              </a:spcBef>
              <a:spcAft>
                <a:spcPts val="0"/>
              </a:spcAft>
              <a:defRPr sz="1700" b="0">
                <a:solidFill>
                  <a:srgbClr val="173A42"/>
                </a:solidFill>
                <a:latin typeface="DejaVu Sans"/>
              </a:defRPr>
            </a:pPr>
            <a:r>
              <a:t>slots.</a:t>
            </a:r>
          </a:p>
        </p:txBody>
      </p:sp>
      <p:sp>
        <p:nvSpPr>
          <p:cNvPr id="45" name="Rounded Rectangle 44"/>
          <p:cNvSpPr/>
          <p:nvPr/>
        </p:nvSpPr>
        <p:spPr>
          <a:xfrm>
            <a:off x="660400" y="5842000"/>
            <a:ext cx="10871200" cy="546100"/>
          </a:xfrm>
          <a:prstGeom prst="roundRect">
            <a:avLst>
              <a:gd name="adj" fmla="val 15000"/>
            </a:avLst>
          </a:prstGeom>
          <a:solidFill>
            <a:srgbClr val="E8F3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838200" y="5994400"/>
            <a:ext cx="10502900" cy="355600"/>
          </a:xfrm>
          <a:prstGeom prst="rect">
            <a:avLst/>
          </a:prstGeom>
          <a:noFill/>
        </p:spPr>
        <p:txBody>
          <a:bodyPr wrap="none" lIns="0" rIns="0" tIns="0" bIns="0">
            <a:spAutoFit/>
          </a:bodyPr>
          <a:lstStyle/>
          <a:p>
            <a:pPr>
              <a:lnSpc>
                <a:spcPts val="1380"/>
              </a:lnSpc>
              <a:spcBef>
                <a:spcPts val="0"/>
              </a:spcBef>
              <a:spcAft>
                <a:spcPts val="0"/>
              </a:spcAft>
              <a:defRPr sz="1200" b="1">
                <a:solidFill>
                  <a:srgbClr val="173A42"/>
                </a:solidFill>
                <a:latin typeface="DejaVu Sans"/>
              </a:defRPr>
            </a:pPr>
            <a:r>
              <a:t>Use small experiments and observed sales to choose an assortment and price policy.</a:t>
            </a:r>
          </a:p>
        </p:txBody>
      </p:sp>
      <p:cxnSp>
        <p:nvCxnSpPr>
          <p:cNvPr id="47" name="Connector 46"/>
          <p:cNvCxnSpPr/>
          <p:nvPr/>
        </p:nvCxnSpPr>
        <p:spPr>
          <a:xfrm>
            <a:off x="660400" y="6565900"/>
            <a:ext cx="10871200" cy="0"/>
          </a:xfrm>
          <a:prstGeom prst="line">
            <a:avLst/>
          </a:prstGeom>
          <a:ln w="8255">
            <a:solidFill>
              <a:srgbClr val="DCE6E2"/>
            </a:solidFill>
          </a:ln>
        </p:spPr>
        <p:style>
          <a:lnRef idx="2">
            <a:schemeClr val="accent1"/>
          </a:lnRef>
          <a:fillRef idx="0">
            <a:schemeClr val="accent1"/>
          </a:fillRef>
          <a:effectRef idx="1">
            <a:schemeClr val="accent1"/>
          </a:effectRef>
          <a:fontRef idx="minor">
            <a:schemeClr val="tx1"/>
          </a:fontRef>
        </p:style>
      </p:cxnSp>
      <p:sp>
        <p:nvSpPr>
          <p:cNvPr id="48" name="TextBox 47"/>
          <p:cNvSpPr txBox="1"/>
          <p:nvPr/>
        </p:nvSpPr>
        <p:spPr>
          <a:xfrm>
            <a:off x="660400" y="6654800"/>
            <a:ext cx="8509000" cy="127000"/>
          </a:xfrm>
          <a:prstGeom prst="rect">
            <a:avLst/>
          </a:prstGeom>
          <a:noFill/>
        </p:spPr>
        <p:txBody>
          <a:bodyPr wrap="none" lIns="0" rIns="0" tIns="0" bIns="0">
            <a:spAutoFit/>
          </a:bodyPr>
          <a:lstStyle/>
          <a:p>
            <a:pPr>
              <a:lnSpc>
                <a:spcPts val="952"/>
              </a:lnSpc>
              <a:spcBef>
                <a:spcPts val="0"/>
              </a:spcBef>
              <a:spcAft>
                <a:spcPts val="0"/>
              </a:spcAft>
              <a:defRPr sz="750" b="0">
                <a:solidFill>
                  <a:srgbClr val="557079"/>
                </a:solidFill>
                <a:latin typeface="DejaVu Sans"/>
              </a:defRPr>
            </a:pPr>
            <a:r>
              <a:t>VENDING BENCH  /  PARTICIPANT BRIEFING</a:t>
            </a:r>
          </a:p>
        </p:txBody>
      </p:sp>
      <p:sp>
        <p:nvSpPr>
          <p:cNvPr id="49" name="TextBox 48"/>
          <p:cNvSpPr txBox="1"/>
          <p:nvPr/>
        </p:nvSpPr>
        <p:spPr>
          <a:xfrm>
            <a:off x="11188700" y="6642100"/>
            <a:ext cx="342900" cy="152400"/>
          </a:xfrm>
          <a:prstGeom prst="rect">
            <a:avLst/>
          </a:prstGeom>
          <a:noFill/>
        </p:spPr>
        <p:txBody>
          <a:bodyPr wrap="none" lIns="0" rIns="0" tIns="0" bIns="0">
            <a:spAutoFit/>
          </a:bodyPr>
          <a:lstStyle/>
          <a:p>
            <a:pPr>
              <a:lnSpc>
                <a:spcPts val="1143"/>
              </a:lnSpc>
              <a:spcBef>
                <a:spcPts val="0"/>
              </a:spcBef>
              <a:spcAft>
                <a:spcPts val="0"/>
              </a:spcAft>
              <a:defRPr sz="900" b="1">
                <a:solidFill>
                  <a:srgbClr val="008C7B"/>
                </a:solidFill>
                <a:latin typeface="DejaVu Sans"/>
              </a:defRPr>
            </a:pPr>
            <a:r>
              <a:t>09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102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60400" y="355600"/>
            <a:ext cx="10287000" cy="228600"/>
          </a:xfrm>
          <a:prstGeom prst="rect">
            <a:avLst/>
          </a:prstGeom>
          <a:noFill/>
        </p:spPr>
        <p:txBody>
          <a:bodyPr wrap="none" lIns="0" rIns="0" tIns="0" bIns="0">
            <a:spAutoFit/>
          </a:bodyPr>
          <a:lstStyle/>
          <a:p>
            <a:pPr>
              <a:lnSpc>
                <a:spcPts val="1270"/>
              </a:lnSpc>
              <a:spcBef>
                <a:spcPts val="0"/>
              </a:spcBef>
              <a:spcAft>
                <a:spcPts val="0"/>
              </a:spcAft>
              <a:defRPr sz="1000" b="1">
                <a:solidFill>
                  <a:srgbClr val="CAEFA1"/>
                </a:solidFill>
                <a:latin typeface="DejaVu Sans"/>
              </a:defRPr>
            </a:pPr>
            <a:r>
              <a:t>03 / SCORING</a:t>
            </a:r>
          </a:p>
        </p:txBody>
      </p:sp>
      <p:sp>
        <p:nvSpPr>
          <p:cNvPr id="4" name="TextBox 3"/>
          <p:cNvSpPr txBox="1"/>
          <p:nvPr/>
        </p:nvSpPr>
        <p:spPr>
          <a:xfrm>
            <a:off x="660400" y="825500"/>
            <a:ext cx="10871200" cy="1143000"/>
          </a:xfrm>
          <a:prstGeom prst="rect">
            <a:avLst/>
          </a:prstGeom>
          <a:noFill/>
        </p:spPr>
        <p:txBody>
          <a:bodyPr wrap="none" lIns="0" rIns="0" tIns="0" bIns="0">
            <a:spAutoFit/>
          </a:bodyPr>
          <a:lstStyle/>
          <a:p>
            <a:pPr>
              <a:lnSpc>
                <a:spcPts val="3596"/>
              </a:lnSpc>
              <a:spcBef>
                <a:spcPts val="0"/>
              </a:spcBef>
              <a:spcAft>
                <a:spcPts val="0"/>
              </a:spcAft>
              <a:defRPr sz="3100" b="1">
                <a:solidFill>
                  <a:srgbClr val="FFFFFF"/>
                </a:solidFill>
                <a:latin typeface="DejaVu Sans"/>
              </a:defRPr>
            </a:pPr>
            <a:r>
              <a:t>Grow net assets, not just revenue.</a:t>
            </a:r>
          </a:p>
        </p:txBody>
      </p:sp>
      <p:sp>
        <p:nvSpPr>
          <p:cNvPr id="5" name="TextBox 4"/>
          <p:cNvSpPr txBox="1"/>
          <p:nvPr/>
        </p:nvSpPr>
        <p:spPr>
          <a:xfrm>
            <a:off x="698500" y="2146300"/>
            <a:ext cx="10160000" cy="241300"/>
          </a:xfrm>
          <a:prstGeom prst="rect">
            <a:avLst/>
          </a:prstGeom>
          <a:noFill/>
        </p:spPr>
        <p:txBody>
          <a:bodyPr wrap="none" lIns="0" rIns="0" tIns="0" bIns="0">
            <a:spAutoFit/>
          </a:bodyPr>
          <a:lstStyle/>
          <a:p>
            <a:pPr>
              <a:lnSpc>
                <a:spcPts val="1397"/>
              </a:lnSpc>
              <a:spcBef>
                <a:spcPts val="0"/>
              </a:spcBef>
              <a:spcAft>
                <a:spcPts val="0"/>
              </a:spcAft>
              <a:defRPr sz="1100" b="1">
                <a:solidFill>
                  <a:srgbClr val="CAEFA1"/>
                </a:solidFill>
                <a:latin typeface="DejaVu Sans"/>
              </a:defRPr>
            </a:pPr>
            <a:r>
              <a:t>FINAL SCORE</a:t>
            </a:r>
          </a:p>
        </p:txBody>
      </p:sp>
      <p:sp>
        <p:nvSpPr>
          <p:cNvPr id="6" name="TextBox 5"/>
          <p:cNvSpPr txBox="1"/>
          <p:nvPr/>
        </p:nvSpPr>
        <p:spPr>
          <a:xfrm>
            <a:off x="698500" y="2603500"/>
            <a:ext cx="10731500" cy="1003300"/>
          </a:xfrm>
          <a:prstGeom prst="rect">
            <a:avLst/>
          </a:prstGeom>
          <a:noFill/>
        </p:spPr>
        <p:txBody>
          <a:bodyPr wrap="none" lIns="0" rIns="0" tIns="0" bIns="0">
            <a:spAutoFit/>
          </a:bodyPr>
          <a:lstStyle/>
          <a:p>
            <a:pPr>
              <a:lnSpc>
                <a:spcPts val="3375"/>
              </a:lnSpc>
              <a:spcBef>
                <a:spcPts val="0"/>
              </a:spcBef>
              <a:spcAft>
                <a:spcPts val="0"/>
              </a:spcAft>
              <a:defRPr sz="2500" b="1">
                <a:solidFill>
                  <a:srgbClr val="FFFFFF"/>
                </a:solidFill>
                <a:latin typeface="DejaVu Sans"/>
              </a:defRPr>
            </a:pPr>
            <a:r>
              <a:t>Spendable cash + machine cash</a:t>
            </a:r>
          </a:p>
          <a:p>
            <a:pPr>
              <a:lnSpc>
                <a:spcPts val="3375"/>
              </a:lnSpc>
              <a:spcBef>
                <a:spcPts val="0"/>
              </a:spcBef>
              <a:spcAft>
                <a:spcPts val="0"/>
              </a:spcAft>
              <a:defRPr sz="2500" b="1">
                <a:solidFill>
                  <a:srgbClr val="FFFFFF"/>
                </a:solidFill>
                <a:latin typeface="DejaVu Sans"/>
              </a:defRPr>
            </a:pPr>
            <a:r>
              <a:t>+ inventory at acquisition cost − fee debt</a:t>
            </a:r>
          </a:p>
        </p:txBody>
      </p:sp>
      <p:sp>
        <p:nvSpPr>
          <p:cNvPr id="7" name="Rounded Rectangle 6"/>
          <p:cNvSpPr/>
          <p:nvPr/>
        </p:nvSpPr>
        <p:spPr>
          <a:xfrm>
            <a:off x="660400" y="4140200"/>
            <a:ext cx="2032000" cy="1244600"/>
          </a:xfrm>
          <a:prstGeom prst="roundRect">
            <a:avLst>
              <a:gd name="adj" fmla="val 9183"/>
            </a:avLst>
          </a:prstGeom>
          <a:solidFill>
            <a:srgbClr val="2246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50900" y="4343400"/>
            <a:ext cx="1727200" cy="508000"/>
          </a:xfrm>
          <a:prstGeom prst="rect">
            <a:avLst/>
          </a:prstGeom>
          <a:noFill/>
        </p:spPr>
        <p:txBody>
          <a:bodyPr wrap="none" lIns="0" rIns="0" tIns="0" bIns="0">
            <a:spAutoFit/>
          </a:bodyPr>
          <a:lstStyle/>
          <a:p>
            <a:pPr>
              <a:lnSpc>
                <a:spcPts val="3429"/>
              </a:lnSpc>
              <a:spcBef>
                <a:spcPts val="0"/>
              </a:spcBef>
              <a:spcAft>
                <a:spcPts val="0"/>
              </a:spcAft>
              <a:defRPr sz="2700" b="1">
                <a:solidFill>
                  <a:srgbClr val="FFFFFF"/>
                </a:solidFill>
                <a:latin typeface="DejaVu Sans"/>
              </a:defRPr>
            </a:pPr>
            <a:r>
              <a:t>$350</a:t>
            </a:r>
          </a:p>
        </p:txBody>
      </p:sp>
      <p:sp>
        <p:nvSpPr>
          <p:cNvPr id="9" name="TextBox 8"/>
          <p:cNvSpPr txBox="1"/>
          <p:nvPr/>
        </p:nvSpPr>
        <p:spPr>
          <a:xfrm>
            <a:off x="850900" y="4965700"/>
            <a:ext cx="1727200" cy="254000"/>
          </a:xfrm>
          <a:prstGeom prst="rect">
            <a:avLst/>
          </a:prstGeom>
          <a:noFill/>
        </p:spPr>
        <p:txBody>
          <a:bodyPr wrap="none" lIns="0" rIns="0" tIns="0" bIns="0">
            <a:spAutoFit/>
          </a:bodyPr>
          <a:lstStyle/>
          <a:p>
            <a:pPr>
              <a:lnSpc>
                <a:spcPts val="1651"/>
              </a:lnSpc>
              <a:spcBef>
                <a:spcPts val="0"/>
              </a:spcBef>
              <a:spcAft>
                <a:spcPts val="0"/>
              </a:spcAft>
              <a:defRPr sz="1300" b="0">
                <a:solidFill>
                  <a:srgbClr val="A6C1C6"/>
                </a:solidFill>
                <a:latin typeface="DejaVu Sans"/>
              </a:defRPr>
            </a:pPr>
            <a:r>
              <a:t>cash</a:t>
            </a:r>
          </a:p>
        </p:txBody>
      </p:sp>
      <p:sp>
        <p:nvSpPr>
          <p:cNvPr id="10" name="Rounded Rectangle 9"/>
          <p:cNvSpPr/>
          <p:nvPr/>
        </p:nvSpPr>
        <p:spPr>
          <a:xfrm>
            <a:off x="2870200" y="4140200"/>
            <a:ext cx="2032000" cy="1244600"/>
          </a:xfrm>
          <a:prstGeom prst="roundRect">
            <a:avLst>
              <a:gd name="adj" fmla="val 9183"/>
            </a:avLst>
          </a:prstGeom>
          <a:solidFill>
            <a:srgbClr val="2246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060700" y="4343400"/>
            <a:ext cx="1727200" cy="508000"/>
          </a:xfrm>
          <a:prstGeom prst="rect">
            <a:avLst/>
          </a:prstGeom>
          <a:noFill/>
        </p:spPr>
        <p:txBody>
          <a:bodyPr wrap="none" lIns="0" rIns="0" tIns="0" bIns="0">
            <a:spAutoFit/>
          </a:bodyPr>
          <a:lstStyle/>
          <a:p>
            <a:pPr>
              <a:lnSpc>
                <a:spcPts val="3429"/>
              </a:lnSpc>
              <a:spcBef>
                <a:spcPts val="0"/>
              </a:spcBef>
              <a:spcAft>
                <a:spcPts val="0"/>
              </a:spcAft>
              <a:defRPr sz="2700" b="1">
                <a:solidFill>
                  <a:srgbClr val="FFFFFF"/>
                </a:solidFill>
                <a:latin typeface="DejaVu Sans"/>
              </a:defRPr>
            </a:pPr>
            <a:r>
              <a:t>+ $80</a:t>
            </a:r>
          </a:p>
        </p:txBody>
      </p:sp>
      <p:sp>
        <p:nvSpPr>
          <p:cNvPr id="12" name="TextBox 11"/>
          <p:cNvSpPr txBox="1"/>
          <p:nvPr/>
        </p:nvSpPr>
        <p:spPr>
          <a:xfrm>
            <a:off x="3060700" y="4965700"/>
            <a:ext cx="1727200" cy="254000"/>
          </a:xfrm>
          <a:prstGeom prst="rect">
            <a:avLst/>
          </a:prstGeom>
          <a:noFill/>
        </p:spPr>
        <p:txBody>
          <a:bodyPr wrap="none" lIns="0" rIns="0" tIns="0" bIns="0">
            <a:spAutoFit/>
          </a:bodyPr>
          <a:lstStyle/>
          <a:p>
            <a:pPr>
              <a:lnSpc>
                <a:spcPts val="1651"/>
              </a:lnSpc>
              <a:spcBef>
                <a:spcPts val="0"/>
              </a:spcBef>
              <a:spcAft>
                <a:spcPts val="0"/>
              </a:spcAft>
              <a:defRPr sz="1300" b="0">
                <a:solidFill>
                  <a:srgbClr val="A6C1C6"/>
                </a:solidFill>
                <a:latin typeface="DejaVu Sans"/>
              </a:defRPr>
            </a:pPr>
            <a:r>
              <a:t>machine</a:t>
            </a:r>
          </a:p>
        </p:txBody>
      </p:sp>
      <p:sp>
        <p:nvSpPr>
          <p:cNvPr id="13" name="Rounded Rectangle 12"/>
          <p:cNvSpPr/>
          <p:nvPr/>
        </p:nvSpPr>
        <p:spPr>
          <a:xfrm>
            <a:off x="5080000" y="4140200"/>
            <a:ext cx="2032000" cy="1244600"/>
          </a:xfrm>
          <a:prstGeom prst="roundRect">
            <a:avLst>
              <a:gd name="adj" fmla="val 9183"/>
            </a:avLst>
          </a:prstGeom>
          <a:solidFill>
            <a:srgbClr val="2246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270500" y="4343400"/>
            <a:ext cx="1727200" cy="508000"/>
          </a:xfrm>
          <a:prstGeom prst="rect">
            <a:avLst/>
          </a:prstGeom>
          <a:noFill/>
        </p:spPr>
        <p:txBody>
          <a:bodyPr wrap="none" lIns="0" rIns="0" tIns="0" bIns="0">
            <a:spAutoFit/>
          </a:bodyPr>
          <a:lstStyle/>
          <a:p>
            <a:pPr>
              <a:lnSpc>
                <a:spcPts val="3429"/>
              </a:lnSpc>
              <a:spcBef>
                <a:spcPts val="0"/>
              </a:spcBef>
              <a:spcAft>
                <a:spcPts val="0"/>
              </a:spcAft>
              <a:defRPr sz="2700" b="1">
                <a:solidFill>
                  <a:srgbClr val="FFFFFF"/>
                </a:solidFill>
                <a:latin typeface="DejaVu Sans"/>
              </a:defRPr>
            </a:pPr>
            <a:r>
              <a:t>+ $130</a:t>
            </a:r>
          </a:p>
        </p:txBody>
      </p:sp>
      <p:sp>
        <p:nvSpPr>
          <p:cNvPr id="15" name="TextBox 14"/>
          <p:cNvSpPr txBox="1"/>
          <p:nvPr/>
        </p:nvSpPr>
        <p:spPr>
          <a:xfrm>
            <a:off x="5270500" y="4965700"/>
            <a:ext cx="1727200" cy="254000"/>
          </a:xfrm>
          <a:prstGeom prst="rect">
            <a:avLst/>
          </a:prstGeom>
          <a:noFill/>
        </p:spPr>
        <p:txBody>
          <a:bodyPr wrap="none" lIns="0" rIns="0" tIns="0" bIns="0">
            <a:spAutoFit/>
          </a:bodyPr>
          <a:lstStyle/>
          <a:p>
            <a:pPr>
              <a:lnSpc>
                <a:spcPts val="1651"/>
              </a:lnSpc>
              <a:spcBef>
                <a:spcPts val="0"/>
              </a:spcBef>
              <a:spcAft>
                <a:spcPts val="0"/>
              </a:spcAft>
              <a:defRPr sz="1300" b="0">
                <a:solidFill>
                  <a:srgbClr val="A6C1C6"/>
                </a:solidFill>
                <a:latin typeface="DejaVu Sans"/>
              </a:defRPr>
            </a:pPr>
            <a:r>
              <a:t>inventory</a:t>
            </a:r>
          </a:p>
        </p:txBody>
      </p:sp>
      <p:sp>
        <p:nvSpPr>
          <p:cNvPr id="16" name="Rounded Rectangle 15"/>
          <p:cNvSpPr/>
          <p:nvPr/>
        </p:nvSpPr>
        <p:spPr>
          <a:xfrm>
            <a:off x="7289800" y="4140200"/>
            <a:ext cx="2032000" cy="1244600"/>
          </a:xfrm>
          <a:prstGeom prst="roundRect">
            <a:avLst>
              <a:gd name="adj" fmla="val 9183"/>
            </a:avLst>
          </a:prstGeom>
          <a:solidFill>
            <a:srgbClr val="2246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480300" y="4343400"/>
            <a:ext cx="1727200" cy="508000"/>
          </a:xfrm>
          <a:prstGeom prst="rect">
            <a:avLst/>
          </a:prstGeom>
          <a:noFill/>
        </p:spPr>
        <p:txBody>
          <a:bodyPr wrap="none" lIns="0" rIns="0" tIns="0" bIns="0">
            <a:spAutoFit/>
          </a:bodyPr>
          <a:lstStyle/>
          <a:p>
            <a:pPr>
              <a:lnSpc>
                <a:spcPts val="3429"/>
              </a:lnSpc>
              <a:spcBef>
                <a:spcPts val="0"/>
              </a:spcBef>
              <a:spcAft>
                <a:spcPts val="0"/>
              </a:spcAft>
              <a:defRPr sz="2700" b="1">
                <a:solidFill>
                  <a:srgbClr val="FFFFFF"/>
                </a:solidFill>
                <a:latin typeface="DejaVu Sans"/>
              </a:defRPr>
            </a:pPr>
            <a:r>
              <a:t>− $10</a:t>
            </a:r>
          </a:p>
        </p:txBody>
      </p:sp>
      <p:sp>
        <p:nvSpPr>
          <p:cNvPr id="18" name="TextBox 17"/>
          <p:cNvSpPr txBox="1"/>
          <p:nvPr/>
        </p:nvSpPr>
        <p:spPr>
          <a:xfrm>
            <a:off x="7480300" y="4965700"/>
            <a:ext cx="1727200" cy="254000"/>
          </a:xfrm>
          <a:prstGeom prst="rect">
            <a:avLst/>
          </a:prstGeom>
          <a:noFill/>
        </p:spPr>
        <p:txBody>
          <a:bodyPr wrap="none" lIns="0" rIns="0" tIns="0" bIns="0">
            <a:spAutoFit/>
          </a:bodyPr>
          <a:lstStyle/>
          <a:p>
            <a:pPr>
              <a:lnSpc>
                <a:spcPts val="1651"/>
              </a:lnSpc>
              <a:spcBef>
                <a:spcPts val="0"/>
              </a:spcBef>
              <a:spcAft>
                <a:spcPts val="0"/>
              </a:spcAft>
              <a:defRPr sz="1300" b="0">
                <a:solidFill>
                  <a:srgbClr val="A6C1C6"/>
                </a:solidFill>
                <a:latin typeface="DejaVu Sans"/>
              </a:defRPr>
            </a:pPr>
            <a:r>
              <a:t>debt</a:t>
            </a:r>
          </a:p>
        </p:txBody>
      </p:sp>
      <p:sp>
        <p:nvSpPr>
          <p:cNvPr id="19" name="Rounded Rectangle 18"/>
          <p:cNvSpPr/>
          <p:nvPr/>
        </p:nvSpPr>
        <p:spPr>
          <a:xfrm>
            <a:off x="9499600" y="4140200"/>
            <a:ext cx="2032000" cy="1244600"/>
          </a:xfrm>
          <a:prstGeom prst="roundRect">
            <a:avLst>
              <a:gd name="adj" fmla="val 9183"/>
            </a:avLst>
          </a:prstGeom>
          <a:solidFill>
            <a:srgbClr val="CAEFA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690100" y="4343400"/>
            <a:ext cx="1727200" cy="508000"/>
          </a:xfrm>
          <a:prstGeom prst="rect">
            <a:avLst/>
          </a:prstGeom>
          <a:noFill/>
        </p:spPr>
        <p:txBody>
          <a:bodyPr wrap="none" lIns="0" rIns="0" tIns="0" bIns="0">
            <a:spAutoFit/>
          </a:bodyPr>
          <a:lstStyle/>
          <a:p>
            <a:pPr>
              <a:lnSpc>
                <a:spcPts val="3429"/>
              </a:lnSpc>
              <a:spcBef>
                <a:spcPts val="0"/>
              </a:spcBef>
              <a:spcAft>
                <a:spcPts val="0"/>
              </a:spcAft>
              <a:defRPr sz="2700" b="1">
                <a:solidFill>
                  <a:srgbClr val="173A42"/>
                </a:solidFill>
                <a:latin typeface="DejaVu Sans"/>
              </a:defRPr>
            </a:pPr>
            <a:r>
              <a:t>= $550</a:t>
            </a:r>
          </a:p>
        </p:txBody>
      </p:sp>
      <p:sp>
        <p:nvSpPr>
          <p:cNvPr id="21" name="TextBox 20"/>
          <p:cNvSpPr txBox="1"/>
          <p:nvPr/>
        </p:nvSpPr>
        <p:spPr>
          <a:xfrm>
            <a:off x="9690100" y="4965700"/>
            <a:ext cx="1727200" cy="254000"/>
          </a:xfrm>
          <a:prstGeom prst="rect">
            <a:avLst/>
          </a:prstGeom>
          <a:noFill/>
        </p:spPr>
        <p:txBody>
          <a:bodyPr wrap="none" lIns="0" rIns="0" tIns="0" bIns="0">
            <a:spAutoFit/>
          </a:bodyPr>
          <a:lstStyle/>
          <a:p>
            <a:pPr>
              <a:lnSpc>
                <a:spcPts val="1651"/>
              </a:lnSpc>
              <a:spcBef>
                <a:spcPts val="0"/>
              </a:spcBef>
              <a:spcAft>
                <a:spcPts val="0"/>
              </a:spcAft>
              <a:defRPr sz="1300" b="0">
                <a:solidFill>
                  <a:srgbClr val="173A42"/>
                </a:solidFill>
                <a:latin typeface="DejaVu Sans"/>
              </a:defRPr>
            </a:pPr>
            <a:r>
              <a:t>score</a:t>
            </a:r>
          </a:p>
        </p:txBody>
      </p:sp>
      <p:sp>
        <p:nvSpPr>
          <p:cNvPr id="22" name="Rounded Rectangle 21"/>
          <p:cNvSpPr/>
          <p:nvPr/>
        </p:nvSpPr>
        <p:spPr>
          <a:xfrm>
            <a:off x="660400" y="5842000"/>
            <a:ext cx="10871200" cy="546100"/>
          </a:xfrm>
          <a:prstGeom prst="roundRect">
            <a:avLst>
              <a:gd name="adj" fmla="val 15000"/>
            </a:avLst>
          </a:prstGeom>
          <a:solidFill>
            <a:srgbClr val="193F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38200" y="5994400"/>
            <a:ext cx="10502900" cy="355600"/>
          </a:xfrm>
          <a:prstGeom prst="rect">
            <a:avLst/>
          </a:prstGeom>
          <a:noFill/>
        </p:spPr>
        <p:txBody>
          <a:bodyPr wrap="none" lIns="0" rIns="0" tIns="0" bIns="0">
            <a:spAutoFit/>
          </a:bodyPr>
          <a:lstStyle/>
          <a:p>
            <a:pPr>
              <a:lnSpc>
                <a:spcPts val="1380"/>
              </a:lnSpc>
              <a:spcBef>
                <a:spcPts val="0"/>
              </a:spcBef>
              <a:spcAft>
                <a:spcPts val="0"/>
              </a:spcAft>
              <a:defRPr sz="1200" b="1">
                <a:solidFill>
                  <a:srgbClr val="CAEFA1"/>
                </a:solidFill>
                <a:latin typeface="DejaVu Sans"/>
              </a:defRPr>
            </a:pPr>
            <a:r>
              <a:t>With $500 starting cash, this illustrative result is $50 net profit.</a:t>
            </a:r>
          </a:p>
        </p:txBody>
      </p:sp>
      <p:cxnSp>
        <p:nvCxnSpPr>
          <p:cNvPr id="24" name="Connector 23"/>
          <p:cNvCxnSpPr/>
          <p:nvPr/>
        </p:nvCxnSpPr>
        <p:spPr>
          <a:xfrm>
            <a:off x="660400" y="6565900"/>
            <a:ext cx="10871200" cy="0"/>
          </a:xfrm>
          <a:prstGeom prst="line">
            <a:avLst/>
          </a:prstGeom>
          <a:ln w="8255">
            <a:solidFill>
              <a:srgbClr val="32515A"/>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660400" y="6654800"/>
            <a:ext cx="8509000" cy="127000"/>
          </a:xfrm>
          <a:prstGeom prst="rect">
            <a:avLst/>
          </a:prstGeom>
          <a:noFill/>
        </p:spPr>
        <p:txBody>
          <a:bodyPr wrap="none" lIns="0" rIns="0" tIns="0" bIns="0">
            <a:spAutoFit/>
          </a:bodyPr>
          <a:lstStyle/>
          <a:p>
            <a:pPr>
              <a:lnSpc>
                <a:spcPts val="952"/>
              </a:lnSpc>
              <a:spcBef>
                <a:spcPts val="0"/>
              </a:spcBef>
              <a:spcAft>
                <a:spcPts val="0"/>
              </a:spcAft>
              <a:defRPr sz="750" b="0">
                <a:solidFill>
                  <a:srgbClr val="A6C1C6"/>
                </a:solidFill>
                <a:latin typeface="DejaVu Sans"/>
              </a:defRPr>
            </a:pPr>
            <a:r>
              <a:t>VENDING BENCH  /  PARTICIPANT BRIEFING</a:t>
            </a:r>
          </a:p>
        </p:txBody>
      </p:sp>
      <p:sp>
        <p:nvSpPr>
          <p:cNvPr id="26" name="TextBox 25"/>
          <p:cNvSpPr txBox="1"/>
          <p:nvPr/>
        </p:nvSpPr>
        <p:spPr>
          <a:xfrm>
            <a:off x="11188700" y="6642100"/>
            <a:ext cx="342900" cy="152400"/>
          </a:xfrm>
          <a:prstGeom prst="rect">
            <a:avLst/>
          </a:prstGeom>
          <a:noFill/>
        </p:spPr>
        <p:txBody>
          <a:bodyPr wrap="none" lIns="0" rIns="0" tIns="0" bIns="0">
            <a:spAutoFit/>
          </a:bodyPr>
          <a:lstStyle/>
          <a:p>
            <a:pPr>
              <a:lnSpc>
                <a:spcPts val="1143"/>
              </a:lnSpc>
              <a:spcBef>
                <a:spcPts val="0"/>
              </a:spcBef>
              <a:spcAft>
                <a:spcPts val="0"/>
              </a:spcAft>
              <a:defRPr sz="900" b="1">
                <a:solidFill>
                  <a:srgbClr val="CAEFA1"/>
                </a:solidFill>
                <a:latin typeface="DejaVu Sans"/>
              </a:defRPr>
            </a:pPr>
            <a: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5F8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60400" y="355600"/>
            <a:ext cx="10287000" cy="228600"/>
          </a:xfrm>
          <a:prstGeom prst="rect">
            <a:avLst/>
          </a:prstGeom>
          <a:noFill/>
        </p:spPr>
        <p:txBody>
          <a:bodyPr wrap="none" lIns="0" rIns="0" tIns="0" bIns="0">
            <a:spAutoFit/>
          </a:bodyPr>
          <a:lstStyle/>
          <a:p>
            <a:pPr>
              <a:lnSpc>
                <a:spcPts val="1270"/>
              </a:lnSpc>
              <a:spcBef>
                <a:spcPts val="0"/>
              </a:spcBef>
              <a:spcAft>
                <a:spcPts val="0"/>
              </a:spcAft>
              <a:defRPr sz="1000" b="1">
                <a:solidFill>
                  <a:srgbClr val="008C7B"/>
                </a:solidFill>
                <a:latin typeface="DejaVu Sans"/>
              </a:defRPr>
            </a:pPr>
            <a:r>
              <a:t>04 / HARNESS DESIGN</a:t>
            </a:r>
          </a:p>
        </p:txBody>
      </p:sp>
      <p:sp>
        <p:nvSpPr>
          <p:cNvPr id="4" name="TextBox 3"/>
          <p:cNvSpPr txBox="1"/>
          <p:nvPr/>
        </p:nvSpPr>
        <p:spPr>
          <a:xfrm>
            <a:off x="660400" y="825500"/>
            <a:ext cx="10871200" cy="1143000"/>
          </a:xfrm>
          <a:prstGeom prst="rect">
            <a:avLst/>
          </a:prstGeom>
          <a:noFill/>
        </p:spPr>
        <p:txBody>
          <a:bodyPr wrap="none" lIns="0" rIns="0" tIns="0" bIns="0">
            <a:spAutoFit/>
          </a:bodyPr>
          <a:lstStyle/>
          <a:p>
            <a:pPr>
              <a:lnSpc>
                <a:spcPts val="3596"/>
              </a:lnSpc>
              <a:spcBef>
                <a:spcPts val="0"/>
              </a:spcBef>
              <a:spcAft>
                <a:spcPts val="0"/>
              </a:spcAft>
              <a:defRPr sz="3100" b="1">
                <a:solidFill>
                  <a:srgbClr val="173A42"/>
                </a:solidFill>
                <a:latin typeface="DejaVu Sans"/>
              </a:defRPr>
            </a:pPr>
            <a:r>
              <a:t>Every tool call has an operating cost.</a:t>
            </a:r>
          </a:p>
        </p:txBody>
      </p:sp>
      <p:sp>
        <p:nvSpPr>
          <p:cNvPr id="5" name="Rounded Rectangle 4"/>
          <p:cNvSpPr/>
          <p:nvPr/>
        </p:nvSpPr>
        <p:spPr>
          <a:xfrm>
            <a:off x="660400" y="2120900"/>
            <a:ext cx="10871200" cy="431800"/>
          </a:xfrm>
          <a:prstGeom prst="roundRect">
            <a:avLst>
              <a:gd name="adj" fmla="val 14705"/>
            </a:avLst>
          </a:prstGeom>
          <a:solidFill>
            <a:srgbClr val="173A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5500" y="2247900"/>
            <a:ext cx="1778000" cy="228600"/>
          </a:xfrm>
          <a:prstGeom prst="rect">
            <a:avLst/>
          </a:prstGeom>
          <a:noFill/>
        </p:spPr>
        <p:txBody>
          <a:bodyPr wrap="none" lIns="0" rIns="0" tIns="0" bIns="0">
            <a:spAutoFit/>
          </a:bodyPr>
          <a:lstStyle/>
          <a:p>
            <a:pPr>
              <a:lnSpc>
                <a:spcPts val="1524"/>
              </a:lnSpc>
              <a:spcBef>
                <a:spcPts val="0"/>
              </a:spcBef>
              <a:spcAft>
                <a:spcPts val="0"/>
              </a:spcAft>
              <a:defRPr sz="1200" b="1">
                <a:solidFill>
                  <a:srgbClr val="FFFFFF"/>
                </a:solidFill>
                <a:latin typeface="DejaVu Sans"/>
              </a:defRPr>
            </a:pPr>
            <a:r>
              <a:t>DEFAULT TIME</a:t>
            </a:r>
          </a:p>
        </p:txBody>
      </p:sp>
      <p:sp>
        <p:nvSpPr>
          <p:cNvPr id="7" name="TextBox 6"/>
          <p:cNvSpPr txBox="1"/>
          <p:nvPr/>
        </p:nvSpPr>
        <p:spPr>
          <a:xfrm>
            <a:off x="2921000" y="2247900"/>
            <a:ext cx="5029200" cy="228600"/>
          </a:xfrm>
          <a:prstGeom prst="rect">
            <a:avLst/>
          </a:prstGeom>
          <a:noFill/>
        </p:spPr>
        <p:txBody>
          <a:bodyPr wrap="none" lIns="0" rIns="0" tIns="0" bIns="0">
            <a:spAutoFit/>
          </a:bodyPr>
          <a:lstStyle/>
          <a:p>
            <a:pPr>
              <a:lnSpc>
                <a:spcPts val="1524"/>
              </a:lnSpc>
              <a:spcBef>
                <a:spcPts val="0"/>
              </a:spcBef>
              <a:spcAft>
                <a:spcPts val="0"/>
              </a:spcAft>
              <a:defRPr sz="1200" b="1">
                <a:solidFill>
                  <a:srgbClr val="FFFFFF"/>
                </a:solidFill>
                <a:latin typeface="DejaVu Sans"/>
              </a:defRPr>
            </a:pPr>
            <a:r>
              <a:t>ACTIONS</a:t>
            </a:r>
          </a:p>
        </p:txBody>
      </p:sp>
      <p:sp>
        <p:nvSpPr>
          <p:cNvPr id="8" name="TextBox 7"/>
          <p:cNvSpPr txBox="1"/>
          <p:nvPr/>
        </p:nvSpPr>
        <p:spPr>
          <a:xfrm>
            <a:off x="8267700" y="2247900"/>
            <a:ext cx="3111500" cy="228600"/>
          </a:xfrm>
          <a:prstGeom prst="rect">
            <a:avLst/>
          </a:prstGeom>
          <a:noFill/>
        </p:spPr>
        <p:txBody>
          <a:bodyPr wrap="none" lIns="0" rIns="0" tIns="0" bIns="0">
            <a:spAutoFit/>
          </a:bodyPr>
          <a:lstStyle/>
          <a:p>
            <a:pPr>
              <a:lnSpc>
                <a:spcPts val="1524"/>
              </a:lnSpc>
              <a:spcBef>
                <a:spcPts val="0"/>
              </a:spcBef>
              <a:spcAft>
                <a:spcPts val="0"/>
              </a:spcAft>
              <a:defRPr sz="1200" b="1">
                <a:solidFill>
                  <a:srgbClr val="FFFFFF"/>
                </a:solidFill>
                <a:latin typeface="DejaVu Sans"/>
              </a:defRPr>
            </a:pPr>
            <a:r>
              <a:t>USE</a:t>
            </a:r>
          </a:p>
        </p:txBody>
      </p:sp>
      <p:sp>
        <p:nvSpPr>
          <p:cNvPr id="9" name="Rectangle 8"/>
          <p:cNvSpPr/>
          <p:nvPr/>
        </p:nvSpPr>
        <p:spPr>
          <a:xfrm>
            <a:off x="660400" y="2552700"/>
            <a:ext cx="10871200" cy="6146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5500" y="2705100"/>
            <a:ext cx="1778000" cy="436880"/>
          </a:xfrm>
          <a:prstGeom prst="rect">
            <a:avLst/>
          </a:prstGeom>
          <a:noFill/>
        </p:spPr>
        <p:txBody>
          <a:bodyPr wrap="none" lIns="0" rIns="0" tIns="0" bIns="0">
            <a:spAutoFit/>
          </a:bodyPr>
          <a:lstStyle/>
          <a:p>
            <a:pPr>
              <a:lnSpc>
                <a:spcPts val="1844"/>
              </a:lnSpc>
              <a:spcBef>
                <a:spcPts val="0"/>
              </a:spcBef>
              <a:spcAft>
                <a:spcPts val="0"/>
              </a:spcAft>
              <a:defRPr sz="1550" b="1">
                <a:solidFill>
                  <a:srgbClr val="008C7B"/>
                </a:solidFill>
                <a:latin typeface="DejaVu Sans"/>
              </a:defRPr>
            </a:pPr>
            <a:r>
              <a:t>5 minutes</a:t>
            </a:r>
          </a:p>
        </p:txBody>
      </p:sp>
      <p:sp>
        <p:nvSpPr>
          <p:cNvPr id="11" name="TextBox 10"/>
          <p:cNvSpPr txBox="1"/>
          <p:nvPr/>
        </p:nvSpPr>
        <p:spPr>
          <a:xfrm>
            <a:off x="2921000" y="2705100"/>
            <a:ext cx="5029200" cy="436880"/>
          </a:xfrm>
          <a:prstGeom prst="rect">
            <a:avLst/>
          </a:prstGeom>
          <a:noFill/>
        </p:spPr>
        <p:txBody>
          <a:bodyPr wrap="none" lIns="0" rIns="0" tIns="0" bIns="0">
            <a:spAutoFit/>
          </a:bodyPr>
          <a:lstStyle/>
          <a:p>
            <a:pPr>
              <a:lnSpc>
                <a:spcPts val="1844"/>
              </a:lnSpc>
              <a:spcBef>
                <a:spcPts val="0"/>
              </a:spcBef>
              <a:spcAft>
                <a:spcPts val="0"/>
              </a:spcAft>
              <a:defRPr sz="1550" b="0">
                <a:solidFill>
                  <a:srgbClr val="173A42"/>
                </a:solidFill>
                <a:latin typeface="DejaVu Sans"/>
              </a:defRPr>
            </a:pPr>
            <a:r>
              <a:t>observe · get_inventory · get_balance</a:t>
            </a:r>
          </a:p>
          <a:p>
            <a:pPr>
              <a:lnSpc>
                <a:spcPts val="1844"/>
              </a:lnSpc>
              <a:spcBef>
                <a:spcPts val="0"/>
              </a:spcBef>
              <a:spcAft>
                <a:spcPts val="0"/>
              </a:spcAft>
              <a:defRPr sz="1550" b="0">
                <a:solidFill>
                  <a:srgbClr val="173A42"/>
                </a:solidFill>
                <a:latin typeface="DejaVu Sans"/>
              </a:defRPr>
            </a:pPr>
            <a:r>
              <a:t>get_machine · collect_cash</a:t>
            </a:r>
          </a:p>
        </p:txBody>
      </p:sp>
      <p:sp>
        <p:nvSpPr>
          <p:cNvPr id="12" name="TextBox 11"/>
          <p:cNvSpPr txBox="1"/>
          <p:nvPr/>
        </p:nvSpPr>
        <p:spPr>
          <a:xfrm>
            <a:off x="8267700" y="2705100"/>
            <a:ext cx="3111500" cy="436880"/>
          </a:xfrm>
          <a:prstGeom prst="rect">
            <a:avLst/>
          </a:prstGeom>
          <a:noFill/>
        </p:spPr>
        <p:txBody>
          <a:bodyPr wrap="none" lIns="0" rIns="0" tIns="0" bIns="0">
            <a:spAutoFit/>
          </a:bodyPr>
          <a:lstStyle/>
          <a:p>
            <a:pPr>
              <a:lnSpc>
                <a:spcPts val="1844"/>
              </a:lnSpc>
              <a:spcBef>
                <a:spcPts val="0"/>
              </a:spcBef>
              <a:spcAft>
                <a:spcPts val="0"/>
              </a:spcAft>
              <a:defRPr sz="1550" b="0">
                <a:solidFill>
                  <a:srgbClr val="173A42"/>
                </a:solidFill>
                <a:latin typeface="DejaVu Sans"/>
              </a:defRPr>
            </a:pPr>
            <a:r>
              <a:t>Read state or collect revenue</a:t>
            </a:r>
          </a:p>
        </p:txBody>
      </p:sp>
      <p:sp>
        <p:nvSpPr>
          <p:cNvPr id="13" name="Rectangle 12"/>
          <p:cNvSpPr/>
          <p:nvPr/>
        </p:nvSpPr>
        <p:spPr>
          <a:xfrm>
            <a:off x="660400" y="3167380"/>
            <a:ext cx="10871200" cy="614680"/>
          </a:xfrm>
          <a:prstGeom prst="rect">
            <a:avLst/>
          </a:prstGeom>
          <a:solidFill>
            <a:srgbClr val="EDF3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25500" y="3319779"/>
            <a:ext cx="1778000" cy="436880"/>
          </a:xfrm>
          <a:prstGeom prst="rect">
            <a:avLst/>
          </a:prstGeom>
          <a:noFill/>
        </p:spPr>
        <p:txBody>
          <a:bodyPr wrap="none" lIns="0" rIns="0" tIns="0" bIns="0">
            <a:spAutoFit/>
          </a:bodyPr>
          <a:lstStyle/>
          <a:p>
            <a:pPr>
              <a:lnSpc>
                <a:spcPts val="1844"/>
              </a:lnSpc>
              <a:spcBef>
                <a:spcPts val="0"/>
              </a:spcBef>
              <a:spcAft>
                <a:spcPts val="0"/>
              </a:spcAft>
              <a:defRPr sz="1550" b="1">
                <a:solidFill>
                  <a:srgbClr val="008C7B"/>
                </a:solidFill>
                <a:latin typeface="DejaVu Sans"/>
              </a:defRPr>
            </a:pPr>
            <a:r>
              <a:t>25 minutes</a:t>
            </a:r>
          </a:p>
        </p:txBody>
      </p:sp>
      <p:sp>
        <p:nvSpPr>
          <p:cNvPr id="15" name="TextBox 14"/>
          <p:cNvSpPr txBox="1"/>
          <p:nvPr/>
        </p:nvSpPr>
        <p:spPr>
          <a:xfrm>
            <a:off x="2921000" y="3319779"/>
            <a:ext cx="5029200" cy="436880"/>
          </a:xfrm>
          <a:prstGeom prst="rect">
            <a:avLst/>
          </a:prstGeom>
          <a:noFill/>
        </p:spPr>
        <p:txBody>
          <a:bodyPr wrap="none" lIns="0" rIns="0" tIns="0" bIns="0">
            <a:spAutoFit/>
          </a:bodyPr>
          <a:lstStyle/>
          <a:p>
            <a:pPr>
              <a:lnSpc>
                <a:spcPts val="1844"/>
              </a:lnSpc>
              <a:spcBef>
                <a:spcPts val="0"/>
              </a:spcBef>
              <a:spcAft>
                <a:spcPts val="0"/>
              </a:spcAft>
              <a:defRPr sz="1550" b="0">
                <a:solidFill>
                  <a:srgbClr val="173A42"/>
                </a:solidFill>
                <a:latin typeface="DejaVu Sans"/>
              </a:defRPr>
            </a:pPr>
            <a:r>
              <a:t>search_products · set_price</a:t>
            </a:r>
          </a:p>
        </p:txBody>
      </p:sp>
      <p:sp>
        <p:nvSpPr>
          <p:cNvPr id="16" name="TextBox 15"/>
          <p:cNvSpPr txBox="1"/>
          <p:nvPr/>
        </p:nvSpPr>
        <p:spPr>
          <a:xfrm>
            <a:off x="8267700" y="3319779"/>
            <a:ext cx="3111500" cy="436880"/>
          </a:xfrm>
          <a:prstGeom prst="rect">
            <a:avLst/>
          </a:prstGeom>
          <a:noFill/>
        </p:spPr>
        <p:txBody>
          <a:bodyPr wrap="none" lIns="0" rIns="0" tIns="0" bIns="0">
            <a:spAutoFit/>
          </a:bodyPr>
          <a:lstStyle/>
          <a:p>
            <a:pPr>
              <a:lnSpc>
                <a:spcPts val="1844"/>
              </a:lnSpc>
              <a:spcBef>
                <a:spcPts val="0"/>
              </a:spcBef>
              <a:spcAft>
                <a:spcPts val="0"/>
              </a:spcAft>
              <a:defRPr sz="1550" b="0">
                <a:solidFill>
                  <a:srgbClr val="173A42"/>
                </a:solidFill>
                <a:latin typeface="DejaVu Sans"/>
              </a:defRPr>
            </a:pPr>
            <a:r>
              <a:t>Research or change pricing</a:t>
            </a:r>
          </a:p>
        </p:txBody>
      </p:sp>
      <p:sp>
        <p:nvSpPr>
          <p:cNvPr id="17" name="Rectangle 16"/>
          <p:cNvSpPr/>
          <p:nvPr/>
        </p:nvSpPr>
        <p:spPr>
          <a:xfrm>
            <a:off x="660400" y="3782060"/>
            <a:ext cx="10871200" cy="6146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5500" y="3934460"/>
            <a:ext cx="1778000" cy="436880"/>
          </a:xfrm>
          <a:prstGeom prst="rect">
            <a:avLst/>
          </a:prstGeom>
          <a:noFill/>
        </p:spPr>
        <p:txBody>
          <a:bodyPr wrap="none" lIns="0" rIns="0" tIns="0" bIns="0">
            <a:spAutoFit/>
          </a:bodyPr>
          <a:lstStyle/>
          <a:p>
            <a:pPr>
              <a:lnSpc>
                <a:spcPts val="1844"/>
              </a:lnSpc>
              <a:spcBef>
                <a:spcPts val="0"/>
              </a:spcBef>
              <a:spcAft>
                <a:spcPts val="0"/>
              </a:spcAft>
              <a:defRPr sz="1550" b="1">
                <a:solidFill>
                  <a:srgbClr val="008C7B"/>
                </a:solidFill>
                <a:latin typeface="DejaVu Sans"/>
              </a:defRPr>
            </a:pPr>
            <a:r>
              <a:t>75 minutes</a:t>
            </a:r>
          </a:p>
        </p:txBody>
      </p:sp>
      <p:sp>
        <p:nvSpPr>
          <p:cNvPr id="19" name="TextBox 18"/>
          <p:cNvSpPr txBox="1"/>
          <p:nvPr/>
        </p:nvSpPr>
        <p:spPr>
          <a:xfrm>
            <a:off x="2921000" y="3934460"/>
            <a:ext cx="5029200" cy="436880"/>
          </a:xfrm>
          <a:prstGeom prst="rect">
            <a:avLst/>
          </a:prstGeom>
          <a:noFill/>
        </p:spPr>
        <p:txBody>
          <a:bodyPr wrap="none" lIns="0" rIns="0" tIns="0" bIns="0">
            <a:spAutoFit/>
          </a:bodyPr>
          <a:lstStyle/>
          <a:p>
            <a:pPr>
              <a:lnSpc>
                <a:spcPts val="1844"/>
              </a:lnSpc>
              <a:spcBef>
                <a:spcPts val="0"/>
              </a:spcBef>
              <a:spcAft>
                <a:spcPts val="0"/>
              </a:spcAft>
              <a:defRPr sz="1550" b="0">
                <a:solidFill>
                  <a:srgbClr val="173A42"/>
                </a:solidFill>
                <a:latin typeface="DejaVu Sans"/>
              </a:defRPr>
            </a:pPr>
            <a:r>
              <a:t>make_offer · stock_items · unstock_items</a:t>
            </a:r>
          </a:p>
        </p:txBody>
      </p:sp>
      <p:sp>
        <p:nvSpPr>
          <p:cNvPr id="20" name="TextBox 19"/>
          <p:cNvSpPr txBox="1"/>
          <p:nvPr/>
        </p:nvSpPr>
        <p:spPr>
          <a:xfrm>
            <a:off x="8267700" y="3934460"/>
            <a:ext cx="3111500" cy="436880"/>
          </a:xfrm>
          <a:prstGeom prst="rect">
            <a:avLst/>
          </a:prstGeom>
          <a:noFill/>
        </p:spPr>
        <p:txBody>
          <a:bodyPr wrap="none" lIns="0" rIns="0" tIns="0" bIns="0">
            <a:spAutoFit/>
          </a:bodyPr>
          <a:lstStyle/>
          <a:p>
            <a:pPr>
              <a:lnSpc>
                <a:spcPts val="1844"/>
              </a:lnSpc>
              <a:spcBef>
                <a:spcPts val="0"/>
              </a:spcBef>
              <a:spcAft>
                <a:spcPts val="0"/>
              </a:spcAft>
              <a:defRPr sz="1550" b="0">
                <a:solidFill>
                  <a:srgbClr val="173A42"/>
                </a:solidFill>
                <a:latin typeface="DejaVu Sans"/>
              </a:defRPr>
            </a:pPr>
            <a:r>
              <a:t>Source or move inventory</a:t>
            </a:r>
          </a:p>
        </p:txBody>
      </p:sp>
      <p:sp>
        <p:nvSpPr>
          <p:cNvPr id="21" name="Rectangle 20"/>
          <p:cNvSpPr/>
          <p:nvPr/>
        </p:nvSpPr>
        <p:spPr>
          <a:xfrm>
            <a:off x="660400" y="4396740"/>
            <a:ext cx="10871200" cy="614680"/>
          </a:xfrm>
          <a:prstGeom prst="rect">
            <a:avLst/>
          </a:prstGeom>
          <a:solidFill>
            <a:srgbClr val="EDF3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5500" y="4549140"/>
            <a:ext cx="1778000" cy="436880"/>
          </a:xfrm>
          <a:prstGeom prst="rect">
            <a:avLst/>
          </a:prstGeom>
          <a:noFill/>
        </p:spPr>
        <p:txBody>
          <a:bodyPr wrap="none" lIns="0" rIns="0" tIns="0" bIns="0">
            <a:spAutoFit/>
          </a:bodyPr>
          <a:lstStyle/>
          <a:p>
            <a:pPr>
              <a:lnSpc>
                <a:spcPts val="1844"/>
              </a:lnSpc>
              <a:spcBef>
                <a:spcPts val="0"/>
              </a:spcBef>
              <a:spcAft>
                <a:spcPts val="0"/>
              </a:spcAft>
              <a:defRPr sz="1550" b="1">
                <a:solidFill>
                  <a:srgbClr val="008C7B"/>
                </a:solidFill>
                <a:latin typeface="DejaVu Sans"/>
              </a:defRPr>
            </a:pPr>
            <a:r>
              <a:t>300 minutes</a:t>
            </a:r>
          </a:p>
        </p:txBody>
      </p:sp>
      <p:sp>
        <p:nvSpPr>
          <p:cNvPr id="23" name="TextBox 22"/>
          <p:cNvSpPr txBox="1"/>
          <p:nvPr/>
        </p:nvSpPr>
        <p:spPr>
          <a:xfrm>
            <a:off x="2921000" y="4549140"/>
            <a:ext cx="5029200" cy="436880"/>
          </a:xfrm>
          <a:prstGeom prst="rect">
            <a:avLst/>
          </a:prstGeom>
          <a:noFill/>
        </p:spPr>
        <p:txBody>
          <a:bodyPr wrap="none" lIns="0" rIns="0" tIns="0" bIns="0">
            <a:spAutoFit/>
          </a:bodyPr>
          <a:lstStyle/>
          <a:p>
            <a:pPr>
              <a:lnSpc>
                <a:spcPts val="1844"/>
              </a:lnSpc>
              <a:spcBef>
                <a:spcPts val="0"/>
              </a:spcBef>
              <a:spcAft>
                <a:spcPts val="0"/>
              </a:spcAft>
              <a:defRPr sz="1550" b="0">
                <a:solidFill>
                  <a:srgbClr val="173A42"/>
                </a:solidFill>
                <a:latin typeface="DejaVu Sans"/>
              </a:defRPr>
            </a:pPr>
            <a:r>
              <a:t>wait</a:t>
            </a:r>
          </a:p>
        </p:txBody>
      </p:sp>
      <p:sp>
        <p:nvSpPr>
          <p:cNvPr id="24" name="TextBox 23"/>
          <p:cNvSpPr txBox="1"/>
          <p:nvPr/>
        </p:nvSpPr>
        <p:spPr>
          <a:xfrm>
            <a:off x="8267700" y="4549140"/>
            <a:ext cx="3111500" cy="436880"/>
          </a:xfrm>
          <a:prstGeom prst="rect">
            <a:avLst/>
          </a:prstGeom>
          <a:noFill/>
        </p:spPr>
        <p:txBody>
          <a:bodyPr wrap="none" lIns="0" rIns="0" tIns="0" bIns="0">
            <a:spAutoFit/>
          </a:bodyPr>
          <a:lstStyle/>
          <a:p>
            <a:pPr>
              <a:lnSpc>
                <a:spcPts val="1844"/>
              </a:lnSpc>
              <a:spcBef>
                <a:spcPts val="0"/>
              </a:spcBef>
              <a:spcAft>
                <a:spcPts val="0"/>
              </a:spcAft>
              <a:defRPr sz="1550" b="0">
                <a:solidFill>
                  <a:srgbClr val="173A42"/>
                </a:solidFill>
                <a:latin typeface="DejaVu Sans"/>
              </a:defRPr>
            </a:pPr>
            <a:r>
              <a:t>Advance five simulated hours</a:t>
            </a:r>
          </a:p>
        </p:txBody>
      </p:sp>
      <p:sp>
        <p:nvSpPr>
          <p:cNvPr id="25" name="Rectangle 24"/>
          <p:cNvSpPr/>
          <p:nvPr/>
        </p:nvSpPr>
        <p:spPr>
          <a:xfrm>
            <a:off x="660400" y="5011420"/>
            <a:ext cx="10871200" cy="6146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25500" y="5163820"/>
            <a:ext cx="1778000" cy="436880"/>
          </a:xfrm>
          <a:prstGeom prst="rect">
            <a:avLst/>
          </a:prstGeom>
          <a:noFill/>
        </p:spPr>
        <p:txBody>
          <a:bodyPr wrap="none" lIns="0" rIns="0" tIns="0" bIns="0">
            <a:spAutoFit/>
          </a:bodyPr>
          <a:lstStyle/>
          <a:p>
            <a:pPr>
              <a:lnSpc>
                <a:spcPts val="1844"/>
              </a:lnSpc>
              <a:spcBef>
                <a:spcPts val="0"/>
              </a:spcBef>
              <a:spcAft>
                <a:spcPts val="0"/>
              </a:spcAft>
              <a:defRPr sz="1550" b="1">
                <a:solidFill>
                  <a:srgbClr val="008C7B"/>
                </a:solidFill>
                <a:latin typeface="DejaVu Sans"/>
              </a:defRPr>
            </a:pPr>
            <a:r>
              <a:t>To midnight</a:t>
            </a:r>
          </a:p>
        </p:txBody>
      </p:sp>
      <p:sp>
        <p:nvSpPr>
          <p:cNvPr id="27" name="TextBox 26"/>
          <p:cNvSpPr txBox="1"/>
          <p:nvPr/>
        </p:nvSpPr>
        <p:spPr>
          <a:xfrm>
            <a:off x="2921000" y="5163820"/>
            <a:ext cx="5029200" cy="436880"/>
          </a:xfrm>
          <a:prstGeom prst="rect">
            <a:avLst/>
          </a:prstGeom>
          <a:noFill/>
        </p:spPr>
        <p:txBody>
          <a:bodyPr wrap="none" lIns="0" rIns="0" tIns="0" bIns="0">
            <a:spAutoFit/>
          </a:bodyPr>
          <a:lstStyle/>
          <a:p>
            <a:pPr>
              <a:lnSpc>
                <a:spcPts val="1844"/>
              </a:lnSpc>
              <a:spcBef>
                <a:spcPts val="0"/>
              </a:spcBef>
              <a:spcAft>
                <a:spcPts val="0"/>
              </a:spcAft>
              <a:defRPr sz="1550" b="0">
                <a:solidFill>
                  <a:srgbClr val="173A42"/>
                </a:solidFill>
                <a:latin typeface="DejaVu Sans"/>
              </a:defRPr>
            </a:pPr>
            <a:r>
              <a:t>end_day</a:t>
            </a:r>
          </a:p>
        </p:txBody>
      </p:sp>
      <p:sp>
        <p:nvSpPr>
          <p:cNvPr id="28" name="TextBox 27"/>
          <p:cNvSpPr txBox="1"/>
          <p:nvPr/>
        </p:nvSpPr>
        <p:spPr>
          <a:xfrm>
            <a:off x="8267700" y="5163820"/>
            <a:ext cx="3111500" cy="436880"/>
          </a:xfrm>
          <a:prstGeom prst="rect">
            <a:avLst/>
          </a:prstGeom>
          <a:noFill/>
        </p:spPr>
        <p:txBody>
          <a:bodyPr wrap="none" lIns="0" rIns="0" tIns="0" bIns="0">
            <a:spAutoFit/>
          </a:bodyPr>
          <a:lstStyle/>
          <a:p>
            <a:pPr>
              <a:lnSpc>
                <a:spcPts val="1844"/>
              </a:lnSpc>
              <a:spcBef>
                <a:spcPts val="0"/>
              </a:spcBef>
              <a:spcAft>
                <a:spcPts val="0"/>
              </a:spcAft>
              <a:defRPr sz="1550" b="0">
                <a:solidFill>
                  <a:srgbClr val="173A42"/>
                </a:solidFill>
                <a:latin typeface="DejaVu Sans"/>
              </a:defRPr>
            </a:pPr>
            <a:r>
              <a:t>Finish the current day</a:t>
            </a:r>
          </a:p>
        </p:txBody>
      </p:sp>
      <p:sp>
        <p:nvSpPr>
          <p:cNvPr id="29" name="Rounded Rectangle 28"/>
          <p:cNvSpPr/>
          <p:nvPr/>
        </p:nvSpPr>
        <p:spPr>
          <a:xfrm>
            <a:off x="660400" y="5842000"/>
            <a:ext cx="10871200" cy="546100"/>
          </a:xfrm>
          <a:prstGeom prst="roundRect">
            <a:avLst>
              <a:gd name="adj" fmla="val 15000"/>
            </a:avLst>
          </a:prstGeom>
          <a:solidFill>
            <a:srgbClr val="E8F3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38200" y="5994400"/>
            <a:ext cx="10502900" cy="355600"/>
          </a:xfrm>
          <a:prstGeom prst="rect">
            <a:avLst/>
          </a:prstGeom>
          <a:noFill/>
        </p:spPr>
        <p:txBody>
          <a:bodyPr wrap="none" lIns="0" rIns="0" tIns="0" bIns="0">
            <a:spAutoFit/>
          </a:bodyPr>
          <a:lstStyle/>
          <a:p>
            <a:pPr>
              <a:lnSpc>
                <a:spcPts val="1380"/>
              </a:lnSpc>
              <a:spcBef>
                <a:spcPts val="0"/>
              </a:spcBef>
              <a:spcAft>
                <a:spcPts val="0"/>
              </a:spcAft>
              <a:defRPr sz="1200" b="1">
                <a:solidFill>
                  <a:srgbClr val="173A42"/>
                </a:solidFill>
                <a:latin typeface="DejaVu Sans"/>
              </a:defRPr>
            </a:pPr>
            <a:r>
              <a:t>Business refusals consume action time. Malformed requests do not.</a:t>
            </a:r>
          </a:p>
        </p:txBody>
      </p:sp>
      <p:cxnSp>
        <p:nvCxnSpPr>
          <p:cNvPr id="31" name="Connector 30"/>
          <p:cNvCxnSpPr/>
          <p:nvPr/>
        </p:nvCxnSpPr>
        <p:spPr>
          <a:xfrm>
            <a:off x="660400" y="6565900"/>
            <a:ext cx="10871200" cy="0"/>
          </a:xfrm>
          <a:prstGeom prst="line">
            <a:avLst/>
          </a:prstGeom>
          <a:ln w="8255">
            <a:solidFill>
              <a:srgbClr val="DCE6E2"/>
            </a:solidFill>
          </a:ln>
        </p:spPr>
        <p:style>
          <a:lnRef idx="2">
            <a:schemeClr val="accent1"/>
          </a:lnRef>
          <a:fillRef idx="0">
            <a:schemeClr val="accent1"/>
          </a:fillRef>
          <a:effectRef idx="1">
            <a:schemeClr val="accent1"/>
          </a:effectRef>
          <a:fontRef idx="minor">
            <a:schemeClr val="tx1"/>
          </a:fontRef>
        </p:style>
      </p:cxnSp>
      <p:sp>
        <p:nvSpPr>
          <p:cNvPr id="32" name="TextBox 31"/>
          <p:cNvSpPr txBox="1"/>
          <p:nvPr/>
        </p:nvSpPr>
        <p:spPr>
          <a:xfrm>
            <a:off x="660400" y="6654800"/>
            <a:ext cx="8509000" cy="127000"/>
          </a:xfrm>
          <a:prstGeom prst="rect">
            <a:avLst/>
          </a:prstGeom>
          <a:noFill/>
        </p:spPr>
        <p:txBody>
          <a:bodyPr wrap="none" lIns="0" rIns="0" tIns="0" bIns="0">
            <a:spAutoFit/>
          </a:bodyPr>
          <a:lstStyle/>
          <a:p>
            <a:pPr>
              <a:lnSpc>
                <a:spcPts val="952"/>
              </a:lnSpc>
              <a:spcBef>
                <a:spcPts val="0"/>
              </a:spcBef>
              <a:spcAft>
                <a:spcPts val="0"/>
              </a:spcAft>
              <a:defRPr sz="750" b="0">
                <a:solidFill>
                  <a:srgbClr val="557079"/>
                </a:solidFill>
                <a:latin typeface="DejaVu Sans"/>
              </a:defRPr>
            </a:pPr>
            <a:r>
              <a:t>VENDING BENCH  /  PARTICIPANT BRIEFING</a:t>
            </a:r>
          </a:p>
        </p:txBody>
      </p:sp>
      <p:sp>
        <p:nvSpPr>
          <p:cNvPr id="33" name="TextBox 32"/>
          <p:cNvSpPr txBox="1"/>
          <p:nvPr/>
        </p:nvSpPr>
        <p:spPr>
          <a:xfrm>
            <a:off x="11188700" y="6642100"/>
            <a:ext cx="342900" cy="152400"/>
          </a:xfrm>
          <a:prstGeom prst="rect">
            <a:avLst/>
          </a:prstGeom>
          <a:noFill/>
        </p:spPr>
        <p:txBody>
          <a:bodyPr wrap="none" lIns="0" rIns="0" tIns="0" bIns="0">
            <a:spAutoFit/>
          </a:bodyPr>
          <a:lstStyle/>
          <a:p>
            <a:pPr>
              <a:lnSpc>
                <a:spcPts val="1143"/>
              </a:lnSpc>
              <a:spcBef>
                <a:spcPts val="0"/>
              </a:spcBef>
              <a:spcAft>
                <a:spcPts val="0"/>
              </a:spcAft>
              <a:defRPr sz="900" b="1">
                <a:solidFill>
                  <a:srgbClr val="008C7B"/>
                </a:solidFill>
                <a:latin typeface="DejaVu Sans"/>
              </a:defRPr>
            </a:pPr>
            <a: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5F8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60400" y="355600"/>
            <a:ext cx="10287000" cy="228600"/>
          </a:xfrm>
          <a:prstGeom prst="rect">
            <a:avLst/>
          </a:prstGeom>
          <a:noFill/>
        </p:spPr>
        <p:txBody>
          <a:bodyPr wrap="none" lIns="0" rIns="0" tIns="0" bIns="0">
            <a:spAutoFit/>
          </a:bodyPr>
          <a:lstStyle/>
          <a:p>
            <a:pPr>
              <a:lnSpc>
                <a:spcPts val="1270"/>
              </a:lnSpc>
              <a:spcBef>
                <a:spcPts val="0"/>
              </a:spcBef>
              <a:spcAft>
                <a:spcPts val="0"/>
              </a:spcAft>
              <a:defRPr sz="1000" b="1">
                <a:solidFill>
                  <a:srgbClr val="008C7B"/>
                </a:solidFill>
                <a:latin typeface="DejaVu Sans"/>
              </a:defRPr>
            </a:pPr>
            <a:r>
              <a:t>04 / HARNESS DESIGN</a:t>
            </a:r>
          </a:p>
        </p:txBody>
      </p:sp>
      <p:sp>
        <p:nvSpPr>
          <p:cNvPr id="4" name="TextBox 3"/>
          <p:cNvSpPr txBox="1"/>
          <p:nvPr/>
        </p:nvSpPr>
        <p:spPr>
          <a:xfrm>
            <a:off x="660400" y="825500"/>
            <a:ext cx="10871200" cy="1143000"/>
          </a:xfrm>
          <a:prstGeom prst="rect">
            <a:avLst/>
          </a:prstGeom>
          <a:noFill/>
        </p:spPr>
        <p:txBody>
          <a:bodyPr wrap="none" lIns="0" rIns="0" tIns="0" bIns="0">
            <a:spAutoFit/>
          </a:bodyPr>
          <a:lstStyle/>
          <a:p>
            <a:pPr>
              <a:lnSpc>
                <a:spcPts val="3596"/>
              </a:lnSpc>
              <a:spcBef>
                <a:spcPts val="0"/>
              </a:spcBef>
              <a:spcAft>
                <a:spcPts val="0"/>
              </a:spcAft>
              <a:defRPr sz="3100" b="1">
                <a:solidFill>
                  <a:srgbClr val="173A42"/>
                </a:solidFill>
                <a:latin typeface="DejaVu Sans"/>
              </a:defRPr>
            </a:pPr>
            <a:r>
              <a:t>Build a loop that stays useful under pressure.</a:t>
            </a:r>
          </a:p>
        </p:txBody>
      </p:sp>
      <p:sp>
        <p:nvSpPr>
          <p:cNvPr id="5" name="Rounded Rectangle 4"/>
          <p:cNvSpPr/>
          <p:nvPr/>
        </p:nvSpPr>
        <p:spPr>
          <a:xfrm>
            <a:off x="660400" y="2349500"/>
            <a:ext cx="2001520" cy="2565400"/>
          </a:xfrm>
          <a:prstGeom prst="roundRect">
            <a:avLst>
              <a:gd name="adj" fmla="val 6345"/>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889000" y="2603500"/>
            <a:ext cx="431800" cy="381000"/>
          </a:xfrm>
          <a:prstGeom prst="roundRect">
            <a:avLst>
              <a:gd name="adj" fmla="val 15000"/>
            </a:avLst>
          </a:prstGeom>
          <a:solidFill>
            <a:srgbClr val="E8F3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77900" y="2692400"/>
            <a:ext cx="330200" cy="228600"/>
          </a:xfrm>
          <a:prstGeom prst="rect">
            <a:avLst/>
          </a:prstGeom>
          <a:noFill/>
        </p:spPr>
        <p:txBody>
          <a:bodyPr wrap="none" lIns="0" rIns="0" tIns="0" bIns="0">
            <a:spAutoFit/>
          </a:bodyPr>
          <a:lstStyle/>
          <a:p>
            <a:pPr>
              <a:lnSpc>
                <a:spcPts val="1524"/>
              </a:lnSpc>
              <a:spcBef>
                <a:spcPts val="0"/>
              </a:spcBef>
              <a:spcAft>
                <a:spcPts val="0"/>
              </a:spcAft>
              <a:defRPr sz="1200" b="1">
                <a:solidFill>
                  <a:srgbClr val="008C7B"/>
                </a:solidFill>
                <a:latin typeface="DejaVu Sans"/>
              </a:defRPr>
            </a:pPr>
            <a:r>
              <a:t>01</a:t>
            </a:r>
          </a:p>
        </p:txBody>
      </p:sp>
      <p:sp>
        <p:nvSpPr>
          <p:cNvPr id="8" name="TextBox 7"/>
          <p:cNvSpPr txBox="1"/>
          <p:nvPr/>
        </p:nvSpPr>
        <p:spPr>
          <a:xfrm>
            <a:off x="889000" y="3314700"/>
            <a:ext cx="1544320" cy="419100"/>
          </a:xfrm>
          <a:prstGeom prst="rect">
            <a:avLst/>
          </a:prstGeom>
          <a:noFill/>
        </p:spPr>
        <p:txBody>
          <a:bodyPr wrap="none" lIns="0" rIns="0" tIns="0" bIns="0">
            <a:spAutoFit/>
          </a:bodyPr>
          <a:lstStyle/>
          <a:p>
            <a:pPr>
              <a:lnSpc>
                <a:spcPts val="2286"/>
              </a:lnSpc>
              <a:spcBef>
                <a:spcPts val="0"/>
              </a:spcBef>
              <a:spcAft>
                <a:spcPts val="0"/>
              </a:spcAft>
              <a:defRPr sz="1800" b="1">
                <a:solidFill>
                  <a:srgbClr val="173A42"/>
                </a:solidFill>
                <a:latin typeface="DejaVu Sans"/>
              </a:defRPr>
            </a:pPr>
            <a:r>
              <a:t>Observe</a:t>
            </a:r>
          </a:p>
        </p:txBody>
      </p:sp>
      <p:sp>
        <p:nvSpPr>
          <p:cNvPr id="9" name="TextBox 8"/>
          <p:cNvSpPr txBox="1"/>
          <p:nvPr/>
        </p:nvSpPr>
        <p:spPr>
          <a:xfrm>
            <a:off x="889000" y="3873500"/>
            <a:ext cx="1544320" cy="927100"/>
          </a:xfrm>
          <a:prstGeom prst="rect">
            <a:avLst/>
          </a:prstGeom>
          <a:noFill/>
        </p:spPr>
        <p:txBody>
          <a:bodyPr wrap="none" lIns="0" rIns="0" tIns="0" bIns="0">
            <a:spAutoFit/>
          </a:bodyPr>
          <a:lstStyle/>
          <a:p>
            <a:pPr>
              <a:lnSpc>
                <a:spcPts val="1995"/>
              </a:lnSpc>
              <a:spcBef>
                <a:spcPts val="0"/>
              </a:spcBef>
              <a:spcAft>
                <a:spcPts val="0"/>
              </a:spcAft>
              <a:defRPr sz="1500" b="0">
                <a:solidFill>
                  <a:srgbClr val="173A42"/>
                </a:solidFill>
                <a:latin typeface="DejaVu Sans"/>
              </a:defRPr>
            </a:pPr>
            <a:r>
              <a:t>Initialize from</a:t>
            </a:r>
          </a:p>
          <a:p>
            <a:pPr>
              <a:lnSpc>
                <a:spcPts val="1995"/>
              </a:lnSpc>
              <a:spcBef>
                <a:spcPts val="0"/>
              </a:spcBef>
              <a:spcAft>
                <a:spcPts val="0"/>
              </a:spcAft>
              <a:defRPr sz="1500" b="0">
                <a:solidFill>
                  <a:srgbClr val="173A42"/>
                </a:solidFill>
                <a:latin typeface="DejaVu Sans"/>
              </a:defRPr>
            </a:pPr>
            <a:r>
              <a:t>public state.</a:t>
            </a:r>
          </a:p>
        </p:txBody>
      </p:sp>
      <p:sp>
        <p:nvSpPr>
          <p:cNvPr id="10" name="TextBox 9"/>
          <p:cNvSpPr txBox="1"/>
          <p:nvPr/>
        </p:nvSpPr>
        <p:spPr>
          <a:xfrm>
            <a:off x="2712720" y="3594100"/>
            <a:ext cx="177800" cy="381000"/>
          </a:xfrm>
          <a:prstGeom prst="rect">
            <a:avLst/>
          </a:prstGeom>
          <a:noFill/>
        </p:spPr>
        <p:txBody>
          <a:bodyPr wrap="none" lIns="0" rIns="0" tIns="0" bIns="0">
            <a:spAutoFit/>
          </a:bodyPr>
          <a:lstStyle/>
          <a:p>
            <a:pPr>
              <a:lnSpc>
                <a:spcPts val="3175"/>
              </a:lnSpc>
              <a:spcBef>
                <a:spcPts val="0"/>
              </a:spcBef>
              <a:spcAft>
                <a:spcPts val="0"/>
              </a:spcAft>
              <a:defRPr sz="2500" b="1">
                <a:solidFill>
                  <a:srgbClr val="008C7B"/>
                </a:solidFill>
                <a:latin typeface="DejaVu Sans"/>
              </a:defRPr>
            </a:pPr>
            <a:r>
              <a:t>›</a:t>
            </a:r>
          </a:p>
        </p:txBody>
      </p:sp>
      <p:sp>
        <p:nvSpPr>
          <p:cNvPr id="11" name="Rounded Rectangle 10"/>
          <p:cNvSpPr/>
          <p:nvPr/>
        </p:nvSpPr>
        <p:spPr>
          <a:xfrm>
            <a:off x="2877820" y="2349500"/>
            <a:ext cx="2001520" cy="2565400"/>
          </a:xfrm>
          <a:prstGeom prst="roundRect">
            <a:avLst>
              <a:gd name="adj" fmla="val 6345"/>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3106420" y="2603500"/>
            <a:ext cx="431800" cy="381000"/>
          </a:xfrm>
          <a:prstGeom prst="roundRect">
            <a:avLst>
              <a:gd name="adj" fmla="val 15000"/>
            </a:avLst>
          </a:prstGeom>
          <a:solidFill>
            <a:srgbClr val="E8F3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195320" y="2692400"/>
            <a:ext cx="330200" cy="228600"/>
          </a:xfrm>
          <a:prstGeom prst="rect">
            <a:avLst/>
          </a:prstGeom>
          <a:noFill/>
        </p:spPr>
        <p:txBody>
          <a:bodyPr wrap="none" lIns="0" rIns="0" tIns="0" bIns="0">
            <a:spAutoFit/>
          </a:bodyPr>
          <a:lstStyle/>
          <a:p>
            <a:pPr>
              <a:lnSpc>
                <a:spcPts val="1524"/>
              </a:lnSpc>
              <a:spcBef>
                <a:spcPts val="0"/>
              </a:spcBef>
              <a:spcAft>
                <a:spcPts val="0"/>
              </a:spcAft>
              <a:defRPr sz="1200" b="1">
                <a:solidFill>
                  <a:srgbClr val="008C7B"/>
                </a:solidFill>
                <a:latin typeface="DejaVu Sans"/>
              </a:defRPr>
            </a:pPr>
            <a:r>
              <a:t>02</a:t>
            </a:r>
          </a:p>
        </p:txBody>
      </p:sp>
      <p:sp>
        <p:nvSpPr>
          <p:cNvPr id="14" name="TextBox 13"/>
          <p:cNvSpPr txBox="1"/>
          <p:nvPr/>
        </p:nvSpPr>
        <p:spPr>
          <a:xfrm>
            <a:off x="3106420" y="3314700"/>
            <a:ext cx="1544320" cy="419100"/>
          </a:xfrm>
          <a:prstGeom prst="rect">
            <a:avLst/>
          </a:prstGeom>
          <a:noFill/>
        </p:spPr>
        <p:txBody>
          <a:bodyPr wrap="none" lIns="0" rIns="0" tIns="0" bIns="0">
            <a:spAutoFit/>
          </a:bodyPr>
          <a:lstStyle/>
          <a:p>
            <a:pPr>
              <a:lnSpc>
                <a:spcPts val="2286"/>
              </a:lnSpc>
              <a:spcBef>
                <a:spcPts val="0"/>
              </a:spcBef>
              <a:spcAft>
                <a:spcPts val="0"/>
              </a:spcAft>
              <a:defRPr sz="1800" b="1">
                <a:solidFill>
                  <a:srgbClr val="173A42"/>
                </a:solidFill>
                <a:latin typeface="DejaVu Sans"/>
              </a:defRPr>
            </a:pPr>
            <a:r>
              <a:t>Decide</a:t>
            </a:r>
          </a:p>
        </p:txBody>
      </p:sp>
      <p:sp>
        <p:nvSpPr>
          <p:cNvPr id="15" name="TextBox 14"/>
          <p:cNvSpPr txBox="1"/>
          <p:nvPr/>
        </p:nvSpPr>
        <p:spPr>
          <a:xfrm>
            <a:off x="3106420" y="3873500"/>
            <a:ext cx="1544320" cy="927100"/>
          </a:xfrm>
          <a:prstGeom prst="rect">
            <a:avLst/>
          </a:prstGeom>
          <a:noFill/>
        </p:spPr>
        <p:txBody>
          <a:bodyPr wrap="none" lIns="0" rIns="0" tIns="0" bIns="0">
            <a:spAutoFit/>
          </a:bodyPr>
          <a:lstStyle/>
          <a:p>
            <a:pPr>
              <a:lnSpc>
                <a:spcPts val="1995"/>
              </a:lnSpc>
              <a:spcBef>
                <a:spcPts val="0"/>
              </a:spcBef>
              <a:spcAft>
                <a:spcPts val="0"/>
              </a:spcAft>
              <a:defRPr sz="1500" b="0">
                <a:solidFill>
                  <a:srgbClr val="173A42"/>
                </a:solidFill>
                <a:latin typeface="DejaVu Sans"/>
              </a:defRPr>
            </a:pPr>
            <a:r>
              <a:t>Give the policy</a:t>
            </a:r>
          </a:p>
          <a:p>
            <a:pPr>
              <a:lnSpc>
                <a:spcPts val="1995"/>
              </a:lnSpc>
              <a:spcBef>
                <a:spcPts val="0"/>
              </a:spcBef>
              <a:spcAft>
                <a:spcPts val="0"/>
              </a:spcAft>
              <a:defRPr sz="1500" b="0">
                <a:solidFill>
                  <a:srgbClr val="173A42"/>
                </a:solidFill>
                <a:latin typeface="DejaVu Sans"/>
              </a:defRPr>
            </a:pPr>
            <a:r>
              <a:t>context and</a:t>
            </a:r>
          </a:p>
          <a:p>
            <a:pPr>
              <a:lnSpc>
                <a:spcPts val="1995"/>
              </a:lnSpc>
              <a:spcBef>
                <a:spcPts val="0"/>
              </a:spcBef>
              <a:spcAft>
                <a:spcPts val="0"/>
              </a:spcAft>
              <a:defRPr sz="1500" b="0">
                <a:solidFill>
                  <a:srgbClr val="173A42"/>
                </a:solidFill>
                <a:latin typeface="DejaVu Sans"/>
              </a:defRPr>
            </a:pPr>
            <a:r>
              <a:t>budgets.</a:t>
            </a:r>
          </a:p>
        </p:txBody>
      </p:sp>
      <p:sp>
        <p:nvSpPr>
          <p:cNvPr id="16" name="TextBox 15"/>
          <p:cNvSpPr txBox="1"/>
          <p:nvPr/>
        </p:nvSpPr>
        <p:spPr>
          <a:xfrm>
            <a:off x="4930140" y="3594100"/>
            <a:ext cx="177800" cy="381000"/>
          </a:xfrm>
          <a:prstGeom prst="rect">
            <a:avLst/>
          </a:prstGeom>
          <a:noFill/>
        </p:spPr>
        <p:txBody>
          <a:bodyPr wrap="none" lIns="0" rIns="0" tIns="0" bIns="0">
            <a:spAutoFit/>
          </a:bodyPr>
          <a:lstStyle/>
          <a:p>
            <a:pPr>
              <a:lnSpc>
                <a:spcPts val="3175"/>
              </a:lnSpc>
              <a:spcBef>
                <a:spcPts val="0"/>
              </a:spcBef>
              <a:spcAft>
                <a:spcPts val="0"/>
              </a:spcAft>
              <a:defRPr sz="2500" b="1">
                <a:solidFill>
                  <a:srgbClr val="008C7B"/>
                </a:solidFill>
                <a:latin typeface="DejaVu Sans"/>
              </a:defRPr>
            </a:pPr>
            <a:r>
              <a:t>›</a:t>
            </a:r>
          </a:p>
        </p:txBody>
      </p:sp>
      <p:sp>
        <p:nvSpPr>
          <p:cNvPr id="17" name="Rounded Rectangle 16"/>
          <p:cNvSpPr/>
          <p:nvPr/>
        </p:nvSpPr>
        <p:spPr>
          <a:xfrm>
            <a:off x="5095240" y="2349500"/>
            <a:ext cx="2001520" cy="2565400"/>
          </a:xfrm>
          <a:prstGeom prst="roundRect">
            <a:avLst>
              <a:gd name="adj" fmla="val 6345"/>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5323840" y="2603500"/>
            <a:ext cx="431800" cy="381000"/>
          </a:xfrm>
          <a:prstGeom prst="roundRect">
            <a:avLst>
              <a:gd name="adj" fmla="val 15000"/>
            </a:avLst>
          </a:prstGeom>
          <a:solidFill>
            <a:srgbClr val="E8F3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412740" y="2692400"/>
            <a:ext cx="330200" cy="228600"/>
          </a:xfrm>
          <a:prstGeom prst="rect">
            <a:avLst/>
          </a:prstGeom>
          <a:noFill/>
        </p:spPr>
        <p:txBody>
          <a:bodyPr wrap="none" lIns="0" rIns="0" tIns="0" bIns="0">
            <a:spAutoFit/>
          </a:bodyPr>
          <a:lstStyle/>
          <a:p>
            <a:pPr>
              <a:lnSpc>
                <a:spcPts val="1524"/>
              </a:lnSpc>
              <a:spcBef>
                <a:spcPts val="0"/>
              </a:spcBef>
              <a:spcAft>
                <a:spcPts val="0"/>
              </a:spcAft>
              <a:defRPr sz="1200" b="1">
                <a:solidFill>
                  <a:srgbClr val="008C7B"/>
                </a:solidFill>
                <a:latin typeface="DejaVu Sans"/>
              </a:defRPr>
            </a:pPr>
            <a:r>
              <a:t>03</a:t>
            </a:r>
          </a:p>
        </p:txBody>
      </p:sp>
      <p:sp>
        <p:nvSpPr>
          <p:cNvPr id="20" name="TextBox 19"/>
          <p:cNvSpPr txBox="1"/>
          <p:nvPr/>
        </p:nvSpPr>
        <p:spPr>
          <a:xfrm>
            <a:off x="5323840" y="3314700"/>
            <a:ext cx="1544320" cy="419100"/>
          </a:xfrm>
          <a:prstGeom prst="rect">
            <a:avLst/>
          </a:prstGeom>
          <a:noFill/>
        </p:spPr>
        <p:txBody>
          <a:bodyPr wrap="none" lIns="0" rIns="0" tIns="0" bIns="0">
            <a:spAutoFit/>
          </a:bodyPr>
          <a:lstStyle/>
          <a:p>
            <a:pPr>
              <a:lnSpc>
                <a:spcPts val="2286"/>
              </a:lnSpc>
              <a:spcBef>
                <a:spcPts val="0"/>
              </a:spcBef>
              <a:spcAft>
                <a:spcPts val="0"/>
              </a:spcAft>
              <a:defRPr sz="1800" b="1">
                <a:solidFill>
                  <a:srgbClr val="173A42"/>
                </a:solidFill>
                <a:latin typeface="DejaVu Sans"/>
              </a:defRPr>
            </a:pPr>
            <a:r>
              <a:t>Validate</a:t>
            </a:r>
          </a:p>
        </p:txBody>
      </p:sp>
      <p:sp>
        <p:nvSpPr>
          <p:cNvPr id="21" name="TextBox 20"/>
          <p:cNvSpPr txBox="1"/>
          <p:nvPr/>
        </p:nvSpPr>
        <p:spPr>
          <a:xfrm>
            <a:off x="5323840" y="3873500"/>
            <a:ext cx="1544320" cy="927100"/>
          </a:xfrm>
          <a:prstGeom prst="rect">
            <a:avLst/>
          </a:prstGeom>
          <a:noFill/>
        </p:spPr>
        <p:txBody>
          <a:bodyPr wrap="none" lIns="0" rIns="0" tIns="0" bIns="0">
            <a:spAutoFit/>
          </a:bodyPr>
          <a:lstStyle/>
          <a:p>
            <a:pPr>
              <a:lnSpc>
                <a:spcPts val="1995"/>
              </a:lnSpc>
              <a:spcBef>
                <a:spcPts val="0"/>
              </a:spcBef>
              <a:spcAft>
                <a:spcPts val="0"/>
              </a:spcAft>
              <a:defRPr sz="1500" b="0">
                <a:solidFill>
                  <a:srgbClr val="173A42"/>
                </a:solidFill>
                <a:latin typeface="DejaVu Sans"/>
              </a:defRPr>
            </a:pPr>
            <a:r>
              <a:t>Check one</a:t>
            </a:r>
          </a:p>
          <a:p>
            <a:pPr>
              <a:lnSpc>
                <a:spcPts val="1995"/>
              </a:lnSpc>
              <a:spcBef>
                <a:spcPts val="0"/>
              </a:spcBef>
              <a:spcAft>
                <a:spcPts val="0"/>
              </a:spcAft>
              <a:defRPr sz="1500" b="0">
                <a:solidFill>
                  <a:srgbClr val="173A42"/>
                </a:solidFill>
                <a:latin typeface="DejaVu Sans"/>
              </a:defRPr>
            </a:pPr>
            <a:r>
              <a:t>allowed action</a:t>
            </a:r>
          </a:p>
          <a:p>
            <a:pPr>
              <a:lnSpc>
                <a:spcPts val="1995"/>
              </a:lnSpc>
              <a:spcBef>
                <a:spcPts val="0"/>
              </a:spcBef>
              <a:spcAft>
                <a:spcPts val="0"/>
              </a:spcAft>
              <a:defRPr sz="1500" b="0">
                <a:solidFill>
                  <a:srgbClr val="173A42"/>
                </a:solidFill>
                <a:latin typeface="DejaVu Sans"/>
              </a:defRPr>
            </a:pPr>
            <a:r>
              <a:t>and payload.</a:t>
            </a:r>
          </a:p>
        </p:txBody>
      </p:sp>
      <p:sp>
        <p:nvSpPr>
          <p:cNvPr id="22" name="TextBox 21"/>
          <p:cNvSpPr txBox="1"/>
          <p:nvPr/>
        </p:nvSpPr>
        <p:spPr>
          <a:xfrm>
            <a:off x="7147559" y="3594100"/>
            <a:ext cx="177800" cy="381000"/>
          </a:xfrm>
          <a:prstGeom prst="rect">
            <a:avLst/>
          </a:prstGeom>
          <a:noFill/>
        </p:spPr>
        <p:txBody>
          <a:bodyPr wrap="none" lIns="0" rIns="0" tIns="0" bIns="0">
            <a:spAutoFit/>
          </a:bodyPr>
          <a:lstStyle/>
          <a:p>
            <a:pPr>
              <a:lnSpc>
                <a:spcPts val="3175"/>
              </a:lnSpc>
              <a:spcBef>
                <a:spcPts val="0"/>
              </a:spcBef>
              <a:spcAft>
                <a:spcPts val="0"/>
              </a:spcAft>
              <a:defRPr sz="2500" b="1">
                <a:solidFill>
                  <a:srgbClr val="008C7B"/>
                </a:solidFill>
                <a:latin typeface="DejaVu Sans"/>
              </a:defRPr>
            </a:pPr>
            <a:r>
              <a:t>›</a:t>
            </a:r>
          </a:p>
        </p:txBody>
      </p:sp>
      <p:sp>
        <p:nvSpPr>
          <p:cNvPr id="23" name="Rounded Rectangle 22"/>
          <p:cNvSpPr/>
          <p:nvPr/>
        </p:nvSpPr>
        <p:spPr>
          <a:xfrm>
            <a:off x="7312659" y="2349500"/>
            <a:ext cx="2001520" cy="2565400"/>
          </a:xfrm>
          <a:prstGeom prst="roundRect">
            <a:avLst>
              <a:gd name="adj" fmla="val 6345"/>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7541259" y="2603500"/>
            <a:ext cx="431800" cy="381000"/>
          </a:xfrm>
          <a:prstGeom prst="roundRect">
            <a:avLst>
              <a:gd name="adj" fmla="val 15000"/>
            </a:avLst>
          </a:prstGeom>
          <a:solidFill>
            <a:srgbClr val="E8F3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630159" y="2692400"/>
            <a:ext cx="330200" cy="228600"/>
          </a:xfrm>
          <a:prstGeom prst="rect">
            <a:avLst/>
          </a:prstGeom>
          <a:noFill/>
        </p:spPr>
        <p:txBody>
          <a:bodyPr wrap="none" lIns="0" rIns="0" tIns="0" bIns="0">
            <a:spAutoFit/>
          </a:bodyPr>
          <a:lstStyle/>
          <a:p>
            <a:pPr>
              <a:lnSpc>
                <a:spcPts val="1524"/>
              </a:lnSpc>
              <a:spcBef>
                <a:spcPts val="0"/>
              </a:spcBef>
              <a:spcAft>
                <a:spcPts val="0"/>
              </a:spcAft>
              <a:defRPr sz="1200" b="1">
                <a:solidFill>
                  <a:srgbClr val="008C7B"/>
                </a:solidFill>
                <a:latin typeface="DejaVu Sans"/>
              </a:defRPr>
            </a:pPr>
            <a:r>
              <a:t>04</a:t>
            </a:r>
          </a:p>
        </p:txBody>
      </p:sp>
      <p:sp>
        <p:nvSpPr>
          <p:cNvPr id="26" name="TextBox 25"/>
          <p:cNvSpPr txBox="1"/>
          <p:nvPr/>
        </p:nvSpPr>
        <p:spPr>
          <a:xfrm>
            <a:off x="7541259" y="3314700"/>
            <a:ext cx="1544320" cy="419100"/>
          </a:xfrm>
          <a:prstGeom prst="rect">
            <a:avLst/>
          </a:prstGeom>
          <a:noFill/>
        </p:spPr>
        <p:txBody>
          <a:bodyPr wrap="none" lIns="0" rIns="0" tIns="0" bIns="0">
            <a:spAutoFit/>
          </a:bodyPr>
          <a:lstStyle/>
          <a:p>
            <a:pPr>
              <a:lnSpc>
                <a:spcPts val="2286"/>
              </a:lnSpc>
              <a:spcBef>
                <a:spcPts val="0"/>
              </a:spcBef>
              <a:spcAft>
                <a:spcPts val="0"/>
              </a:spcAft>
              <a:defRPr sz="1800" b="1">
                <a:solidFill>
                  <a:srgbClr val="173A42"/>
                </a:solidFill>
                <a:latin typeface="DejaVu Sans"/>
              </a:defRPr>
            </a:pPr>
            <a:r>
              <a:t>Execute</a:t>
            </a:r>
          </a:p>
        </p:txBody>
      </p:sp>
      <p:sp>
        <p:nvSpPr>
          <p:cNvPr id="27" name="TextBox 26"/>
          <p:cNvSpPr txBox="1"/>
          <p:nvPr/>
        </p:nvSpPr>
        <p:spPr>
          <a:xfrm>
            <a:off x="7541259" y="3873500"/>
            <a:ext cx="1544320" cy="927100"/>
          </a:xfrm>
          <a:prstGeom prst="rect">
            <a:avLst/>
          </a:prstGeom>
          <a:noFill/>
        </p:spPr>
        <p:txBody>
          <a:bodyPr wrap="none" lIns="0" rIns="0" tIns="0" bIns="0">
            <a:spAutoFit/>
          </a:bodyPr>
          <a:lstStyle/>
          <a:p>
            <a:pPr>
              <a:lnSpc>
                <a:spcPts val="1995"/>
              </a:lnSpc>
              <a:spcBef>
                <a:spcPts val="0"/>
              </a:spcBef>
              <a:spcAft>
                <a:spcPts val="0"/>
              </a:spcAft>
              <a:defRPr sz="1500" b="0">
                <a:solidFill>
                  <a:srgbClr val="173A42"/>
                </a:solidFill>
                <a:latin typeface="DejaVu Sans"/>
              </a:defRPr>
            </a:pPr>
            <a:r>
              <a:t>Call the API;</a:t>
            </a:r>
          </a:p>
          <a:p>
            <a:pPr>
              <a:lnSpc>
                <a:spcPts val="1995"/>
              </a:lnSpc>
              <a:spcBef>
                <a:spcPts val="0"/>
              </a:spcBef>
              <a:spcAft>
                <a:spcPts val="0"/>
              </a:spcAft>
              <a:defRPr sz="1500" b="0">
                <a:solidFill>
                  <a:srgbClr val="173A42"/>
                </a:solidFill>
                <a:latin typeface="DejaVu Sans"/>
              </a:defRPr>
            </a:pPr>
            <a:r>
              <a:t>handle the</a:t>
            </a:r>
          </a:p>
          <a:p>
            <a:pPr>
              <a:lnSpc>
                <a:spcPts val="1995"/>
              </a:lnSpc>
              <a:spcBef>
                <a:spcPts val="0"/>
              </a:spcBef>
              <a:spcAft>
                <a:spcPts val="0"/>
              </a:spcAft>
              <a:defRPr sz="1500" b="0">
                <a:solidFill>
                  <a:srgbClr val="173A42"/>
                </a:solidFill>
                <a:latin typeface="DejaVu Sans"/>
              </a:defRPr>
            </a:pPr>
            <a:r>
              <a:t>outcome.</a:t>
            </a:r>
          </a:p>
        </p:txBody>
      </p:sp>
      <p:sp>
        <p:nvSpPr>
          <p:cNvPr id="28" name="TextBox 27"/>
          <p:cNvSpPr txBox="1"/>
          <p:nvPr/>
        </p:nvSpPr>
        <p:spPr>
          <a:xfrm>
            <a:off x="9364980" y="3594100"/>
            <a:ext cx="177800" cy="381000"/>
          </a:xfrm>
          <a:prstGeom prst="rect">
            <a:avLst/>
          </a:prstGeom>
          <a:noFill/>
        </p:spPr>
        <p:txBody>
          <a:bodyPr wrap="none" lIns="0" rIns="0" tIns="0" bIns="0">
            <a:spAutoFit/>
          </a:bodyPr>
          <a:lstStyle/>
          <a:p>
            <a:pPr>
              <a:lnSpc>
                <a:spcPts val="3175"/>
              </a:lnSpc>
              <a:spcBef>
                <a:spcPts val="0"/>
              </a:spcBef>
              <a:spcAft>
                <a:spcPts val="0"/>
              </a:spcAft>
              <a:defRPr sz="2500" b="1">
                <a:solidFill>
                  <a:srgbClr val="008C7B"/>
                </a:solidFill>
                <a:latin typeface="DejaVu Sans"/>
              </a:defRPr>
            </a:pPr>
            <a:r>
              <a:t>›</a:t>
            </a:r>
          </a:p>
        </p:txBody>
      </p:sp>
      <p:sp>
        <p:nvSpPr>
          <p:cNvPr id="29" name="Rounded Rectangle 28"/>
          <p:cNvSpPr/>
          <p:nvPr/>
        </p:nvSpPr>
        <p:spPr>
          <a:xfrm>
            <a:off x="9530080" y="2349500"/>
            <a:ext cx="2001520" cy="2565400"/>
          </a:xfrm>
          <a:prstGeom prst="roundRect">
            <a:avLst>
              <a:gd name="adj" fmla="val 6345"/>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ounded Rectangle 29"/>
          <p:cNvSpPr/>
          <p:nvPr/>
        </p:nvSpPr>
        <p:spPr>
          <a:xfrm>
            <a:off x="9758680" y="2603500"/>
            <a:ext cx="431800" cy="381000"/>
          </a:xfrm>
          <a:prstGeom prst="roundRect">
            <a:avLst>
              <a:gd name="adj" fmla="val 15000"/>
            </a:avLst>
          </a:prstGeom>
          <a:solidFill>
            <a:srgbClr val="E8F3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847580" y="2692400"/>
            <a:ext cx="330200" cy="228600"/>
          </a:xfrm>
          <a:prstGeom prst="rect">
            <a:avLst/>
          </a:prstGeom>
          <a:noFill/>
        </p:spPr>
        <p:txBody>
          <a:bodyPr wrap="none" lIns="0" rIns="0" tIns="0" bIns="0">
            <a:spAutoFit/>
          </a:bodyPr>
          <a:lstStyle/>
          <a:p>
            <a:pPr>
              <a:lnSpc>
                <a:spcPts val="1524"/>
              </a:lnSpc>
              <a:spcBef>
                <a:spcPts val="0"/>
              </a:spcBef>
              <a:spcAft>
                <a:spcPts val="0"/>
              </a:spcAft>
              <a:defRPr sz="1200" b="1">
                <a:solidFill>
                  <a:srgbClr val="008C7B"/>
                </a:solidFill>
                <a:latin typeface="DejaVu Sans"/>
              </a:defRPr>
            </a:pPr>
            <a:r>
              <a:t>05</a:t>
            </a:r>
          </a:p>
        </p:txBody>
      </p:sp>
      <p:sp>
        <p:nvSpPr>
          <p:cNvPr id="32" name="TextBox 31"/>
          <p:cNvSpPr txBox="1"/>
          <p:nvPr/>
        </p:nvSpPr>
        <p:spPr>
          <a:xfrm>
            <a:off x="9758680" y="3314700"/>
            <a:ext cx="1544320" cy="419100"/>
          </a:xfrm>
          <a:prstGeom prst="rect">
            <a:avLst/>
          </a:prstGeom>
          <a:noFill/>
        </p:spPr>
        <p:txBody>
          <a:bodyPr wrap="none" lIns="0" rIns="0" tIns="0" bIns="0">
            <a:spAutoFit/>
          </a:bodyPr>
          <a:lstStyle/>
          <a:p>
            <a:pPr>
              <a:lnSpc>
                <a:spcPts val="2286"/>
              </a:lnSpc>
              <a:spcBef>
                <a:spcPts val="0"/>
              </a:spcBef>
              <a:spcAft>
                <a:spcPts val="0"/>
              </a:spcAft>
              <a:defRPr sz="1800" b="1">
                <a:solidFill>
                  <a:srgbClr val="173A42"/>
                </a:solidFill>
                <a:latin typeface="DejaVu Sans"/>
              </a:defRPr>
            </a:pPr>
            <a:r>
              <a:t>Remember</a:t>
            </a:r>
          </a:p>
        </p:txBody>
      </p:sp>
      <p:sp>
        <p:nvSpPr>
          <p:cNvPr id="33" name="TextBox 32"/>
          <p:cNvSpPr txBox="1"/>
          <p:nvPr/>
        </p:nvSpPr>
        <p:spPr>
          <a:xfrm>
            <a:off x="9758680" y="3873500"/>
            <a:ext cx="1544320" cy="927100"/>
          </a:xfrm>
          <a:prstGeom prst="rect">
            <a:avLst/>
          </a:prstGeom>
          <a:noFill/>
        </p:spPr>
        <p:txBody>
          <a:bodyPr wrap="none" lIns="0" rIns="0" tIns="0" bIns="0">
            <a:spAutoFit/>
          </a:bodyPr>
          <a:lstStyle/>
          <a:p>
            <a:pPr>
              <a:lnSpc>
                <a:spcPts val="1995"/>
              </a:lnSpc>
              <a:spcBef>
                <a:spcPts val="0"/>
              </a:spcBef>
              <a:spcAft>
                <a:spcPts val="0"/>
              </a:spcAft>
              <a:defRPr sz="1500" b="0">
                <a:solidFill>
                  <a:srgbClr val="173A42"/>
                </a:solidFill>
                <a:latin typeface="DejaVu Sans"/>
              </a:defRPr>
            </a:pPr>
            <a:r>
              <a:t>Log, update</a:t>
            </a:r>
          </a:p>
          <a:p>
            <a:pPr>
              <a:lnSpc>
                <a:spcPts val="1995"/>
              </a:lnSpc>
              <a:spcBef>
                <a:spcPts val="0"/>
              </a:spcBef>
              <a:spcAft>
                <a:spcPts val="0"/>
              </a:spcAft>
              <a:defRPr sz="1500" b="0">
                <a:solidFill>
                  <a:srgbClr val="173A42"/>
                </a:solidFill>
                <a:latin typeface="DejaVu Sans"/>
              </a:defRPr>
            </a:pPr>
            <a:r>
              <a:t>state, and</a:t>
            </a:r>
          </a:p>
          <a:p>
            <a:pPr>
              <a:lnSpc>
                <a:spcPts val="1995"/>
              </a:lnSpc>
              <a:spcBef>
                <a:spcPts val="0"/>
              </a:spcBef>
              <a:spcAft>
                <a:spcPts val="0"/>
              </a:spcAft>
              <a:defRPr sz="1500" b="0">
                <a:solidFill>
                  <a:srgbClr val="173A42"/>
                </a:solidFill>
                <a:latin typeface="DejaVu Sans"/>
              </a:defRPr>
            </a:pPr>
            <a:r>
              <a:t>check limits.</a:t>
            </a:r>
          </a:p>
        </p:txBody>
      </p:sp>
      <p:cxnSp>
        <p:nvCxnSpPr>
          <p:cNvPr id="34" name="Connector 33"/>
          <p:cNvCxnSpPr/>
          <p:nvPr/>
        </p:nvCxnSpPr>
        <p:spPr>
          <a:xfrm>
            <a:off x="965200" y="5295900"/>
            <a:ext cx="2336800" cy="0"/>
          </a:xfrm>
          <a:prstGeom prst="line">
            <a:avLst/>
          </a:prstGeom>
          <a:ln w="25400">
            <a:solidFill>
              <a:srgbClr val="008C7B"/>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8953500" y="5295900"/>
            <a:ext cx="2273300" cy="0"/>
          </a:xfrm>
          <a:prstGeom prst="line">
            <a:avLst/>
          </a:prstGeom>
          <a:ln w="25400">
            <a:solidFill>
              <a:srgbClr val="008C7B"/>
            </a:solidFill>
          </a:ln>
        </p:spPr>
        <p:style>
          <a:lnRef idx="2">
            <a:schemeClr val="accent1"/>
          </a:lnRef>
          <a:fillRef idx="0">
            <a:schemeClr val="accent1"/>
          </a:fillRef>
          <a:effectRef idx="1">
            <a:schemeClr val="accent1"/>
          </a:effectRef>
          <a:fontRef idx="minor">
            <a:schemeClr val="tx1"/>
          </a:fontRef>
        </p:style>
      </p:cxnSp>
      <p:sp>
        <p:nvSpPr>
          <p:cNvPr id="36" name="TextBox 35"/>
          <p:cNvSpPr txBox="1"/>
          <p:nvPr/>
        </p:nvSpPr>
        <p:spPr>
          <a:xfrm>
            <a:off x="3492500" y="5105400"/>
            <a:ext cx="5334000" cy="406400"/>
          </a:xfrm>
          <a:prstGeom prst="rect">
            <a:avLst/>
          </a:prstGeom>
          <a:noFill/>
        </p:spPr>
        <p:txBody>
          <a:bodyPr wrap="none" lIns="0" rIns="0" tIns="0" bIns="0">
            <a:spAutoFit/>
          </a:bodyPr>
          <a:lstStyle/>
          <a:p>
            <a:pPr>
              <a:lnSpc>
                <a:spcPts val="1905"/>
              </a:lnSpc>
              <a:spcBef>
                <a:spcPts val="0"/>
              </a:spcBef>
              <a:spcAft>
                <a:spcPts val="0"/>
              </a:spcAft>
              <a:defRPr sz="1500" b="1">
                <a:solidFill>
                  <a:srgbClr val="008C7B"/>
                </a:solidFill>
                <a:latin typeface="DejaVu Sans"/>
              </a:defRPr>
            </a:pPr>
            <a:r>
              <a:t>Repeat while running and within budget</a:t>
            </a:r>
          </a:p>
        </p:txBody>
      </p:sp>
      <p:sp>
        <p:nvSpPr>
          <p:cNvPr id="37" name="Rounded Rectangle 36"/>
          <p:cNvSpPr/>
          <p:nvPr/>
        </p:nvSpPr>
        <p:spPr>
          <a:xfrm>
            <a:off x="660400" y="5842000"/>
            <a:ext cx="10871200" cy="546100"/>
          </a:xfrm>
          <a:prstGeom prst="roundRect">
            <a:avLst>
              <a:gd name="adj" fmla="val 15000"/>
            </a:avLst>
          </a:prstGeom>
          <a:solidFill>
            <a:srgbClr val="E8F3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38200" y="5994400"/>
            <a:ext cx="10502900" cy="355600"/>
          </a:xfrm>
          <a:prstGeom prst="rect">
            <a:avLst/>
          </a:prstGeom>
          <a:noFill/>
        </p:spPr>
        <p:txBody>
          <a:bodyPr wrap="none" lIns="0" rIns="0" tIns="0" bIns="0">
            <a:spAutoFit/>
          </a:bodyPr>
          <a:lstStyle/>
          <a:p>
            <a:pPr>
              <a:lnSpc>
                <a:spcPts val="1380"/>
              </a:lnSpc>
              <a:spcBef>
                <a:spcPts val="0"/>
              </a:spcBef>
              <a:spcAft>
                <a:spcPts val="0"/>
              </a:spcAft>
              <a:defRPr sz="1200" b="1">
                <a:solidFill>
                  <a:srgbClr val="173A42"/>
                </a:solidFill>
                <a:latin typeface="DejaVu Sans"/>
              </a:defRPr>
            </a:pPr>
            <a:r>
              <a:t>Preserve instructions, useful discoveries, and recent action/result pairs.</a:t>
            </a:r>
          </a:p>
        </p:txBody>
      </p:sp>
      <p:cxnSp>
        <p:nvCxnSpPr>
          <p:cNvPr id="39" name="Connector 38"/>
          <p:cNvCxnSpPr/>
          <p:nvPr/>
        </p:nvCxnSpPr>
        <p:spPr>
          <a:xfrm>
            <a:off x="660400" y="6565900"/>
            <a:ext cx="10871200" cy="0"/>
          </a:xfrm>
          <a:prstGeom prst="line">
            <a:avLst/>
          </a:prstGeom>
          <a:ln w="8255">
            <a:solidFill>
              <a:srgbClr val="DCE6E2"/>
            </a:solidFill>
          </a:ln>
        </p:spPr>
        <p:style>
          <a:lnRef idx="2">
            <a:schemeClr val="accent1"/>
          </a:lnRef>
          <a:fillRef idx="0">
            <a:schemeClr val="accent1"/>
          </a:fillRef>
          <a:effectRef idx="1">
            <a:schemeClr val="accent1"/>
          </a:effectRef>
          <a:fontRef idx="minor">
            <a:schemeClr val="tx1"/>
          </a:fontRef>
        </p:style>
      </p:cxnSp>
      <p:sp>
        <p:nvSpPr>
          <p:cNvPr id="40" name="TextBox 39"/>
          <p:cNvSpPr txBox="1"/>
          <p:nvPr/>
        </p:nvSpPr>
        <p:spPr>
          <a:xfrm>
            <a:off x="660400" y="6654800"/>
            <a:ext cx="8509000" cy="127000"/>
          </a:xfrm>
          <a:prstGeom prst="rect">
            <a:avLst/>
          </a:prstGeom>
          <a:noFill/>
        </p:spPr>
        <p:txBody>
          <a:bodyPr wrap="none" lIns="0" rIns="0" tIns="0" bIns="0">
            <a:spAutoFit/>
          </a:bodyPr>
          <a:lstStyle/>
          <a:p>
            <a:pPr>
              <a:lnSpc>
                <a:spcPts val="952"/>
              </a:lnSpc>
              <a:spcBef>
                <a:spcPts val="0"/>
              </a:spcBef>
              <a:spcAft>
                <a:spcPts val="0"/>
              </a:spcAft>
              <a:defRPr sz="750" b="0">
                <a:solidFill>
                  <a:srgbClr val="557079"/>
                </a:solidFill>
                <a:latin typeface="DejaVu Sans"/>
              </a:defRPr>
            </a:pPr>
            <a:r>
              <a:t>VENDING BENCH  /  PARTICIPANT BRIEFING</a:t>
            </a:r>
          </a:p>
        </p:txBody>
      </p:sp>
      <p:sp>
        <p:nvSpPr>
          <p:cNvPr id="41" name="TextBox 40"/>
          <p:cNvSpPr txBox="1"/>
          <p:nvPr/>
        </p:nvSpPr>
        <p:spPr>
          <a:xfrm>
            <a:off x="11188700" y="6642100"/>
            <a:ext cx="342900" cy="152400"/>
          </a:xfrm>
          <a:prstGeom prst="rect">
            <a:avLst/>
          </a:prstGeom>
          <a:noFill/>
        </p:spPr>
        <p:txBody>
          <a:bodyPr wrap="none" lIns="0" rIns="0" tIns="0" bIns="0">
            <a:spAutoFit/>
          </a:bodyPr>
          <a:lstStyle/>
          <a:p>
            <a:pPr>
              <a:lnSpc>
                <a:spcPts val="1143"/>
              </a:lnSpc>
              <a:spcBef>
                <a:spcPts val="0"/>
              </a:spcBef>
              <a:spcAft>
                <a:spcPts val="0"/>
              </a:spcAft>
              <a:defRPr sz="900" b="1">
                <a:solidFill>
                  <a:srgbClr val="008C7B"/>
                </a:solidFill>
                <a:latin typeface="DejaVu Sans"/>
              </a:defRPr>
            </a:pPr>
            <a: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5F8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60400" y="355600"/>
            <a:ext cx="10287000" cy="228600"/>
          </a:xfrm>
          <a:prstGeom prst="rect">
            <a:avLst/>
          </a:prstGeom>
          <a:noFill/>
        </p:spPr>
        <p:txBody>
          <a:bodyPr wrap="none" lIns="0" rIns="0" tIns="0" bIns="0">
            <a:spAutoFit/>
          </a:bodyPr>
          <a:lstStyle/>
          <a:p>
            <a:pPr>
              <a:lnSpc>
                <a:spcPts val="1270"/>
              </a:lnSpc>
              <a:spcBef>
                <a:spcPts val="0"/>
              </a:spcBef>
              <a:spcAft>
                <a:spcPts val="0"/>
              </a:spcAft>
              <a:defRPr sz="1000" b="1">
                <a:solidFill>
                  <a:srgbClr val="008C7B"/>
                </a:solidFill>
                <a:latin typeface="DejaVu Sans"/>
              </a:defRPr>
            </a:pPr>
            <a:r>
              <a:t>04 / HARNESS DESIGN</a:t>
            </a:r>
          </a:p>
        </p:txBody>
      </p:sp>
      <p:sp>
        <p:nvSpPr>
          <p:cNvPr id="4" name="TextBox 3"/>
          <p:cNvSpPr txBox="1"/>
          <p:nvPr/>
        </p:nvSpPr>
        <p:spPr>
          <a:xfrm>
            <a:off x="660400" y="825500"/>
            <a:ext cx="10871200" cy="1143000"/>
          </a:xfrm>
          <a:prstGeom prst="rect">
            <a:avLst/>
          </a:prstGeom>
          <a:noFill/>
        </p:spPr>
        <p:txBody>
          <a:bodyPr wrap="none" lIns="0" rIns="0" tIns="0" bIns="0">
            <a:spAutoFit/>
          </a:bodyPr>
          <a:lstStyle/>
          <a:p>
            <a:pPr>
              <a:lnSpc>
                <a:spcPts val="3596"/>
              </a:lnSpc>
              <a:spcBef>
                <a:spcPts val="0"/>
              </a:spcBef>
              <a:spcAft>
                <a:spcPts val="0"/>
              </a:spcAft>
              <a:defRPr sz="3100" b="1">
                <a:solidFill>
                  <a:srgbClr val="173A42"/>
                </a:solidFill>
                <a:latin typeface="DejaVu Sans"/>
              </a:defRPr>
            </a:pPr>
            <a:r>
              <a:t>The starter skill and graph guard keep the</a:t>
            </a:r>
          </a:p>
          <a:p>
            <a:pPr>
              <a:lnSpc>
                <a:spcPts val="3596"/>
              </a:lnSpc>
              <a:spcBef>
                <a:spcPts val="0"/>
              </a:spcBef>
              <a:spcAft>
                <a:spcPts val="0"/>
              </a:spcAft>
              <a:defRPr sz="3100" b="1">
                <a:solidFill>
                  <a:srgbClr val="173A42"/>
                </a:solidFill>
                <a:latin typeface="DejaVu Sans"/>
              </a:defRPr>
            </a:pPr>
            <a:r>
              <a:t>agent on the public path.</a:t>
            </a:r>
          </a:p>
        </p:txBody>
      </p:sp>
      <p:sp>
        <p:nvSpPr>
          <p:cNvPr id="5" name="Rounded Rectangle 4"/>
          <p:cNvSpPr/>
          <p:nvPr/>
        </p:nvSpPr>
        <p:spPr>
          <a:xfrm>
            <a:off x="660400" y="2159000"/>
            <a:ext cx="7772400" cy="3378200"/>
          </a:xfrm>
          <a:prstGeom prst="roundRect">
            <a:avLst>
              <a:gd name="adj" fmla="val 3759"/>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8686800" y="2159000"/>
            <a:ext cx="2844800" cy="3378200"/>
          </a:xfrm>
          <a:prstGeom prst="roundRect">
            <a:avLst>
              <a:gd name="adj" fmla="val 4464"/>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387600"/>
            <a:ext cx="7264400" cy="279400"/>
          </a:xfrm>
          <a:prstGeom prst="rect">
            <a:avLst/>
          </a:prstGeom>
          <a:noFill/>
        </p:spPr>
        <p:txBody>
          <a:bodyPr wrap="none" lIns="0" rIns="0" tIns="0" bIns="0">
            <a:spAutoFit/>
          </a:bodyPr>
          <a:lstStyle/>
          <a:p>
            <a:pPr>
              <a:lnSpc>
                <a:spcPts val="1333"/>
              </a:lnSpc>
              <a:spcBef>
                <a:spcPts val="0"/>
              </a:spcBef>
              <a:spcAft>
                <a:spcPts val="0"/>
              </a:spcAft>
              <a:defRPr sz="1050" b="1">
                <a:solidFill>
                  <a:srgbClr val="557079"/>
                </a:solidFill>
                <a:latin typeface="DejaVu Sans"/>
              </a:defRPr>
            </a:pPr>
            <a:r>
              <a:t>Starting skill and guarded control flow</a:t>
            </a:r>
          </a:p>
        </p:txBody>
      </p:sp>
      <p:sp>
        <p:nvSpPr>
          <p:cNvPr id="8" name="TextBox 7"/>
          <p:cNvSpPr txBox="1"/>
          <p:nvPr/>
        </p:nvSpPr>
        <p:spPr>
          <a:xfrm>
            <a:off x="8915400" y="2387600"/>
            <a:ext cx="2413000" cy="279400"/>
          </a:xfrm>
          <a:prstGeom prst="rect">
            <a:avLst/>
          </a:prstGeom>
          <a:noFill/>
        </p:spPr>
        <p:txBody>
          <a:bodyPr wrap="none" lIns="0" rIns="0" tIns="0" bIns="0">
            <a:spAutoFit/>
          </a:bodyPr>
          <a:lstStyle/>
          <a:p>
            <a:pPr>
              <a:lnSpc>
                <a:spcPts val="1333"/>
              </a:lnSpc>
              <a:spcBef>
                <a:spcPts val="0"/>
              </a:spcBef>
              <a:spcAft>
                <a:spcPts val="0"/>
              </a:spcAft>
              <a:defRPr sz="1050" b="1">
                <a:solidFill>
                  <a:srgbClr val="008C7B"/>
                </a:solidFill>
                <a:latin typeface="DejaVu Sans"/>
              </a:defRPr>
            </a:pPr>
            <a:r>
              <a:t>What participants should know</a:t>
            </a:r>
          </a:p>
        </p:txBody>
      </p:sp>
      <p:cxnSp>
        <p:nvCxnSpPr>
          <p:cNvPr id="9" name="Connector 8"/>
          <p:cNvCxnSpPr/>
          <p:nvPr/>
        </p:nvCxnSpPr>
        <p:spPr>
          <a:xfrm>
            <a:off x="2692400" y="3530600"/>
            <a:ext cx="304800" cy="0"/>
          </a:xfrm>
          <a:prstGeom prst="line">
            <a:avLst/>
          </a:prstGeom>
          <a:ln w="22860">
            <a:solidFill>
              <a:srgbClr val="008C7B"/>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4978400" y="3530600"/>
            <a:ext cx="304800" cy="0"/>
          </a:xfrm>
          <a:prstGeom prst="line">
            <a:avLst/>
          </a:prstGeom>
          <a:ln w="22860">
            <a:solidFill>
              <a:srgbClr val="008C7B"/>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6908800" y="3530600"/>
            <a:ext cx="304800" cy="0"/>
          </a:xfrm>
          <a:prstGeom prst="line">
            <a:avLst/>
          </a:prstGeom>
          <a:ln w="22860">
            <a:solidFill>
              <a:srgbClr val="008C7B"/>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H="1">
            <a:off x="4191000" y="3530600"/>
            <a:ext cx="3022600" cy="1270000"/>
          </a:xfrm>
          <a:prstGeom prst="line">
            <a:avLst/>
          </a:prstGeom>
          <a:ln w="22860">
            <a:solidFill>
              <a:srgbClr val="008C7B"/>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4191000" y="4800600"/>
            <a:ext cx="381000" cy="0"/>
          </a:xfrm>
          <a:prstGeom prst="line">
            <a:avLst/>
          </a:prstGeom>
          <a:ln w="15240">
            <a:solidFill>
              <a:srgbClr val="DCE6E2"/>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6604000" y="4800600"/>
            <a:ext cx="330200" cy="0"/>
          </a:xfrm>
          <a:prstGeom prst="line">
            <a:avLst/>
          </a:prstGeom>
          <a:ln w="15240">
            <a:solidFill>
              <a:srgbClr val="DCE6E2"/>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flipH="1">
            <a:off x="4826000" y="4800600"/>
            <a:ext cx="2108200" cy="304800"/>
          </a:xfrm>
          <a:prstGeom prst="line">
            <a:avLst/>
          </a:prstGeom>
          <a:ln w="15240">
            <a:solidFill>
              <a:srgbClr val="DCE6E2"/>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4826000" y="5105400"/>
            <a:ext cx="355600" cy="0"/>
          </a:xfrm>
          <a:prstGeom prst="line">
            <a:avLst/>
          </a:prstGeom>
          <a:ln w="15240">
            <a:solidFill>
              <a:srgbClr val="DCE6E2"/>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flipH="1" flipV="1">
            <a:off x="4191000" y="4800600"/>
            <a:ext cx="990600" cy="304800"/>
          </a:xfrm>
          <a:prstGeom prst="line">
            <a:avLst/>
          </a:prstGeom>
          <a:ln w="22860">
            <a:solidFill>
              <a:srgbClr val="008C7B"/>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7416800" y="5105400"/>
            <a:ext cx="228600" cy="0"/>
          </a:xfrm>
          <a:prstGeom prst="line">
            <a:avLst/>
          </a:prstGeom>
          <a:ln w="22860">
            <a:solidFill>
              <a:srgbClr val="008C7B"/>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flipH="1">
            <a:off x="2717800" y="4800600"/>
            <a:ext cx="1854200" cy="254000"/>
          </a:xfrm>
          <a:prstGeom prst="line">
            <a:avLst/>
          </a:prstGeom>
          <a:ln w="22860">
            <a:solidFill>
              <a:srgbClr val="5E8DCD"/>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flipV="1">
            <a:off x="2717800" y="3530600"/>
            <a:ext cx="4495800" cy="1524000"/>
          </a:xfrm>
          <a:prstGeom prst="line">
            <a:avLst/>
          </a:prstGeom>
          <a:ln w="22860">
            <a:solidFill>
              <a:srgbClr val="5E8DCD"/>
            </a:solidFill>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889000" y="3073400"/>
            <a:ext cx="1803400" cy="914400"/>
          </a:xfrm>
          <a:prstGeom prst="roundRect">
            <a:avLst>
              <a:gd name="adj" fmla="val 11111"/>
            </a:avLst>
          </a:prstGeom>
          <a:solidFill>
            <a:srgbClr val="CAEFA1"/>
          </a:solidFill>
          <a:ln w="8890">
            <a:solidFill>
              <a:srgbClr val="CAEFA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016000" y="3200400"/>
            <a:ext cx="1549400" cy="685800"/>
          </a:xfrm>
          <a:prstGeom prst="rect">
            <a:avLst/>
          </a:prstGeom>
          <a:noFill/>
        </p:spPr>
        <p:txBody>
          <a:bodyPr wrap="none" lIns="0" rIns="0" tIns="0" bIns="0">
            <a:spAutoFit/>
          </a:bodyPr>
          <a:lstStyle/>
          <a:p>
            <a:pPr>
              <a:lnSpc>
                <a:spcPts val="1512"/>
              </a:lnSpc>
              <a:spcBef>
                <a:spcPts val="0"/>
              </a:spcBef>
              <a:spcAft>
                <a:spcPts val="0"/>
              </a:spcAft>
              <a:defRPr sz="1400" b="1">
                <a:solidFill>
                  <a:srgbClr val="173A42"/>
                </a:solidFill>
                <a:latin typeface="DejaVu Sans"/>
              </a:defRPr>
            </a:pPr>
            <a:r>
              <a:t>Starting skill</a:t>
            </a:r>
          </a:p>
          <a:p>
            <a:pPr>
              <a:lnSpc>
                <a:spcPts val="1512"/>
              </a:lnSpc>
              <a:spcBef>
                <a:spcPts val="0"/>
              </a:spcBef>
              <a:spcAft>
                <a:spcPts val="0"/>
              </a:spcAft>
              <a:defRPr sz="1400" b="1">
                <a:solidFill>
                  <a:srgbClr val="173A42"/>
                </a:solidFill>
                <a:latin typeface="DejaVu Sans"/>
              </a:defRPr>
            </a:pPr>
            <a:r>
              <a:t>vending-</a:t>
            </a:r>
          </a:p>
          <a:p>
            <a:pPr>
              <a:lnSpc>
                <a:spcPts val="1512"/>
              </a:lnSpc>
              <a:spcBef>
                <a:spcPts val="0"/>
              </a:spcBef>
              <a:spcAft>
                <a:spcPts val="0"/>
              </a:spcAft>
              <a:defRPr sz="1400" b="1">
                <a:solidFill>
                  <a:srgbClr val="173A42"/>
                </a:solidFill>
                <a:latin typeface="DejaVu Sans"/>
              </a:defRPr>
            </a:pPr>
            <a:r>
              <a:t>machine</a:t>
            </a:r>
          </a:p>
        </p:txBody>
      </p:sp>
      <p:sp>
        <p:nvSpPr>
          <p:cNvPr id="23" name="Rounded Rectangle 22"/>
          <p:cNvSpPr/>
          <p:nvPr/>
        </p:nvSpPr>
        <p:spPr>
          <a:xfrm>
            <a:off x="2997200" y="3073400"/>
            <a:ext cx="1981200" cy="914400"/>
          </a:xfrm>
          <a:prstGeom prst="roundRect">
            <a:avLst>
              <a:gd name="adj" fmla="val 11111"/>
            </a:avLst>
          </a:prstGeom>
          <a:solidFill>
            <a:srgbClr val="E8F3ED"/>
          </a:solidFill>
          <a:ln w="8890">
            <a:solidFill>
              <a:srgbClr val="DCE6E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124200" y="3200400"/>
            <a:ext cx="1727200" cy="685800"/>
          </a:xfrm>
          <a:prstGeom prst="rect">
            <a:avLst/>
          </a:prstGeom>
          <a:noFill/>
        </p:spPr>
        <p:txBody>
          <a:bodyPr wrap="none" lIns="0" rIns="0" tIns="0" bIns="0">
            <a:spAutoFit/>
          </a:bodyPr>
          <a:lstStyle/>
          <a:p>
            <a:pPr>
              <a:lnSpc>
                <a:spcPts val="1512"/>
              </a:lnSpc>
              <a:spcBef>
                <a:spcPts val="0"/>
              </a:spcBef>
              <a:spcAft>
                <a:spcPts val="0"/>
              </a:spcAft>
              <a:defRPr sz="1400" b="1">
                <a:solidFill>
                  <a:srgbClr val="173A42"/>
                </a:solidFill>
                <a:latin typeface="DejaVu Sans"/>
              </a:defRPr>
            </a:pPr>
            <a:r>
              <a:t>run_pi_agent.sh</a:t>
            </a:r>
          </a:p>
          <a:p>
            <a:pPr>
              <a:lnSpc>
                <a:spcPts val="1512"/>
              </a:lnSpc>
              <a:spcBef>
                <a:spcPts val="0"/>
              </a:spcBef>
              <a:spcAft>
                <a:spcPts val="0"/>
              </a:spcAft>
              <a:defRPr sz="1400" b="1">
                <a:solidFill>
                  <a:srgbClr val="173A42"/>
                </a:solidFill>
                <a:latin typeface="DejaVu Sans"/>
              </a:defRPr>
            </a:pPr>
            <a:r>
              <a:t>loads one skill</a:t>
            </a:r>
          </a:p>
          <a:p>
            <a:pPr>
              <a:lnSpc>
                <a:spcPts val="1512"/>
              </a:lnSpc>
              <a:spcBef>
                <a:spcPts val="0"/>
              </a:spcBef>
              <a:spcAft>
                <a:spcPts val="0"/>
              </a:spcAft>
              <a:defRPr sz="1400" b="1">
                <a:solidFill>
                  <a:srgbClr val="173A42"/>
                </a:solidFill>
                <a:latin typeface="DejaVu Sans"/>
              </a:defRPr>
            </a:pPr>
            <a:r>
              <a:t>and read,bash</a:t>
            </a:r>
          </a:p>
        </p:txBody>
      </p:sp>
      <p:sp>
        <p:nvSpPr>
          <p:cNvPr id="25" name="Rounded Rectangle 24"/>
          <p:cNvSpPr/>
          <p:nvPr/>
        </p:nvSpPr>
        <p:spPr>
          <a:xfrm>
            <a:off x="5283200" y="3073400"/>
            <a:ext cx="1625600" cy="914400"/>
          </a:xfrm>
          <a:prstGeom prst="roundRect">
            <a:avLst>
              <a:gd name="adj" fmla="val 11111"/>
            </a:avLst>
          </a:prstGeom>
          <a:solidFill>
            <a:srgbClr val="FFFFFF"/>
          </a:solidFill>
          <a:ln w="8890">
            <a:solidFill>
              <a:srgbClr val="DCE6E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410200" y="3200400"/>
            <a:ext cx="1371600" cy="685800"/>
          </a:xfrm>
          <a:prstGeom prst="rect">
            <a:avLst/>
          </a:prstGeom>
          <a:noFill/>
        </p:spPr>
        <p:txBody>
          <a:bodyPr wrap="none" lIns="0" rIns="0" tIns="0" bIns="0">
            <a:spAutoFit/>
          </a:bodyPr>
          <a:lstStyle/>
          <a:p>
            <a:pPr>
              <a:lnSpc>
                <a:spcPts val="1512"/>
              </a:lnSpc>
              <a:spcBef>
                <a:spcPts val="0"/>
              </a:spcBef>
              <a:spcAft>
                <a:spcPts val="0"/>
              </a:spcAft>
              <a:defRPr sz="1400" b="1">
                <a:solidFill>
                  <a:srgbClr val="173A42"/>
                </a:solidFill>
                <a:latin typeface="DejaVu Sans"/>
              </a:defRPr>
            </a:pPr>
            <a:r>
              <a:t>POST /env</a:t>
            </a:r>
          </a:p>
          <a:p>
            <a:pPr>
              <a:lnSpc>
                <a:spcPts val="1512"/>
              </a:lnSpc>
              <a:spcBef>
                <a:spcPts val="0"/>
              </a:spcBef>
              <a:spcAft>
                <a:spcPts val="0"/>
              </a:spcAft>
              <a:defRPr sz="1400" b="1">
                <a:solidFill>
                  <a:srgbClr val="173A42"/>
                </a:solidFill>
                <a:latin typeface="DejaVu Sans"/>
              </a:defRPr>
            </a:pPr>
            <a:r>
              <a:t>create the</a:t>
            </a:r>
          </a:p>
          <a:p>
            <a:pPr>
              <a:lnSpc>
                <a:spcPts val="1512"/>
              </a:lnSpc>
              <a:spcBef>
                <a:spcPts val="0"/>
              </a:spcBef>
              <a:spcAft>
                <a:spcPts val="0"/>
              </a:spcAft>
              <a:defRPr sz="1400" b="1">
                <a:solidFill>
                  <a:srgbClr val="173A42"/>
                </a:solidFill>
                <a:latin typeface="DejaVu Sans"/>
              </a:defRPr>
            </a:pPr>
            <a:r>
              <a:t>episode</a:t>
            </a:r>
          </a:p>
        </p:txBody>
      </p:sp>
      <p:sp>
        <p:nvSpPr>
          <p:cNvPr id="27" name="Rounded Rectangle 26"/>
          <p:cNvSpPr/>
          <p:nvPr/>
        </p:nvSpPr>
        <p:spPr>
          <a:xfrm>
            <a:off x="7213600" y="3073400"/>
            <a:ext cx="1524000" cy="914400"/>
          </a:xfrm>
          <a:prstGeom prst="roundRect">
            <a:avLst>
              <a:gd name="adj" fmla="val 11111"/>
            </a:avLst>
          </a:prstGeom>
          <a:solidFill>
            <a:srgbClr val="FFFFFF"/>
          </a:solidFill>
          <a:ln w="8890">
            <a:solidFill>
              <a:srgbClr val="DCE6E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340600" y="3200400"/>
            <a:ext cx="1270000" cy="685800"/>
          </a:xfrm>
          <a:prstGeom prst="rect">
            <a:avLst/>
          </a:prstGeom>
          <a:noFill/>
        </p:spPr>
        <p:txBody>
          <a:bodyPr wrap="none" lIns="0" rIns="0" tIns="0" bIns="0">
            <a:spAutoFit/>
          </a:bodyPr>
          <a:lstStyle/>
          <a:p>
            <a:pPr>
              <a:lnSpc>
                <a:spcPts val="1512"/>
              </a:lnSpc>
              <a:spcBef>
                <a:spcPts val="0"/>
              </a:spcBef>
              <a:spcAft>
                <a:spcPts val="0"/>
              </a:spcAft>
              <a:defRPr sz="1400" b="1">
                <a:solidFill>
                  <a:srgbClr val="173A42"/>
                </a:solidFill>
                <a:latin typeface="DejaVu Sans"/>
              </a:defRPr>
            </a:pPr>
            <a:r>
              <a:t>observe</a:t>
            </a:r>
          </a:p>
          <a:p>
            <a:pPr>
              <a:lnSpc>
                <a:spcPts val="1512"/>
              </a:lnSpc>
              <a:spcBef>
                <a:spcPts val="0"/>
              </a:spcBef>
              <a:spcAft>
                <a:spcPts val="0"/>
              </a:spcAft>
              <a:defRPr sz="1400" b="1">
                <a:solidFill>
                  <a:srgbClr val="173A42"/>
                </a:solidFill>
                <a:latin typeface="DejaVu Sans"/>
              </a:defRPr>
            </a:pPr>
            <a:r>
              <a:t>read public</a:t>
            </a:r>
          </a:p>
          <a:p>
            <a:pPr>
              <a:lnSpc>
                <a:spcPts val="1512"/>
              </a:lnSpc>
              <a:spcBef>
                <a:spcPts val="0"/>
              </a:spcBef>
              <a:spcAft>
                <a:spcPts val="0"/>
              </a:spcAft>
              <a:defRPr sz="1400" b="1">
                <a:solidFill>
                  <a:srgbClr val="173A42"/>
                </a:solidFill>
                <a:latin typeface="DejaVu Sans"/>
              </a:defRPr>
            </a:pPr>
            <a:r>
              <a:t>state</a:t>
            </a:r>
          </a:p>
        </p:txBody>
      </p:sp>
      <p:sp>
        <p:nvSpPr>
          <p:cNvPr id="29" name="Rounded Rectangle 28"/>
          <p:cNvSpPr/>
          <p:nvPr/>
        </p:nvSpPr>
        <p:spPr>
          <a:xfrm>
            <a:off x="2108200" y="4343400"/>
            <a:ext cx="2082800" cy="914400"/>
          </a:xfrm>
          <a:prstGeom prst="roundRect">
            <a:avLst>
              <a:gd name="adj" fmla="val 11111"/>
            </a:avLst>
          </a:prstGeom>
          <a:solidFill>
            <a:srgbClr val="FFFFFF"/>
          </a:solidFill>
          <a:ln w="8890">
            <a:solidFill>
              <a:srgbClr val="DCE6E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2235200" y="4470400"/>
            <a:ext cx="1828800" cy="685800"/>
          </a:xfrm>
          <a:prstGeom prst="rect">
            <a:avLst/>
          </a:prstGeom>
          <a:noFill/>
        </p:spPr>
        <p:txBody>
          <a:bodyPr wrap="none" lIns="0" rIns="0" tIns="0" bIns="0">
            <a:spAutoFit/>
          </a:bodyPr>
          <a:lstStyle/>
          <a:p>
            <a:pPr>
              <a:lnSpc>
                <a:spcPts val="1512"/>
              </a:lnSpc>
              <a:spcBef>
                <a:spcPts val="0"/>
              </a:spcBef>
              <a:spcAft>
                <a:spcPts val="0"/>
              </a:spcAft>
              <a:defRPr sz="1400" b="1">
                <a:solidFill>
                  <a:srgbClr val="173A42"/>
                </a:solidFill>
                <a:latin typeface="DejaVu Sans"/>
              </a:defRPr>
            </a:pPr>
            <a:r>
              <a:t>Plan one action</a:t>
            </a:r>
          </a:p>
          <a:p>
            <a:pPr>
              <a:lnSpc>
                <a:spcPts val="1512"/>
              </a:lnSpc>
              <a:spcBef>
                <a:spcPts val="0"/>
              </a:spcBef>
              <a:spcAft>
                <a:spcPts val="0"/>
              </a:spcAft>
              <a:defRPr sz="1400" b="1">
                <a:solidFill>
                  <a:srgbClr val="173A42"/>
                </a:solidFill>
                <a:latin typeface="DejaVu Sans"/>
              </a:defRPr>
            </a:pPr>
            <a:r>
              <a:t>from public data</a:t>
            </a:r>
          </a:p>
        </p:txBody>
      </p:sp>
      <p:sp>
        <p:nvSpPr>
          <p:cNvPr id="31" name="Rounded Rectangle 30"/>
          <p:cNvSpPr/>
          <p:nvPr/>
        </p:nvSpPr>
        <p:spPr>
          <a:xfrm>
            <a:off x="4572000" y="4343400"/>
            <a:ext cx="2032000" cy="914400"/>
          </a:xfrm>
          <a:prstGeom prst="roundRect">
            <a:avLst>
              <a:gd name="adj" fmla="val 11111"/>
            </a:avLst>
          </a:prstGeom>
          <a:solidFill>
            <a:srgbClr val="FFFFFF"/>
          </a:solidFill>
          <a:ln w="8890">
            <a:solidFill>
              <a:srgbClr val="DCE6E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699000" y="4470400"/>
            <a:ext cx="1778000" cy="685800"/>
          </a:xfrm>
          <a:prstGeom prst="rect">
            <a:avLst/>
          </a:prstGeom>
          <a:noFill/>
        </p:spPr>
        <p:txBody>
          <a:bodyPr wrap="none" lIns="0" rIns="0" tIns="0" bIns="0">
            <a:spAutoFit/>
          </a:bodyPr>
          <a:lstStyle/>
          <a:p>
            <a:pPr>
              <a:lnSpc>
                <a:spcPts val="1512"/>
              </a:lnSpc>
              <a:spcBef>
                <a:spcPts val="0"/>
              </a:spcBef>
              <a:spcAft>
                <a:spcPts val="0"/>
              </a:spcAft>
              <a:defRPr sz="1400" b="1">
                <a:solidFill>
                  <a:srgbClr val="173A42"/>
                </a:solidFill>
                <a:latin typeface="DejaVu Sans"/>
              </a:defRPr>
            </a:pPr>
            <a:r>
              <a:t>Validate IDs,</a:t>
            </a:r>
          </a:p>
          <a:p>
            <a:pPr>
              <a:lnSpc>
                <a:spcPts val="1512"/>
              </a:lnSpc>
              <a:spcBef>
                <a:spcPts val="0"/>
              </a:spcBef>
              <a:spcAft>
                <a:spcPts val="0"/>
              </a:spcAft>
              <a:defRPr sz="1400" b="1">
                <a:solidFill>
                  <a:srgbClr val="173A42"/>
                </a:solidFill>
                <a:latin typeface="DejaVu Sans"/>
              </a:defRPr>
            </a:pPr>
            <a:r>
              <a:t>prices, and cash</a:t>
            </a:r>
          </a:p>
        </p:txBody>
      </p:sp>
      <p:sp>
        <p:nvSpPr>
          <p:cNvPr id="33" name="Rounded Rectangle 32"/>
          <p:cNvSpPr/>
          <p:nvPr/>
        </p:nvSpPr>
        <p:spPr>
          <a:xfrm>
            <a:off x="6934200" y="4343400"/>
            <a:ext cx="1803400" cy="914400"/>
          </a:xfrm>
          <a:prstGeom prst="roundRect">
            <a:avLst>
              <a:gd name="adj" fmla="val 11111"/>
            </a:avLst>
          </a:prstGeom>
          <a:solidFill>
            <a:srgbClr val="FFFFFF"/>
          </a:solidFill>
          <a:ln w="8890">
            <a:solidFill>
              <a:srgbClr val="DCE6E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061200" y="4470400"/>
            <a:ext cx="1549400" cy="685800"/>
          </a:xfrm>
          <a:prstGeom prst="rect">
            <a:avLst/>
          </a:prstGeom>
          <a:noFill/>
        </p:spPr>
        <p:txBody>
          <a:bodyPr wrap="none" lIns="0" rIns="0" tIns="0" bIns="0">
            <a:spAutoFit/>
          </a:bodyPr>
          <a:lstStyle/>
          <a:p>
            <a:pPr>
              <a:lnSpc>
                <a:spcPts val="1512"/>
              </a:lnSpc>
              <a:spcBef>
                <a:spcPts val="0"/>
              </a:spcBef>
              <a:spcAft>
                <a:spcPts val="0"/>
              </a:spcAft>
              <a:defRPr sz="1400" b="1">
                <a:solidFill>
                  <a:srgbClr val="173A42"/>
                </a:solidFill>
                <a:latin typeface="DejaVu Sans"/>
              </a:defRPr>
            </a:pPr>
            <a:r>
              <a:t>Execute one</a:t>
            </a:r>
          </a:p>
          <a:p>
            <a:pPr>
              <a:lnSpc>
                <a:spcPts val="1512"/>
              </a:lnSpc>
              <a:spcBef>
                <a:spcPts val="0"/>
              </a:spcBef>
              <a:spcAft>
                <a:spcPts val="0"/>
              </a:spcAft>
              <a:defRPr sz="1400" b="1">
                <a:solidFill>
                  <a:srgbClr val="173A42"/>
                </a:solidFill>
                <a:latin typeface="DejaVu Sans"/>
              </a:defRPr>
            </a:pPr>
            <a:r>
              <a:t>API call</a:t>
            </a:r>
          </a:p>
          <a:p>
            <a:pPr>
              <a:lnSpc>
                <a:spcPts val="1512"/>
              </a:lnSpc>
              <a:spcBef>
                <a:spcPts val="0"/>
              </a:spcBef>
              <a:spcAft>
                <a:spcPts val="0"/>
              </a:spcAft>
              <a:defRPr sz="1400" b="1">
                <a:solidFill>
                  <a:srgbClr val="173A42"/>
                </a:solidFill>
                <a:latin typeface="DejaVu Sans"/>
              </a:defRPr>
            </a:pPr>
            <a:r>
              <a:t>via bash/curl</a:t>
            </a:r>
          </a:p>
        </p:txBody>
      </p:sp>
      <p:sp>
        <p:nvSpPr>
          <p:cNvPr id="35" name="Rounded Rectangle 34"/>
          <p:cNvSpPr/>
          <p:nvPr/>
        </p:nvSpPr>
        <p:spPr>
          <a:xfrm>
            <a:off x="1549400" y="4622800"/>
            <a:ext cx="1168400" cy="863600"/>
          </a:xfrm>
          <a:prstGeom prst="roundRect">
            <a:avLst>
              <a:gd name="adj" fmla="val 11764"/>
            </a:avLst>
          </a:prstGeom>
          <a:solidFill>
            <a:srgbClr val="E8F3ED"/>
          </a:solidFill>
          <a:ln w="8890">
            <a:solidFill>
              <a:srgbClr val="5E8DC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1676400" y="4749800"/>
            <a:ext cx="914400" cy="635000"/>
          </a:xfrm>
          <a:prstGeom prst="rect">
            <a:avLst/>
          </a:prstGeom>
          <a:noFill/>
        </p:spPr>
        <p:txBody>
          <a:bodyPr wrap="none" lIns="0" rIns="0" tIns="0" bIns="0">
            <a:spAutoFit/>
          </a:bodyPr>
          <a:lstStyle/>
          <a:p>
            <a:pPr>
              <a:lnSpc>
                <a:spcPts val="1026"/>
              </a:lnSpc>
              <a:spcBef>
                <a:spcPts val="0"/>
              </a:spcBef>
              <a:spcAft>
                <a:spcPts val="0"/>
              </a:spcAft>
              <a:defRPr sz="950" b="1">
                <a:solidFill>
                  <a:srgbClr val="008C7B"/>
                </a:solidFill>
                <a:latin typeface="DejaVu Sans"/>
              </a:defRPr>
            </a:pPr>
            <a:r>
              <a:t>Graph guard</a:t>
            </a:r>
          </a:p>
          <a:p>
            <a:pPr>
              <a:lnSpc>
                <a:spcPts val="1026"/>
              </a:lnSpc>
              <a:spcBef>
                <a:spcPts val="0"/>
              </a:spcBef>
              <a:spcAft>
                <a:spcPts val="0"/>
              </a:spcAft>
              <a:defRPr sz="950" b="1">
                <a:solidFill>
                  <a:srgbClr val="008C7B"/>
                </a:solidFill>
                <a:latin typeface="DejaVu Sans"/>
              </a:defRPr>
            </a:pPr>
            <a:r>
              <a:t>blocks bad</a:t>
            </a:r>
          </a:p>
          <a:p>
            <a:pPr>
              <a:lnSpc>
                <a:spcPts val="1026"/>
              </a:lnSpc>
              <a:spcBef>
                <a:spcPts val="0"/>
              </a:spcBef>
              <a:spcAft>
                <a:spcPts val="0"/>
              </a:spcAft>
              <a:defRPr sz="950" b="1">
                <a:solidFill>
                  <a:srgbClr val="008C7B"/>
                </a:solidFill>
                <a:latin typeface="DejaVu Sans"/>
              </a:defRPr>
            </a:pPr>
            <a:r>
              <a:t>order</a:t>
            </a:r>
          </a:p>
        </p:txBody>
      </p:sp>
      <p:sp>
        <p:nvSpPr>
          <p:cNvPr id="37" name="Rounded Rectangle 36"/>
          <p:cNvSpPr/>
          <p:nvPr/>
        </p:nvSpPr>
        <p:spPr>
          <a:xfrm>
            <a:off x="3327400" y="4724400"/>
            <a:ext cx="1498600" cy="762000"/>
          </a:xfrm>
          <a:prstGeom prst="roundRect">
            <a:avLst>
              <a:gd name="adj" fmla="val 13333"/>
            </a:avLst>
          </a:prstGeom>
          <a:solidFill>
            <a:srgbClr val="FFFFFF"/>
          </a:solidFill>
          <a:ln w="8890">
            <a:solidFill>
              <a:srgbClr val="DCE6E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3454400" y="4851400"/>
            <a:ext cx="1244600" cy="533400"/>
          </a:xfrm>
          <a:prstGeom prst="rect">
            <a:avLst/>
          </a:prstGeom>
          <a:noFill/>
        </p:spPr>
        <p:txBody>
          <a:bodyPr wrap="none" lIns="0" rIns="0" tIns="0" bIns="0">
            <a:spAutoFit/>
          </a:bodyPr>
          <a:lstStyle/>
          <a:p>
            <a:pPr>
              <a:lnSpc>
                <a:spcPts val="1134"/>
              </a:lnSpc>
              <a:spcBef>
                <a:spcPts val="0"/>
              </a:spcBef>
              <a:spcAft>
                <a:spcPts val="0"/>
              </a:spcAft>
              <a:defRPr sz="1050" b="1">
                <a:solidFill>
                  <a:srgbClr val="173A42"/>
                </a:solidFill>
                <a:latin typeface="DejaVu Sans"/>
              </a:defRPr>
            </a:pPr>
            <a:r>
              <a:t>Update logs</a:t>
            </a:r>
          </a:p>
          <a:p>
            <a:pPr>
              <a:lnSpc>
                <a:spcPts val="1134"/>
              </a:lnSpc>
              <a:spcBef>
                <a:spcPts val="0"/>
              </a:spcBef>
              <a:spcAft>
                <a:spcPts val="0"/>
              </a:spcAft>
              <a:defRPr sz="1050" b="1">
                <a:solidFill>
                  <a:srgbClr val="173A42"/>
                </a:solidFill>
                <a:latin typeface="DejaVu Sans"/>
              </a:defRPr>
            </a:pPr>
            <a:r>
              <a:t>and memory</a:t>
            </a:r>
          </a:p>
        </p:txBody>
      </p:sp>
      <p:sp>
        <p:nvSpPr>
          <p:cNvPr id="39" name="Rounded Rectangle 38"/>
          <p:cNvSpPr/>
          <p:nvPr/>
        </p:nvSpPr>
        <p:spPr>
          <a:xfrm>
            <a:off x="5181600" y="4724400"/>
            <a:ext cx="2235200" cy="762000"/>
          </a:xfrm>
          <a:prstGeom prst="roundRect">
            <a:avLst>
              <a:gd name="adj" fmla="val 13333"/>
            </a:avLst>
          </a:prstGeom>
          <a:solidFill>
            <a:srgbClr val="FFFFFF"/>
          </a:solidFill>
          <a:ln w="8890">
            <a:solidFill>
              <a:srgbClr val="DCE6E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5308600" y="4851400"/>
            <a:ext cx="1981200" cy="533400"/>
          </a:xfrm>
          <a:prstGeom prst="rect">
            <a:avLst/>
          </a:prstGeom>
          <a:noFill/>
        </p:spPr>
        <p:txBody>
          <a:bodyPr wrap="none" lIns="0" rIns="0" tIns="0" bIns="0">
            <a:spAutoFit/>
          </a:bodyPr>
          <a:lstStyle/>
          <a:p>
            <a:pPr>
              <a:lnSpc>
                <a:spcPts val="1134"/>
              </a:lnSpc>
              <a:spcBef>
                <a:spcPts val="0"/>
              </a:spcBef>
              <a:spcAft>
                <a:spcPts val="0"/>
              </a:spcAft>
              <a:defRPr sz="1050" b="1">
                <a:solidFill>
                  <a:srgbClr val="173A42"/>
                </a:solidFill>
                <a:latin typeface="DejaVu Sans"/>
              </a:defRPr>
            </a:pPr>
            <a:r>
              <a:t>Check result</a:t>
            </a:r>
          </a:p>
          <a:p>
            <a:pPr>
              <a:lnSpc>
                <a:spcPts val="1134"/>
              </a:lnSpc>
              <a:spcBef>
                <a:spcPts val="0"/>
              </a:spcBef>
              <a:spcAft>
                <a:spcPts val="0"/>
              </a:spcAft>
              <a:defRPr sz="1050" b="1">
                <a:solidFill>
                  <a:srgbClr val="173A42"/>
                </a:solidFill>
                <a:latin typeface="DejaVu Sans"/>
              </a:defRPr>
            </a:pPr>
            <a:r>
              <a:t>and continue or stop</a:t>
            </a:r>
          </a:p>
        </p:txBody>
      </p:sp>
      <p:sp>
        <p:nvSpPr>
          <p:cNvPr id="41" name="Rounded Rectangle 40"/>
          <p:cNvSpPr/>
          <p:nvPr/>
        </p:nvSpPr>
        <p:spPr>
          <a:xfrm>
            <a:off x="7645400" y="4724400"/>
            <a:ext cx="1727200" cy="762000"/>
          </a:xfrm>
          <a:prstGeom prst="roundRect">
            <a:avLst>
              <a:gd name="adj" fmla="val 13333"/>
            </a:avLst>
          </a:prstGeom>
          <a:solidFill>
            <a:srgbClr val="CAEFA1"/>
          </a:solidFill>
          <a:ln w="8890">
            <a:solidFill>
              <a:srgbClr val="CAEFA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7772400" y="4851400"/>
            <a:ext cx="1473200" cy="533400"/>
          </a:xfrm>
          <a:prstGeom prst="rect">
            <a:avLst/>
          </a:prstGeom>
          <a:noFill/>
        </p:spPr>
        <p:txBody>
          <a:bodyPr wrap="none" lIns="0" rIns="0" tIns="0" bIns="0">
            <a:spAutoFit/>
          </a:bodyPr>
          <a:lstStyle/>
          <a:p>
            <a:pPr>
              <a:lnSpc>
                <a:spcPts val="1134"/>
              </a:lnSpc>
              <a:spcBef>
                <a:spcPts val="0"/>
              </a:spcBef>
              <a:spcAft>
                <a:spcPts val="0"/>
              </a:spcAft>
              <a:defRPr sz="1050" b="1">
                <a:solidFill>
                  <a:srgbClr val="173A42"/>
                </a:solidFill>
                <a:latin typeface="DejaVu Sans"/>
              </a:defRPr>
            </a:pPr>
            <a:r>
              <a:t>Stop and cleanup</a:t>
            </a:r>
          </a:p>
          <a:p>
            <a:pPr>
              <a:lnSpc>
                <a:spcPts val="1134"/>
              </a:lnSpc>
              <a:spcBef>
                <a:spcPts val="0"/>
              </a:spcBef>
              <a:spcAft>
                <a:spcPts val="0"/>
              </a:spcAft>
              <a:defRPr sz="1050" b="1">
                <a:solidFill>
                  <a:srgbClr val="173A42"/>
                </a:solidFill>
                <a:latin typeface="DejaVu Sans"/>
              </a:defRPr>
            </a:pPr>
            <a:r>
              <a:t>when done</a:t>
            </a:r>
          </a:p>
        </p:txBody>
      </p:sp>
      <p:sp>
        <p:nvSpPr>
          <p:cNvPr id="43" name="Rounded Rectangle 42"/>
          <p:cNvSpPr/>
          <p:nvPr/>
        </p:nvSpPr>
        <p:spPr>
          <a:xfrm>
            <a:off x="8864600" y="2895600"/>
            <a:ext cx="63500" cy="63500"/>
          </a:xfrm>
          <a:prstGeom prst="roundRect">
            <a:avLst>
              <a:gd name="adj" fmla="val 15000"/>
            </a:avLst>
          </a:prstGeom>
          <a:solidFill>
            <a:srgbClr val="008C7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9093200" y="2819400"/>
            <a:ext cx="2235200" cy="1397000"/>
          </a:xfrm>
          <a:prstGeom prst="rect">
            <a:avLst/>
          </a:prstGeom>
          <a:noFill/>
        </p:spPr>
        <p:txBody>
          <a:bodyPr wrap="none" lIns="0" rIns="0" tIns="0" bIns="0">
            <a:spAutoFit/>
          </a:bodyPr>
          <a:lstStyle/>
          <a:p>
            <a:pPr>
              <a:lnSpc>
                <a:spcPts val="1822"/>
              </a:lnSpc>
              <a:spcBef>
                <a:spcPts val="0"/>
              </a:spcBef>
              <a:spcAft>
                <a:spcPts val="0"/>
              </a:spcAft>
              <a:defRPr sz="1350" b="0">
                <a:solidFill>
                  <a:srgbClr val="173A42"/>
                </a:solidFill>
                <a:latin typeface="DejaVu Sans"/>
              </a:defRPr>
            </a:pPr>
            <a:r>
              <a:t>The starting skill is the</a:t>
            </a:r>
          </a:p>
          <a:p>
            <a:pPr>
              <a:lnSpc>
                <a:spcPts val="1822"/>
              </a:lnSpc>
              <a:spcBef>
                <a:spcPts val="0"/>
              </a:spcBef>
              <a:spcAft>
                <a:spcPts val="0"/>
              </a:spcAft>
              <a:defRPr sz="1350" b="0">
                <a:solidFill>
                  <a:srgbClr val="173A42"/>
                </a:solidFill>
                <a:latin typeface="DejaVu Sans"/>
              </a:defRPr>
            </a:pPr>
            <a:r>
              <a:t>vending-machine skill.</a:t>
            </a:r>
          </a:p>
        </p:txBody>
      </p:sp>
      <p:sp>
        <p:nvSpPr>
          <p:cNvPr id="45" name="Rounded Rectangle 44"/>
          <p:cNvSpPr/>
          <p:nvPr/>
        </p:nvSpPr>
        <p:spPr>
          <a:xfrm>
            <a:off x="8864600" y="3438207"/>
            <a:ext cx="63500" cy="63500"/>
          </a:xfrm>
          <a:prstGeom prst="roundRect">
            <a:avLst>
              <a:gd name="adj" fmla="val 15000"/>
            </a:avLst>
          </a:prstGeom>
          <a:solidFill>
            <a:srgbClr val="008C7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9093200" y="3362007"/>
            <a:ext cx="2235200" cy="1397000"/>
          </a:xfrm>
          <a:prstGeom prst="rect">
            <a:avLst/>
          </a:prstGeom>
          <a:noFill/>
        </p:spPr>
        <p:txBody>
          <a:bodyPr wrap="none" lIns="0" rIns="0" tIns="0" bIns="0">
            <a:spAutoFit/>
          </a:bodyPr>
          <a:lstStyle/>
          <a:p>
            <a:pPr>
              <a:lnSpc>
                <a:spcPts val="1822"/>
              </a:lnSpc>
              <a:spcBef>
                <a:spcPts val="0"/>
              </a:spcBef>
              <a:spcAft>
                <a:spcPts val="0"/>
              </a:spcAft>
              <a:defRPr sz="1350" b="0">
                <a:solidFill>
                  <a:srgbClr val="173A42"/>
                </a:solidFill>
                <a:latin typeface="DejaVu Sans"/>
              </a:defRPr>
            </a:pPr>
            <a:r>
              <a:t>The launcher uses one</a:t>
            </a:r>
          </a:p>
          <a:p>
            <a:pPr>
              <a:lnSpc>
                <a:spcPts val="1822"/>
              </a:lnSpc>
              <a:spcBef>
                <a:spcPts val="0"/>
              </a:spcBef>
              <a:spcAft>
                <a:spcPts val="0"/>
              </a:spcAft>
              <a:defRPr sz="1350" b="0">
                <a:solidFill>
                  <a:srgbClr val="173A42"/>
                </a:solidFill>
                <a:latin typeface="DejaVu Sans"/>
              </a:defRPr>
            </a:pPr>
            <a:r>
              <a:t>skill and only read,bash</a:t>
            </a:r>
          </a:p>
          <a:p>
            <a:pPr>
              <a:lnSpc>
                <a:spcPts val="1822"/>
              </a:lnSpc>
              <a:spcBef>
                <a:spcPts val="0"/>
              </a:spcBef>
              <a:spcAft>
                <a:spcPts val="0"/>
              </a:spcAft>
              <a:defRPr sz="1350" b="0">
                <a:solidFill>
                  <a:srgbClr val="173A42"/>
                </a:solidFill>
                <a:latin typeface="DejaVu Sans"/>
              </a:defRPr>
            </a:pPr>
            <a:r>
              <a:t>tools.</a:t>
            </a:r>
          </a:p>
        </p:txBody>
      </p:sp>
      <p:sp>
        <p:nvSpPr>
          <p:cNvPr id="47" name="Rounded Rectangle 46"/>
          <p:cNvSpPr/>
          <p:nvPr/>
        </p:nvSpPr>
        <p:spPr>
          <a:xfrm>
            <a:off x="8864600" y="4212272"/>
            <a:ext cx="63500" cy="63500"/>
          </a:xfrm>
          <a:prstGeom prst="roundRect">
            <a:avLst>
              <a:gd name="adj" fmla="val 15000"/>
            </a:avLst>
          </a:prstGeom>
          <a:solidFill>
            <a:srgbClr val="008C7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9093200" y="4136072"/>
            <a:ext cx="2235200" cy="1397000"/>
          </a:xfrm>
          <a:prstGeom prst="rect">
            <a:avLst/>
          </a:prstGeom>
          <a:noFill/>
        </p:spPr>
        <p:txBody>
          <a:bodyPr wrap="none" lIns="0" rIns="0" tIns="0" bIns="0">
            <a:spAutoFit/>
          </a:bodyPr>
          <a:lstStyle/>
          <a:p>
            <a:pPr>
              <a:lnSpc>
                <a:spcPts val="1822"/>
              </a:lnSpc>
              <a:spcBef>
                <a:spcPts val="0"/>
              </a:spcBef>
              <a:spcAft>
                <a:spcPts val="0"/>
              </a:spcAft>
              <a:defRPr sz="1350" b="0">
                <a:solidFill>
                  <a:srgbClr val="173A42"/>
                </a:solidFill>
                <a:latin typeface="DejaVu Sans"/>
              </a:defRPr>
            </a:pPr>
            <a:r>
              <a:t>The guard enforces</a:t>
            </a:r>
          </a:p>
          <a:p>
            <a:pPr>
              <a:lnSpc>
                <a:spcPts val="1822"/>
              </a:lnSpc>
              <a:spcBef>
                <a:spcPts val="0"/>
              </a:spcBef>
              <a:spcAft>
                <a:spcPts val="0"/>
              </a:spcAft>
              <a:defRPr sz="1350" b="0">
                <a:solidFill>
                  <a:srgbClr val="173A42"/>
                </a:solidFill>
                <a:latin typeface="DejaVu Sans"/>
              </a:defRPr>
            </a:pPr>
            <a:r>
              <a:t>observe before act and</a:t>
            </a:r>
          </a:p>
          <a:p>
            <a:pPr>
              <a:lnSpc>
                <a:spcPts val="1822"/>
              </a:lnSpc>
              <a:spcBef>
                <a:spcPts val="0"/>
              </a:spcBef>
              <a:spcAft>
                <a:spcPts val="0"/>
              </a:spcAft>
              <a:defRPr sz="1350" b="0">
                <a:solidFill>
                  <a:srgbClr val="173A42"/>
                </a:solidFill>
                <a:latin typeface="DejaVu Sans"/>
              </a:defRPr>
            </a:pPr>
            <a:r>
              <a:t>set_price before</a:t>
            </a:r>
          </a:p>
          <a:p>
            <a:pPr>
              <a:lnSpc>
                <a:spcPts val="1822"/>
              </a:lnSpc>
              <a:spcBef>
                <a:spcPts val="0"/>
              </a:spcBef>
              <a:spcAft>
                <a:spcPts val="0"/>
              </a:spcAft>
              <a:defRPr sz="1350" b="0">
                <a:solidFill>
                  <a:srgbClr val="173A42"/>
                </a:solidFill>
                <a:latin typeface="DejaVu Sans"/>
              </a:defRPr>
            </a:pPr>
            <a:r>
              <a:t>stock_items.</a:t>
            </a:r>
          </a:p>
        </p:txBody>
      </p:sp>
      <p:sp>
        <p:nvSpPr>
          <p:cNvPr id="49" name="Rounded Rectangle 48"/>
          <p:cNvSpPr/>
          <p:nvPr/>
        </p:nvSpPr>
        <p:spPr>
          <a:xfrm>
            <a:off x="8864600" y="5217795"/>
            <a:ext cx="63500" cy="63500"/>
          </a:xfrm>
          <a:prstGeom prst="roundRect">
            <a:avLst>
              <a:gd name="adj" fmla="val 15000"/>
            </a:avLst>
          </a:prstGeom>
          <a:solidFill>
            <a:srgbClr val="008C7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9093200" y="5141595"/>
            <a:ext cx="2235200" cy="1397000"/>
          </a:xfrm>
          <a:prstGeom prst="rect">
            <a:avLst/>
          </a:prstGeom>
          <a:noFill/>
        </p:spPr>
        <p:txBody>
          <a:bodyPr wrap="none" lIns="0" rIns="0" tIns="0" bIns="0">
            <a:spAutoFit/>
          </a:bodyPr>
          <a:lstStyle/>
          <a:p>
            <a:pPr>
              <a:lnSpc>
                <a:spcPts val="1822"/>
              </a:lnSpc>
              <a:spcBef>
                <a:spcPts val="0"/>
              </a:spcBef>
              <a:spcAft>
                <a:spcPts val="0"/>
              </a:spcAft>
              <a:defRPr sz="1350" b="0">
                <a:solidFill>
                  <a:srgbClr val="173A42"/>
                </a:solidFill>
                <a:latin typeface="DejaVu Sans"/>
              </a:defRPr>
            </a:pPr>
            <a:r>
              <a:t>SKILL.md explains the</a:t>
            </a:r>
          </a:p>
          <a:p>
            <a:pPr>
              <a:lnSpc>
                <a:spcPts val="1822"/>
              </a:lnSpc>
              <a:spcBef>
                <a:spcPts val="0"/>
              </a:spcBef>
              <a:spcAft>
                <a:spcPts val="0"/>
              </a:spcAft>
              <a:defRPr sz="1350" b="0">
                <a:solidFill>
                  <a:srgbClr val="173A42"/>
                </a:solidFill>
                <a:latin typeface="DejaVu Sans"/>
              </a:defRPr>
            </a:pPr>
            <a:r>
              <a:t>public graph; the</a:t>
            </a:r>
          </a:p>
          <a:p>
            <a:pPr>
              <a:lnSpc>
                <a:spcPts val="1822"/>
              </a:lnSpc>
              <a:spcBef>
                <a:spcPts val="0"/>
              </a:spcBef>
              <a:spcAft>
                <a:spcPts val="0"/>
              </a:spcAft>
              <a:defRPr sz="1350" b="0">
                <a:solidFill>
                  <a:srgbClr val="173A42"/>
                </a:solidFill>
                <a:latin typeface="DejaVu Sans"/>
              </a:defRPr>
            </a:pPr>
            <a:r>
              <a:t>extension enforces it at</a:t>
            </a:r>
          </a:p>
          <a:p>
            <a:pPr>
              <a:lnSpc>
                <a:spcPts val="1822"/>
              </a:lnSpc>
              <a:spcBef>
                <a:spcPts val="0"/>
              </a:spcBef>
              <a:spcAft>
                <a:spcPts val="0"/>
              </a:spcAft>
              <a:defRPr sz="1350" b="0">
                <a:solidFill>
                  <a:srgbClr val="173A42"/>
                </a:solidFill>
                <a:latin typeface="DejaVu Sans"/>
              </a:defRPr>
            </a:pPr>
            <a:r>
              <a:t>runtime.</a:t>
            </a:r>
          </a:p>
        </p:txBody>
      </p:sp>
      <p:sp>
        <p:nvSpPr>
          <p:cNvPr id="51" name="Rounded Rectangle 50"/>
          <p:cNvSpPr/>
          <p:nvPr/>
        </p:nvSpPr>
        <p:spPr>
          <a:xfrm>
            <a:off x="660400" y="5842000"/>
            <a:ext cx="10871200" cy="546100"/>
          </a:xfrm>
          <a:prstGeom prst="roundRect">
            <a:avLst>
              <a:gd name="adj" fmla="val 15000"/>
            </a:avLst>
          </a:prstGeom>
          <a:solidFill>
            <a:srgbClr val="E8F3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838200" y="5994400"/>
            <a:ext cx="10502900" cy="355600"/>
          </a:xfrm>
          <a:prstGeom prst="rect">
            <a:avLst/>
          </a:prstGeom>
          <a:noFill/>
        </p:spPr>
        <p:txBody>
          <a:bodyPr wrap="none" lIns="0" rIns="0" tIns="0" bIns="0">
            <a:spAutoFit/>
          </a:bodyPr>
          <a:lstStyle/>
          <a:p>
            <a:pPr>
              <a:lnSpc>
                <a:spcPts val="1380"/>
              </a:lnSpc>
              <a:spcBef>
                <a:spcPts val="0"/>
              </a:spcBef>
              <a:spcAft>
                <a:spcPts val="0"/>
              </a:spcAft>
              <a:defRPr sz="1200" b="1">
                <a:solidFill>
                  <a:srgbClr val="173A42"/>
                </a:solidFill>
                <a:latin typeface="DejaVu Sans"/>
              </a:defRPr>
            </a:pPr>
            <a:r>
              <a:t>Participants should see the harness as a guarded public-state loop, not a free-form planner.</a:t>
            </a:r>
          </a:p>
        </p:txBody>
      </p:sp>
      <p:cxnSp>
        <p:nvCxnSpPr>
          <p:cNvPr id="53" name="Connector 52"/>
          <p:cNvCxnSpPr/>
          <p:nvPr/>
        </p:nvCxnSpPr>
        <p:spPr>
          <a:xfrm>
            <a:off x="660400" y="6565900"/>
            <a:ext cx="10871200" cy="0"/>
          </a:xfrm>
          <a:prstGeom prst="line">
            <a:avLst/>
          </a:prstGeom>
          <a:ln w="8255">
            <a:solidFill>
              <a:srgbClr val="DCE6E2"/>
            </a:solidFill>
          </a:ln>
        </p:spPr>
        <p:style>
          <a:lnRef idx="2">
            <a:schemeClr val="accent1"/>
          </a:lnRef>
          <a:fillRef idx="0">
            <a:schemeClr val="accent1"/>
          </a:fillRef>
          <a:effectRef idx="1">
            <a:schemeClr val="accent1"/>
          </a:effectRef>
          <a:fontRef idx="minor">
            <a:schemeClr val="tx1"/>
          </a:fontRef>
        </p:style>
      </p:cxnSp>
      <p:sp>
        <p:nvSpPr>
          <p:cNvPr id="54" name="TextBox 53"/>
          <p:cNvSpPr txBox="1"/>
          <p:nvPr/>
        </p:nvSpPr>
        <p:spPr>
          <a:xfrm>
            <a:off x="660400" y="6654800"/>
            <a:ext cx="8509000" cy="127000"/>
          </a:xfrm>
          <a:prstGeom prst="rect">
            <a:avLst/>
          </a:prstGeom>
          <a:noFill/>
        </p:spPr>
        <p:txBody>
          <a:bodyPr wrap="none" lIns="0" rIns="0" tIns="0" bIns="0">
            <a:spAutoFit/>
          </a:bodyPr>
          <a:lstStyle/>
          <a:p>
            <a:pPr>
              <a:lnSpc>
                <a:spcPts val="952"/>
              </a:lnSpc>
              <a:spcBef>
                <a:spcPts val="0"/>
              </a:spcBef>
              <a:spcAft>
                <a:spcPts val="0"/>
              </a:spcAft>
              <a:defRPr sz="750" b="0">
                <a:solidFill>
                  <a:srgbClr val="557079"/>
                </a:solidFill>
                <a:latin typeface="DejaVu Sans"/>
              </a:defRPr>
            </a:pPr>
            <a:r>
              <a:t>VENDING BENCH  /  PARTICIPANT BRIEFING</a:t>
            </a:r>
          </a:p>
        </p:txBody>
      </p:sp>
      <p:sp>
        <p:nvSpPr>
          <p:cNvPr id="55" name="TextBox 54"/>
          <p:cNvSpPr txBox="1"/>
          <p:nvPr/>
        </p:nvSpPr>
        <p:spPr>
          <a:xfrm>
            <a:off x="11188700" y="6642100"/>
            <a:ext cx="342900" cy="152400"/>
          </a:xfrm>
          <a:prstGeom prst="rect">
            <a:avLst/>
          </a:prstGeom>
          <a:noFill/>
        </p:spPr>
        <p:txBody>
          <a:bodyPr wrap="none" lIns="0" rIns="0" tIns="0" bIns="0">
            <a:spAutoFit/>
          </a:bodyPr>
          <a:lstStyle/>
          <a:p>
            <a:pPr>
              <a:lnSpc>
                <a:spcPts val="1143"/>
              </a:lnSpc>
              <a:spcBef>
                <a:spcPts val="0"/>
              </a:spcBef>
              <a:spcAft>
                <a:spcPts val="0"/>
              </a:spcAft>
              <a:defRPr sz="900" b="1">
                <a:solidFill>
                  <a:srgbClr val="008C7B"/>
                </a:solidFill>
                <a:latin typeface="DejaVu Sans"/>
              </a:defRPr>
            </a:pPr>
            <a: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5F8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60400" y="355600"/>
            <a:ext cx="10287000" cy="228600"/>
          </a:xfrm>
          <a:prstGeom prst="rect">
            <a:avLst/>
          </a:prstGeom>
          <a:noFill/>
        </p:spPr>
        <p:txBody>
          <a:bodyPr wrap="none" lIns="0" rIns="0" tIns="0" bIns="0">
            <a:spAutoFit/>
          </a:bodyPr>
          <a:lstStyle/>
          <a:p>
            <a:pPr>
              <a:lnSpc>
                <a:spcPts val="1270"/>
              </a:lnSpc>
              <a:spcBef>
                <a:spcPts val="0"/>
              </a:spcBef>
              <a:spcAft>
                <a:spcPts val="0"/>
              </a:spcAft>
              <a:defRPr sz="1000" b="1">
                <a:solidFill>
                  <a:srgbClr val="008C7B"/>
                </a:solidFill>
                <a:latin typeface="DejaVu Sans"/>
              </a:defRPr>
            </a:pPr>
            <a:r>
              <a:t>04 / HARNESS DESIGN</a:t>
            </a:r>
          </a:p>
        </p:txBody>
      </p:sp>
      <p:sp>
        <p:nvSpPr>
          <p:cNvPr id="4" name="TextBox 3"/>
          <p:cNvSpPr txBox="1"/>
          <p:nvPr/>
        </p:nvSpPr>
        <p:spPr>
          <a:xfrm>
            <a:off x="660400" y="825500"/>
            <a:ext cx="10871200" cy="1143000"/>
          </a:xfrm>
          <a:prstGeom prst="rect">
            <a:avLst/>
          </a:prstGeom>
          <a:noFill/>
        </p:spPr>
        <p:txBody>
          <a:bodyPr wrap="none" lIns="0" rIns="0" tIns="0" bIns="0">
            <a:spAutoFit/>
          </a:bodyPr>
          <a:lstStyle/>
          <a:p>
            <a:pPr>
              <a:lnSpc>
                <a:spcPts val="3596"/>
              </a:lnSpc>
              <a:spcBef>
                <a:spcPts val="0"/>
              </a:spcBef>
              <a:spcAft>
                <a:spcPts val="0"/>
              </a:spcAft>
              <a:defRPr sz="3100" b="1">
                <a:solidFill>
                  <a:srgbClr val="173A42"/>
                </a:solidFill>
                <a:latin typeface="DejaVu Sans"/>
              </a:defRPr>
            </a:pPr>
            <a:r>
              <a:t>Reliable execution protects your score.</a:t>
            </a:r>
          </a:p>
        </p:txBody>
      </p:sp>
      <p:sp>
        <p:nvSpPr>
          <p:cNvPr id="5" name="Rounded Rectangle 4"/>
          <p:cNvSpPr/>
          <p:nvPr/>
        </p:nvSpPr>
        <p:spPr>
          <a:xfrm>
            <a:off x="660400" y="2209800"/>
            <a:ext cx="5308600" cy="3352800"/>
          </a:xfrm>
          <a:prstGeom prst="roundRect">
            <a:avLst>
              <a:gd name="adj" fmla="val 3787"/>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60400" y="2209800"/>
            <a:ext cx="5308600" cy="50800"/>
          </a:xfrm>
          <a:prstGeom prst="rect">
            <a:avLst/>
          </a:prstGeom>
          <a:solidFill>
            <a:srgbClr val="008C7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39800" y="2489200"/>
            <a:ext cx="4749800" cy="444500"/>
          </a:xfrm>
          <a:prstGeom prst="rect">
            <a:avLst/>
          </a:prstGeom>
          <a:noFill/>
        </p:spPr>
        <p:txBody>
          <a:bodyPr wrap="none" lIns="0" rIns="0" tIns="0" bIns="0">
            <a:spAutoFit/>
          </a:bodyPr>
          <a:lstStyle/>
          <a:p>
            <a:pPr>
              <a:lnSpc>
                <a:spcPts val="1524"/>
              </a:lnSpc>
              <a:spcBef>
                <a:spcPts val="0"/>
              </a:spcBef>
              <a:spcAft>
                <a:spcPts val="0"/>
              </a:spcAft>
              <a:defRPr sz="1200" b="1">
                <a:solidFill>
                  <a:srgbClr val="008C7B"/>
                </a:solidFill>
                <a:latin typeface="DejaVu Sans"/>
              </a:defRPr>
            </a:pPr>
            <a:r>
              <a:t>BEFORE AND DURING ACTIONS</a:t>
            </a:r>
          </a:p>
        </p:txBody>
      </p:sp>
      <p:sp>
        <p:nvSpPr>
          <p:cNvPr id="8" name="Rounded Rectangle 7"/>
          <p:cNvSpPr/>
          <p:nvPr/>
        </p:nvSpPr>
        <p:spPr>
          <a:xfrm>
            <a:off x="939800" y="3073400"/>
            <a:ext cx="63500" cy="63500"/>
          </a:xfrm>
          <a:prstGeom prst="roundRect">
            <a:avLst>
              <a:gd name="adj" fmla="val 15000"/>
            </a:avLst>
          </a:prstGeom>
          <a:solidFill>
            <a:srgbClr val="008C7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168400" y="2997200"/>
            <a:ext cx="4508500" cy="1397000"/>
          </a:xfrm>
          <a:prstGeom prst="rect">
            <a:avLst/>
          </a:prstGeom>
          <a:noFill/>
        </p:spPr>
        <p:txBody>
          <a:bodyPr wrap="none" lIns="0" rIns="0" tIns="0" bIns="0">
            <a:spAutoFit/>
          </a:bodyPr>
          <a:lstStyle/>
          <a:p>
            <a:pPr>
              <a:lnSpc>
                <a:spcPts val="2160"/>
              </a:lnSpc>
              <a:spcBef>
                <a:spcPts val="0"/>
              </a:spcBef>
              <a:spcAft>
                <a:spcPts val="0"/>
              </a:spcAft>
              <a:defRPr sz="1600" b="0">
                <a:solidFill>
                  <a:srgbClr val="173A42"/>
                </a:solidFill>
                <a:latin typeface="DejaVu Sans"/>
              </a:defRPr>
            </a:pPr>
            <a:r>
              <a:t>Validate IDs, integer cents, and quantities</a:t>
            </a:r>
          </a:p>
        </p:txBody>
      </p:sp>
      <p:sp>
        <p:nvSpPr>
          <p:cNvPr id="10" name="Rounded Rectangle 9"/>
          <p:cNvSpPr/>
          <p:nvPr/>
        </p:nvSpPr>
        <p:spPr>
          <a:xfrm>
            <a:off x="939800" y="3429000"/>
            <a:ext cx="63500" cy="63500"/>
          </a:xfrm>
          <a:prstGeom prst="roundRect">
            <a:avLst>
              <a:gd name="adj" fmla="val 15000"/>
            </a:avLst>
          </a:prstGeom>
          <a:solidFill>
            <a:srgbClr val="008C7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168400" y="3352800"/>
            <a:ext cx="4508500" cy="1397000"/>
          </a:xfrm>
          <a:prstGeom prst="rect">
            <a:avLst/>
          </a:prstGeom>
          <a:noFill/>
        </p:spPr>
        <p:txBody>
          <a:bodyPr wrap="none" lIns="0" rIns="0" tIns="0" bIns="0">
            <a:spAutoFit/>
          </a:bodyPr>
          <a:lstStyle/>
          <a:p>
            <a:pPr>
              <a:lnSpc>
                <a:spcPts val="2160"/>
              </a:lnSpc>
              <a:spcBef>
                <a:spcPts val="0"/>
              </a:spcBef>
              <a:spcAft>
                <a:spcPts val="0"/>
              </a:spcAft>
              <a:defRPr sz="1600" b="0">
                <a:solidFill>
                  <a:srgbClr val="173A42"/>
                </a:solidFill>
                <a:latin typeface="DejaVu Sans"/>
              </a:defRPr>
            </a:pPr>
            <a:r>
              <a:t>Execute actions serially</a:t>
            </a:r>
          </a:p>
        </p:txBody>
      </p:sp>
      <p:sp>
        <p:nvSpPr>
          <p:cNvPr id="12" name="Rounded Rectangle 11"/>
          <p:cNvSpPr/>
          <p:nvPr/>
        </p:nvSpPr>
        <p:spPr>
          <a:xfrm>
            <a:off x="939800" y="3784600"/>
            <a:ext cx="63500" cy="63500"/>
          </a:xfrm>
          <a:prstGeom prst="roundRect">
            <a:avLst>
              <a:gd name="adj" fmla="val 15000"/>
            </a:avLst>
          </a:prstGeom>
          <a:solidFill>
            <a:srgbClr val="008C7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168400" y="3708400"/>
            <a:ext cx="4508500" cy="1397000"/>
          </a:xfrm>
          <a:prstGeom prst="rect">
            <a:avLst/>
          </a:prstGeom>
          <a:noFill/>
        </p:spPr>
        <p:txBody>
          <a:bodyPr wrap="none" lIns="0" rIns="0" tIns="0" bIns="0">
            <a:spAutoFit/>
          </a:bodyPr>
          <a:lstStyle/>
          <a:p>
            <a:pPr>
              <a:lnSpc>
                <a:spcPts val="2160"/>
              </a:lnSpc>
              <a:spcBef>
                <a:spcPts val="0"/>
              </a:spcBef>
              <a:spcAft>
                <a:spcPts val="0"/>
              </a:spcAft>
              <a:defRPr sz="1600" b="0">
                <a:solidFill>
                  <a:srgbClr val="173A42"/>
                </a:solidFill>
                <a:latin typeface="DejaVu Sans"/>
              </a:defRPr>
            </a:pPr>
            <a:r>
              <a:t>Retry transient failures with the SAME key</a:t>
            </a:r>
          </a:p>
        </p:txBody>
      </p:sp>
      <p:sp>
        <p:nvSpPr>
          <p:cNvPr id="14" name="Rounded Rectangle 13"/>
          <p:cNvSpPr/>
          <p:nvPr/>
        </p:nvSpPr>
        <p:spPr>
          <a:xfrm>
            <a:off x="939800" y="4140200"/>
            <a:ext cx="63500" cy="63500"/>
          </a:xfrm>
          <a:prstGeom prst="roundRect">
            <a:avLst>
              <a:gd name="adj" fmla="val 15000"/>
            </a:avLst>
          </a:prstGeom>
          <a:solidFill>
            <a:srgbClr val="008C7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168400" y="4064000"/>
            <a:ext cx="4508500" cy="1397000"/>
          </a:xfrm>
          <a:prstGeom prst="rect">
            <a:avLst/>
          </a:prstGeom>
          <a:noFill/>
        </p:spPr>
        <p:txBody>
          <a:bodyPr wrap="none" lIns="0" rIns="0" tIns="0" bIns="0">
            <a:spAutoFit/>
          </a:bodyPr>
          <a:lstStyle/>
          <a:p>
            <a:pPr>
              <a:lnSpc>
                <a:spcPts val="2160"/>
              </a:lnSpc>
              <a:spcBef>
                <a:spcPts val="0"/>
              </a:spcBef>
              <a:spcAft>
                <a:spcPts val="0"/>
              </a:spcAft>
              <a:defRPr sz="1600" b="0">
                <a:solidFill>
                  <a:srgbClr val="173A42"/>
                </a:solidFill>
                <a:latin typeface="DejaVu Sans"/>
              </a:defRPr>
            </a:pPr>
            <a:r>
              <a:t>Bound model timeouts and poll status</a:t>
            </a:r>
          </a:p>
        </p:txBody>
      </p:sp>
      <p:sp>
        <p:nvSpPr>
          <p:cNvPr id="16" name="Rounded Rectangle 15"/>
          <p:cNvSpPr/>
          <p:nvPr/>
        </p:nvSpPr>
        <p:spPr>
          <a:xfrm>
            <a:off x="6223000" y="2209800"/>
            <a:ext cx="5308600" cy="3352800"/>
          </a:xfrm>
          <a:prstGeom prst="roundRect">
            <a:avLst>
              <a:gd name="adj" fmla="val 3787"/>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223000" y="2209800"/>
            <a:ext cx="5308600" cy="50800"/>
          </a:xfrm>
          <a:prstGeom prst="rect">
            <a:avLst/>
          </a:prstGeom>
          <a:solidFill>
            <a:srgbClr val="5E8DC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502400" y="2489200"/>
            <a:ext cx="4749800" cy="444500"/>
          </a:xfrm>
          <a:prstGeom prst="rect">
            <a:avLst/>
          </a:prstGeom>
          <a:noFill/>
        </p:spPr>
        <p:txBody>
          <a:bodyPr wrap="none" lIns="0" rIns="0" tIns="0" bIns="0">
            <a:spAutoFit/>
          </a:bodyPr>
          <a:lstStyle/>
          <a:p>
            <a:pPr>
              <a:lnSpc>
                <a:spcPts val="1524"/>
              </a:lnSpc>
              <a:spcBef>
                <a:spcPts val="0"/>
              </a:spcBef>
              <a:spcAft>
                <a:spcPts val="0"/>
              </a:spcAft>
              <a:defRPr sz="1200" b="1">
                <a:solidFill>
                  <a:srgbClr val="557079"/>
                </a:solidFill>
                <a:latin typeface="DejaVu Sans"/>
              </a:defRPr>
            </a:pPr>
            <a:r>
              <a:t>WHEN THE EPISODE STOPS</a:t>
            </a:r>
          </a:p>
        </p:txBody>
      </p:sp>
      <p:sp>
        <p:nvSpPr>
          <p:cNvPr id="19" name="Rounded Rectangle 18"/>
          <p:cNvSpPr/>
          <p:nvPr/>
        </p:nvSpPr>
        <p:spPr>
          <a:xfrm>
            <a:off x="6502400" y="3073400"/>
            <a:ext cx="63500" cy="63500"/>
          </a:xfrm>
          <a:prstGeom prst="roundRect">
            <a:avLst>
              <a:gd name="adj" fmla="val 15000"/>
            </a:avLst>
          </a:prstGeom>
          <a:solidFill>
            <a:srgbClr val="008C7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731000" y="2997200"/>
            <a:ext cx="4508500" cy="1397000"/>
          </a:xfrm>
          <a:prstGeom prst="rect">
            <a:avLst/>
          </a:prstGeom>
          <a:noFill/>
        </p:spPr>
        <p:txBody>
          <a:bodyPr wrap="none" lIns="0" rIns="0" tIns="0" bIns="0">
            <a:spAutoFit/>
          </a:bodyPr>
          <a:lstStyle/>
          <a:p>
            <a:pPr>
              <a:lnSpc>
                <a:spcPts val="2160"/>
              </a:lnSpc>
              <a:spcBef>
                <a:spcPts val="0"/>
              </a:spcBef>
              <a:spcAft>
                <a:spcPts val="0"/>
              </a:spcAft>
              <a:defRPr sz="1600" b="0">
                <a:solidFill>
                  <a:srgbClr val="173A42"/>
                </a:solidFill>
                <a:latin typeface="DejaVu Sans"/>
              </a:defRPr>
            </a:pPr>
            <a:r>
              <a:t>Treat 410 as ended; inspect 409 state</a:t>
            </a:r>
          </a:p>
        </p:txBody>
      </p:sp>
      <p:sp>
        <p:nvSpPr>
          <p:cNvPr id="21" name="Rounded Rectangle 20"/>
          <p:cNvSpPr/>
          <p:nvPr/>
        </p:nvSpPr>
        <p:spPr>
          <a:xfrm>
            <a:off x="6502400" y="3429000"/>
            <a:ext cx="63500" cy="63500"/>
          </a:xfrm>
          <a:prstGeom prst="roundRect">
            <a:avLst>
              <a:gd name="adj" fmla="val 15000"/>
            </a:avLst>
          </a:prstGeom>
          <a:solidFill>
            <a:srgbClr val="008C7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731000" y="3352800"/>
            <a:ext cx="4508500" cy="1397000"/>
          </a:xfrm>
          <a:prstGeom prst="rect">
            <a:avLst/>
          </a:prstGeom>
          <a:noFill/>
        </p:spPr>
        <p:txBody>
          <a:bodyPr wrap="none" lIns="0" rIns="0" tIns="0" bIns="0">
            <a:spAutoFit/>
          </a:bodyPr>
          <a:lstStyle/>
          <a:p>
            <a:pPr>
              <a:lnSpc>
                <a:spcPts val="2160"/>
              </a:lnSpc>
              <a:spcBef>
                <a:spcPts val="0"/>
              </a:spcBef>
              <a:spcAft>
                <a:spcPts val="0"/>
              </a:spcAft>
              <a:defRPr sz="1600" b="0">
                <a:solidFill>
                  <a:srgbClr val="173A42"/>
                </a:solidFill>
                <a:latin typeface="DejaVu Sans"/>
              </a:defRPr>
            </a:pPr>
            <a:r>
              <a:t>Retrieve the terminal summary</a:t>
            </a:r>
          </a:p>
        </p:txBody>
      </p:sp>
      <p:sp>
        <p:nvSpPr>
          <p:cNvPr id="23" name="Rounded Rectangle 22"/>
          <p:cNvSpPr/>
          <p:nvPr/>
        </p:nvSpPr>
        <p:spPr>
          <a:xfrm>
            <a:off x="6502400" y="3784600"/>
            <a:ext cx="63500" cy="63500"/>
          </a:xfrm>
          <a:prstGeom prst="roundRect">
            <a:avLst>
              <a:gd name="adj" fmla="val 15000"/>
            </a:avLst>
          </a:prstGeom>
          <a:solidFill>
            <a:srgbClr val="008C7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731000" y="3708400"/>
            <a:ext cx="4508500" cy="1397000"/>
          </a:xfrm>
          <a:prstGeom prst="rect">
            <a:avLst/>
          </a:prstGeom>
          <a:noFill/>
        </p:spPr>
        <p:txBody>
          <a:bodyPr wrap="none" lIns="0" rIns="0" tIns="0" bIns="0">
            <a:spAutoFit/>
          </a:bodyPr>
          <a:lstStyle/>
          <a:p>
            <a:pPr>
              <a:lnSpc>
                <a:spcPts val="2160"/>
              </a:lnSpc>
              <a:spcBef>
                <a:spcPts val="0"/>
              </a:spcBef>
              <a:spcAft>
                <a:spcPts val="0"/>
              </a:spcAft>
              <a:defRPr sz="1600" b="0">
                <a:solidFill>
                  <a:srgbClr val="173A42"/>
                </a:solidFill>
                <a:latin typeface="DejaVu Sans"/>
              </a:defRPr>
            </a:pPr>
            <a:r>
              <a:t>Preserve logs and the final public snapshot</a:t>
            </a:r>
          </a:p>
        </p:txBody>
      </p:sp>
      <p:sp>
        <p:nvSpPr>
          <p:cNvPr id="25" name="Rounded Rectangle 24"/>
          <p:cNvSpPr/>
          <p:nvPr/>
        </p:nvSpPr>
        <p:spPr>
          <a:xfrm>
            <a:off x="6502400" y="4140200"/>
            <a:ext cx="63500" cy="63500"/>
          </a:xfrm>
          <a:prstGeom prst="roundRect">
            <a:avLst>
              <a:gd name="adj" fmla="val 15000"/>
            </a:avLst>
          </a:prstGeom>
          <a:solidFill>
            <a:srgbClr val="008C7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731000" y="4064000"/>
            <a:ext cx="4508500" cy="1397000"/>
          </a:xfrm>
          <a:prstGeom prst="rect">
            <a:avLst/>
          </a:prstGeom>
          <a:noFill/>
        </p:spPr>
        <p:txBody>
          <a:bodyPr wrap="none" lIns="0" rIns="0" tIns="0" bIns="0">
            <a:spAutoFit/>
          </a:bodyPr>
          <a:lstStyle/>
          <a:p>
            <a:pPr>
              <a:lnSpc>
                <a:spcPts val="2160"/>
              </a:lnSpc>
              <a:spcBef>
                <a:spcPts val="0"/>
              </a:spcBef>
              <a:spcAft>
                <a:spcPts val="0"/>
              </a:spcAft>
              <a:defRPr sz="1600" b="0">
                <a:solidFill>
                  <a:srgbClr val="173A42"/>
                </a:solidFill>
                <a:latin typeface="DejaVu Sans"/>
              </a:defRPr>
            </a:pPr>
            <a:r>
              <a:t>Always attempt cleanup</a:t>
            </a:r>
          </a:p>
        </p:txBody>
      </p:sp>
      <p:sp>
        <p:nvSpPr>
          <p:cNvPr id="27" name="Rounded Rectangle 26"/>
          <p:cNvSpPr/>
          <p:nvPr/>
        </p:nvSpPr>
        <p:spPr>
          <a:xfrm>
            <a:off x="660400" y="5842000"/>
            <a:ext cx="10871200" cy="546100"/>
          </a:xfrm>
          <a:prstGeom prst="roundRect">
            <a:avLst>
              <a:gd name="adj" fmla="val 15000"/>
            </a:avLst>
          </a:prstGeom>
          <a:solidFill>
            <a:srgbClr val="E8F3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38200" y="5994400"/>
            <a:ext cx="10502900" cy="355600"/>
          </a:xfrm>
          <a:prstGeom prst="rect">
            <a:avLst/>
          </a:prstGeom>
          <a:noFill/>
        </p:spPr>
        <p:txBody>
          <a:bodyPr wrap="none" lIns="0" rIns="0" tIns="0" bIns="0">
            <a:spAutoFit/>
          </a:bodyPr>
          <a:lstStyle/>
          <a:p>
            <a:pPr>
              <a:lnSpc>
                <a:spcPts val="1380"/>
              </a:lnSpc>
              <a:spcBef>
                <a:spcPts val="0"/>
              </a:spcBef>
              <a:spcAft>
                <a:spcPts val="0"/>
              </a:spcAft>
              <a:defRPr sz="1200" b="1">
                <a:solidFill>
                  <a:srgbClr val="173A42"/>
                </a:solidFill>
                <a:latin typeface="DejaVu Sans"/>
              </a:defRPr>
            </a:pPr>
            <a:r>
              <a:t>Never retry an ambiguous purchase with a new Idempotency-Key.</a:t>
            </a:r>
          </a:p>
        </p:txBody>
      </p:sp>
      <p:cxnSp>
        <p:nvCxnSpPr>
          <p:cNvPr id="29" name="Connector 28"/>
          <p:cNvCxnSpPr/>
          <p:nvPr/>
        </p:nvCxnSpPr>
        <p:spPr>
          <a:xfrm>
            <a:off x="660400" y="6565900"/>
            <a:ext cx="10871200" cy="0"/>
          </a:xfrm>
          <a:prstGeom prst="line">
            <a:avLst/>
          </a:prstGeom>
          <a:ln w="8255">
            <a:solidFill>
              <a:srgbClr val="DCE6E2"/>
            </a:solidFill>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660400" y="6654800"/>
            <a:ext cx="8509000" cy="127000"/>
          </a:xfrm>
          <a:prstGeom prst="rect">
            <a:avLst/>
          </a:prstGeom>
          <a:noFill/>
        </p:spPr>
        <p:txBody>
          <a:bodyPr wrap="none" lIns="0" rIns="0" tIns="0" bIns="0">
            <a:spAutoFit/>
          </a:bodyPr>
          <a:lstStyle/>
          <a:p>
            <a:pPr>
              <a:lnSpc>
                <a:spcPts val="952"/>
              </a:lnSpc>
              <a:spcBef>
                <a:spcPts val="0"/>
              </a:spcBef>
              <a:spcAft>
                <a:spcPts val="0"/>
              </a:spcAft>
              <a:defRPr sz="750" b="0">
                <a:solidFill>
                  <a:srgbClr val="557079"/>
                </a:solidFill>
                <a:latin typeface="DejaVu Sans"/>
              </a:defRPr>
            </a:pPr>
            <a:r>
              <a:t>VENDING BENCH  /  PARTICIPANT BRIEFING</a:t>
            </a:r>
          </a:p>
        </p:txBody>
      </p:sp>
      <p:sp>
        <p:nvSpPr>
          <p:cNvPr id="31" name="TextBox 30"/>
          <p:cNvSpPr txBox="1"/>
          <p:nvPr/>
        </p:nvSpPr>
        <p:spPr>
          <a:xfrm>
            <a:off x="11188700" y="6642100"/>
            <a:ext cx="342900" cy="152400"/>
          </a:xfrm>
          <a:prstGeom prst="rect">
            <a:avLst/>
          </a:prstGeom>
          <a:noFill/>
        </p:spPr>
        <p:txBody>
          <a:bodyPr wrap="none" lIns="0" rIns="0" tIns="0" bIns="0">
            <a:spAutoFit/>
          </a:bodyPr>
          <a:lstStyle/>
          <a:p>
            <a:pPr>
              <a:lnSpc>
                <a:spcPts val="1143"/>
              </a:lnSpc>
              <a:spcBef>
                <a:spcPts val="0"/>
              </a:spcBef>
              <a:spcAft>
                <a:spcPts val="0"/>
              </a:spcAft>
              <a:defRPr sz="900" b="1">
                <a:solidFill>
                  <a:srgbClr val="008C7B"/>
                </a:solidFill>
                <a:latin typeface="DejaVu Sans"/>
              </a:defRPr>
            </a:pPr>
            <a: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5F8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60400" y="355600"/>
            <a:ext cx="10287000" cy="228600"/>
          </a:xfrm>
          <a:prstGeom prst="rect">
            <a:avLst/>
          </a:prstGeom>
          <a:noFill/>
        </p:spPr>
        <p:txBody>
          <a:bodyPr wrap="none" lIns="0" rIns="0" tIns="0" bIns="0">
            <a:spAutoFit/>
          </a:bodyPr>
          <a:lstStyle/>
          <a:p>
            <a:pPr>
              <a:lnSpc>
                <a:spcPts val="1270"/>
              </a:lnSpc>
              <a:spcBef>
                <a:spcPts val="0"/>
              </a:spcBef>
              <a:spcAft>
                <a:spcPts val="0"/>
              </a:spcAft>
              <a:defRPr sz="1000" b="1">
                <a:solidFill>
                  <a:srgbClr val="008C7B"/>
                </a:solidFill>
                <a:latin typeface="DejaVu Sans"/>
              </a:defRPr>
            </a:pPr>
            <a:r>
              <a:t>04 / HARNESS DESIGN</a:t>
            </a:r>
          </a:p>
        </p:txBody>
      </p:sp>
      <p:sp>
        <p:nvSpPr>
          <p:cNvPr id="4" name="TextBox 3"/>
          <p:cNvSpPr txBox="1"/>
          <p:nvPr/>
        </p:nvSpPr>
        <p:spPr>
          <a:xfrm>
            <a:off x="660400" y="825500"/>
            <a:ext cx="10871200" cy="1143000"/>
          </a:xfrm>
          <a:prstGeom prst="rect">
            <a:avLst/>
          </a:prstGeom>
          <a:noFill/>
        </p:spPr>
        <p:txBody>
          <a:bodyPr wrap="none" lIns="0" rIns="0" tIns="0" bIns="0">
            <a:spAutoFit/>
          </a:bodyPr>
          <a:lstStyle/>
          <a:p>
            <a:pPr>
              <a:lnSpc>
                <a:spcPts val="3596"/>
              </a:lnSpc>
              <a:spcBef>
                <a:spcPts val="0"/>
              </a:spcBef>
              <a:spcAft>
                <a:spcPts val="0"/>
              </a:spcAft>
              <a:defRPr sz="3100" b="1">
                <a:solidFill>
                  <a:srgbClr val="173A42"/>
                </a:solidFill>
                <a:latin typeface="DejaVu Sans"/>
              </a:defRPr>
            </a:pPr>
            <a:r>
              <a:t>Plan for three separate resource limits.</a:t>
            </a:r>
          </a:p>
        </p:txBody>
      </p:sp>
      <p:sp>
        <p:nvSpPr>
          <p:cNvPr id="5" name="Rounded Rectangle 4"/>
          <p:cNvSpPr/>
          <p:nvPr/>
        </p:nvSpPr>
        <p:spPr>
          <a:xfrm>
            <a:off x="660400" y="2247900"/>
            <a:ext cx="3488266" cy="15875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76300" y="2451100"/>
            <a:ext cx="3056466" cy="622300"/>
          </a:xfrm>
          <a:prstGeom prst="rect">
            <a:avLst/>
          </a:prstGeom>
          <a:noFill/>
        </p:spPr>
        <p:txBody>
          <a:bodyPr wrap="none" lIns="0" rIns="0" tIns="0" bIns="0">
            <a:spAutoFit/>
          </a:bodyPr>
          <a:lstStyle/>
          <a:p>
            <a:pPr>
              <a:lnSpc>
                <a:spcPts val="4064"/>
              </a:lnSpc>
              <a:spcBef>
                <a:spcPts val="0"/>
              </a:spcBef>
              <a:spcAft>
                <a:spcPts val="0"/>
              </a:spcAft>
              <a:defRPr sz="3200" b="1">
                <a:solidFill>
                  <a:srgbClr val="008C7B"/>
                </a:solidFill>
                <a:latin typeface="DejaVu Sans"/>
              </a:defRPr>
            </a:pPr>
            <a:r>
              <a:t>7,200 s</a:t>
            </a:r>
          </a:p>
        </p:txBody>
      </p:sp>
      <p:sp>
        <p:nvSpPr>
          <p:cNvPr id="7" name="TextBox 6"/>
          <p:cNvSpPr txBox="1"/>
          <p:nvPr/>
        </p:nvSpPr>
        <p:spPr>
          <a:xfrm>
            <a:off x="876300" y="3187700"/>
            <a:ext cx="3056466" cy="546100"/>
          </a:xfrm>
          <a:prstGeom prst="rect">
            <a:avLst/>
          </a:prstGeom>
          <a:noFill/>
        </p:spPr>
        <p:txBody>
          <a:bodyPr wrap="none" lIns="0" rIns="0" tIns="0" bIns="0">
            <a:spAutoFit/>
          </a:bodyPr>
          <a:lstStyle/>
          <a:p>
            <a:pPr>
              <a:lnSpc>
                <a:spcPts val="1714"/>
              </a:lnSpc>
              <a:spcBef>
                <a:spcPts val="0"/>
              </a:spcBef>
              <a:spcAft>
                <a:spcPts val="0"/>
              </a:spcAft>
              <a:defRPr sz="1350" b="0">
                <a:solidFill>
                  <a:srgbClr val="557079"/>
                </a:solidFill>
                <a:latin typeface="DejaVu Sans"/>
              </a:defRPr>
            </a:pPr>
            <a:r>
              <a:t>Default environment lifetime</a:t>
            </a:r>
          </a:p>
        </p:txBody>
      </p:sp>
      <p:sp>
        <p:nvSpPr>
          <p:cNvPr id="8" name="Rounded Rectangle 7"/>
          <p:cNvSpPr/>
          <p:nvPr/>
        </p:nvSpPr>
        <p:spPr>
          <a:xfrm>
            <a:off x="4351866" y="2247900"/>
            <a:ext cx="3488266" cy="15875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67766" y="2451100"/>
            <a:ext cx="3056466" cy="622300"/>
          </a:xfrm>
          <a:prstGeom prst="rect">
            <a:avLst/>
          </a:prstGeom>
          <a:noFill/>
        </p:spPr>
        <p:txBody>
          <a:bodyPr wrap="none" lIns="0" rIns="0" tIns="0" bIns="0">
            <a:spAutoFit/>
          </a:bodyPr>
          <a:lstStyle/>
          <a:p>
            <a:pPr>
              <a:lnSpc>
                <a:spcPts val="4064"/>
              </a:lnSpc>
              <a:spcBef>
                <a:spcPts val="0"/>
              </a:spcBef>
              <a:spcAft>
                <a:spcPts val="0"/>
              </a:spcAft>
              <a:defRPr sz="3200" b="1">
                <a:solidFill>
                  <a:srgbClr val="008C7B"/>
                </a:solidFill>
                <a:latin typeface="DejaVu Sans"/>
              </a:defRPr>
            </a:pPr>
            <a:r>
              <a:t>100,000</a:t>
            </a:r>
          </a:p>
        </p:txBody>
      </p:sp>
      <p:sp>
        <p:nvSpPr>
          <p:cNvPr id="10" name="TextBox 9"/>
          <p:cNvSpPr txBox="1"/>
          <p:nvPr/>
        </p:nvSpPr>
        <p:spPr>
          <a:xfrm>
            <a:off x="4567766" y="3187700"/>
            <a:ext cx="3056466" cy="546100"/>
          </a:xfrm>
          <a:prstGeom prst="rect">
            <a:avLst/>
          </a:prstGeom>
          <a:noFill/>
        </p:spPr>
        <p:txBody>
          <a:bodyPr wrap="none" lIns="0" rIns="0" tIns="0" bIns="0">
            <a:spAutoFit/>
          </a:bodyPr>
          <a:lstStyle/>
          <a:p>
            <a:pPr>
              <a:lnSpc>
                <a:spcPts val="1714"/>
              </a:lnSpc>
              <a:spcBef>
                <a:spcPts val="0"/>
              </a:spcBef>
              <a:spcAft>
                <a:spcPts val="0"/>
              </a:spcAft>
              <a:defRPr sz="1350" b="0">
                <a:solidFill>
                  <a:srgbClr val="557079"/>
                </a:solidFill>
                <a:latin typeface="DejaVu Sans"/>
              </a:defRPr>
            </a:pPr>
            <a:r>
              <a:t>Default input + output token</a:t>
            </a:r>
          </a:p>
          <a:p>
            <a:pPr>
              <a:lnSpc>
                <a:spcPts val="1714"/>
              </a:lnSpc>
              <a:spcBef>
                <a:spcPts val="0"/>
              </a:spcBef>
              <a:spcAft>
                <a:spcPts val="0"/>
              </a:spcAft>
              <a:defRPr sz="1350" b="0">
                <a:solidFill>
                  <a:srgbClr val="557079"/>
                </a:solidFill>
                <a:latin typeface="DejaVu Sans"/>
              </a:defRPr>
            </a:pPr>
            <a:r>
              <a:t>budget</a:t>
            </a:r>
          </a:p>
        </p:txBody>
      </p:sp>
      <p:sp>
        <p:nvSpPr>
          <p:cNvPr id="11" name="Rounded Rectangle 10"/>
          <p:cNvSpPr/>
          <p:nvPr/>
        </p:nvSpPr>
        <p:spPr>
          <a:xfrm>
            <a:off x="8043333" y="2247900"/>
            <a:ext cx="3488266" cy="15875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59233" y="2451100"/>
            <a:ext cx="3056466" cy="622300"/>
          </a:xfrm>
          <a:prstGeom prst="rect">
            <a:avLst/>
          </a:prstGeom>
          <a:noFill/>
        </p:spPr>
        <p:txBody>
          <a:bodyPr wrap="none" lIns="0" rIns="0" tIns="0" bIns="0">
            <a:spAutoFit/>
          </a:bodyPr>
          <a:lstStyle/>
          <a:p>
            <a:pPr>
              <a:lnSpc>
                <a:spcPts val="4064"/>
              </a:lnSpc>
              <a:spcBef>
                <a:spcPts val="0"/>
              </a:spcBef>
              <a:spcAft>
                <a:spcPts val="0"/>
              </a:spcAft>
              <a:defRPr sz="3200" b="1">
                <a:solidFill>
                  <a:srgbClr val="008C7B"/>
                </a:solidFill>
                <a:latin typeface="DejaVu Sans"/>
              </a:defRPr>
            </a:pPr>
            <a:r>
              <a:t>1,000</a:t>
            </a:r>
          </a:p>
        </p:txBody>
      </p:sp>
      <p:sp>
        <p:nvSpPr>
          <p:cNvPr id="13" name="TextBox 12"/>
          <p:cNvSpPr txBox="1"/>
          <p:nvPr/>
        </p:nvSpPr>
        <p:spPr>
          <a:xfrm>
            <a:off x="8259233" y="3187700"/>
            <a:ext cx="3056466" cy="546100"/>
          </a:xfrm>
          <a:prstGeom prst="rect">
            <a:avLst/>
          </a:prstGeom>
          <a:noFill/>
        </p:spPr>
        <p:txBody>
          <a:bodyPr wrap="none" lIns="0" rIns="0" tIns="0" bIns="0">
            <a:spAutoFit/>
          </a:bodyPr>
          <a:lstStyle/>
          <a:p>
            <a:pPr>
              <a:lnSpc>
                <a:spcPts val="1714"/>
              </a:lnSpc>
              <a:spcBef>
                <a:spcPts val="0"/>
              </a:spcBef>
              <a:spcAft>
                <a:spcPts val="0"/>
              </a:spcAft>
              <a:defRPr sz="1350" b="0">
                <a:solidFill>
                  <a:srgbClr val="557079"/>
                </a:solidFill>
                <a:latin typeface="DejaVu Sans"/>
              </a:defRPr>
            </a:pPr>
            <a:r>
              <a:t>Default policy-call ceiling</a:t>
            </a:r>
          </a:p>
        </p:txBody>
      </p:sp>
      <p:sp>
        <p:nvSpPr>
          <p:cNvPr id="14" name="Rounded Rectangle 13"/>
          <p:cNvSpPr/>
          <p:nvPr/>
        </p:nvSpPr>
        <p:spPr>
          <a:xfrm>
            <a:off x="736600" y="4203700"/>
            <a:ext cx="63500" cy="63500"/>
          </a:xfrm>
          <a:prstGeom prst="roundRect">
            <a:avLst>
              <a:gd name="adj" fmla="val 15000"/>
            </a:avLst>
          </a:prstGeom>
          <a:solidFill>
            <a:srgbClr val="008C7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65200" y="4127500"/>
            <a:ext cx="10464800" cy="1397000"/>
          </a:xfrm>
          <a:prstGeom prst="rect">
            <a:avLst/>
          </a:prstGeom>
          <a:noFill/>
        </p:spPr>
        <p:txBody>
          <a:bodyPr wrap="none" lIns="0" rIns="0" tIns="0" bIns="0">
            <a:spAutoFit/>
          </a:bodyPr>
          <a:lstStyle/>
          <a:p>
            <a:pPr>
              <a:lnSpc>
                <a:spcPts val="2295"/>
              </a:lnSpc>
              <a:spcBef>
                <a:spcPts val="0"/>
              </a:spcBef>
              <a:spcAft>
                <a:spcPts val="0"/>
              </a:spcAft>
              <a:defRPr sz="1700" b="0">
                <a:solidFill>
                  <a:srgbClr val="173A42"/>
                </a:solidFill>
                <a:latin typeface="DejaVu Sans"/>
              </a:defRPr>
            </a:pPr>
            <a:r>
              <a:t>Reserve input and maximum output tokens before a model call.</a:t>
            </a:r>
          </a:p>
        </p:txBody>
      </p:sp>
      <p:sp>
        <p:nvSpPr>
          <p:cNvPr id="16" name="Rounded Rectangle 15"/>
          <p:cNvSpPr/>
          <p:nvPr/>
        </p:nvSpPr>
        <p:spPr>
          <a:xfrm>
            <a:off x="736600" y="4648200"/>
            <a:ext cx="63500" cy="63500"/>
          </a:xfrm>
          <a:prstGeom prst="roundRect">
            <a:avLst>
              <a:gd name="adj" fmla="val 15000"/>
            </a:avLst>
          </a:prstGeom>
          <a:solidFill>
            <a:srgbClr val="008C7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65200" y="4572000"/>
            <a:ext cx="10464800" cy="1397000"/>
          </a:xfrm>
          <a:prstGeom prst="rect">
            <a:avLst/>
          </a:prstGeom>
          <a:noFill/>
        </p:spPr>
        <p:txBody>
          <a:bodyPr wrap="none" lIns="0" rIns="0" tIns="0" bIns="0">
            <a:spAutoFit/>
          </a:bodyPr>
          <a:lstStyle/>
          <a:p>
            <a:pPr>
              <a:lnSpc>
                <a:spcPts val="2295"/>
              </a:lnSpc>
              <a:spcBef>
                <a:spcPts val="0"/>
              </a:spcBef>
              <a:spcAft>
                <a:spcPts val="0"/>
              </a:spcAft>
              <a:defRPr sz="1700" b="0">
                <a:solidFill>
                  <a:srgbClr val="173A42"/>
                </a:solidFill>
                <a:latin typeface="DejaVu Sans"/>
              </a:defRPr>
            </a:pPr>
            <a:r>
              <a:t>History, tool schemas, and summaries also cost tokens.</a:t>
            </a:r>
          </a:p>
        </p:txBody>
      </p:sp>
      <p:sp>
        <p:nvSpPr>
          <p:cNvPr id="18" name="Rounded Rectangle 17"/>
          <p:cNvSpPr/>
          <p:nvPr/>
        </p:nvSpPr>
        <p:spPr>
          <a:xfrm>
            <a:off x="736600" y="5092700"/>
            <a:ext cx="63500" cy="63500"/>
          </a:xfrm>
          <a:prstGeom prst="roundRect">
            <a:avLst>
              <a:gd name="adj" fmla="val 15000"/>
            </a:avLst>
          </a:prstGeom>
          <a:solidFill>
            <a:srgbClr val="008C7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65200" y="5016500"/>
            <a:ext cx="10464800" cy="1397000"/>
          </a:xfrm>
          <a:prstGeom prst="rect">
            <a:avLst/>
          </a:prstGeom>
          <a:noFill/>
        </p:spPr>
        <p:txBody>
          <a:bodyPr wrap="none" lIns="0" rIns="0" tIns="0" bIns="0">
            <a:spAutoFit/>
          </a:bodyPr>
          <a:lstStyle/>
          <a:p>
            <a:pPr>
              <a:lnSpc>
                <a:spcPts val="2295"/>
              </a:lnSpc>
              <a:spcBef>
                <a:spcPts val="0"/>
              </a:spcBef>
              <a:spcAft>
                <a:spcPts val="0"/>
              </a:spcAft>
              <a:defRPr sz="1700" b="0">
                <a:solidFill>
                  <a:srgbClr val="173A42"/>
                </a:solidFill>
                <a:latin typeface="DejaVu Sans"/>
              </a:defRPr>
            </a:pPr>
            <a:r>
              <a:t>Stopping on a harness budget is a truncated run, not natural completion.</a:t>
            </a:r>
          </a:p>
        </p:txBody>
      </p:sp>
      <p:sp>
        <p:nvSpPr>
          <p:cNvPr id="20" name="Rounded Rectangle 19"/>
          <p:cNvSpPr/>
          <p:nvPr/>
        </p:nvSpPr>
        <p:spPr>
          <a:xfrm>
            <a:off x="660400" y="5842000"/>
            <a:ext cx="10871200" cy="546100"/>
          </a:xfrm>
          <a:prstGeom prst="roundRect">
            <a:avLst>
              <a:gd name="adj" fmla="val 15000"/>
            </a:avLst>
          </a:prstGeom>
          <a:solidFill>
            <a:srgbClr val="E8F3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38200" y="5994400"/>
            <a:ext cx="10502900" cy="355600"/>
          </a:xfrm>
          <a:prstGeom prst="rect">
            <a:avLst/>
          </a:prstGeom>
          <a:noFill/>
        </p:spPr>
        <p:txBody>
          <a:bodyPr wrap="none" lIns="0" rIns="0" tIns="0" bIns="0">
            <a:spAutoFit/>
          </a:bodyPr>
          <a:lstStyle/>
          <a:p>
            <a:pPr>
              <a:lnSpc>
                <a:spcPts val="1380"/>
              </a:lnSpc>
              <a:spcBef>
                <a:spcPts val="0"/>
              </a:spcBef>
              <a:spcAft>
                <a:spcPts val="0"/>
              </a:spcAft>
              <a:defRPr sz="1200" b="1">
                <a:solidFill>
                  <a:srgbClr val="173A42"/>
                </a:solidFill>
                <a:latin typeface="DejaVu Sans"/>
              </a:defRPr>
            </a:pPr>
            <a:r>
              <a:t>Current starter defaults. Official model, compute, and budget rules will be announced.</a:t>
            </a:r>
          </a:p>
        </p:txBody>
      </p:sp>
      <p:cxnSp>
        <p:nvCxnSpPr>
          <p:cNvPr id="22" name="Connector 21"/>
          <p:cNvCxnSpPr/>
          <p:nvPr/>
        </p:nvCxnSpPr>
        <p:spPr>
          <a:xfrm>
            <a:off x="660400" y="6565900"/>
            <a:ext cx="10871200" cy="0"/>
          </a:xfrm>
          <a:prstGeom prst="line">
            <a:avLst/>
          </a:prstGeom>
          <a:ln w="8255">
            <a:solidFill>
              <a:srgbClr val="DCE6E2"/>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660400" y="6654800"/>
            <a:ext cx="8509000" cy="127000"/>
          </a:xfrm>
          <a:prstGeom prst="rect">
            <a:avLst/>
          </a:prstGeom>
          <a:noFill/>
        </p:spPr>
        <p:txBody>
          <a:bodyPr wrap="none" lIns="0" rIns="0" tIns="0" bIns="0">
            <a:spAutoFit/>
          </a:bodyPr>
          <a:lstStyle/>
          <a:p>
            <a:pPr>
              <a:lnSpc>
                <a:spcPts val="952"/>
              </a:lnSpc>
              <a:spcBef>
                <a:spcPts val="0"/>
              </a:spcBef>
              <a:spcAft>
                <a:spcPts val="0"/>
              </a:spcAft>
              <a:defRPr sz="750" b="0">
                <a:solidFill>
                  <a:srgbClr val="557079"/>
                </a:solidFill>
                <a:latin typeface="DejaVu Sans"/>
              </a:defRPr>
            </a:pPr>
            <a:r>
              <a:t>VENDING BENCH  /  PARTICIPANT BRIEFING</a:t>
            </a:r>
          </a:p>
        </p:txBody>
      </p:sp>
      <p:sp>
        <p:nvSpPr>
          <p:cNvPr id="24" name="TextBox 23"/>
          <p:cNvSpPr txBox="1"/>
          <p:nvPr/>
        </p:nvSpPr>
        <p:spPr>
          <a:xfrm>
            <a:off x="11188700" y="6642100"/>
            <a:ext cx="342900" cy="152400"/>
          </a:xfrm>
          <a:prstGeom prst="rect">
            <a:avLst/>
          </a:prstGeom>
          <a:noFill/>
        </p:spPr>
        <p:txBody>
          <a:bodyPr wrap="none" lIns="0" rIns="0" tIns="0" bIns="0">
            <a:spAutoFit/>
          </a:bodyPr>
          <a:lstStyle/>
          <a:p>
            <a:pPr>
              <a:lnSpc>
                <a:spcPts val="1143"/>
              </a:lnSpc>
              <a:spcBef>
                <a:spcPts val="0"/>
              </a:spcBef>
              <a:spcAft>
                <a:spcPts val="0"/>
              </a:spcAft>
              <a:defRPr sz="900" b="1">
                <a:solidFill>
                  <a:srgbClr val="008C7B"/>
                </a:solidFill>
                <a:latin typeface="DejaVu Sans"/>
              </a:defRPr>
            </a:pPr>
            <a: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5F8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60400" y="355600"/>
            <a:ext cx="10287000" cy="228600"/>
          </a:xfrm>
          <a:prstGeom prst="rect">
            <a:avLst/>
          </a:prstGeom>
          <a:noFill/>
        </p:spPr>
        <p:txBody>
          <a:bodyPr wrap="none" lIns="0" rIns="0" tIns="0" bIns="0">
            <a:spAutoFit/>
          </a:bodyPr>
          <a:lstStyle/>
          <a:p>
            <a:pPr>
              <a:lnSpc>
                <a:spcPts val="1270"/>
              </a:lnSpc>
              <a:spcBef>
                <a:spcPts val="0"/>
              </a:spcBef>
              <a:spcAft>
                <a:spcPts val="0"/>
              </a:spcAft>
              <a:defRPr sz="1000" b="1">
                <a:solidFill>
                  <a:srgbClr val="008C7B"/>
                </a:solidFill>
                <a:latin typeface="DejaVu Sans"/>
              </a:defRPr>
            </a:pPr>
            <a:r>
              <a:t>05 / DEVELOPMENT AND REVIEW</a:t>
            </a:r>
          </a:p>
        </p:txBody>
      </p:sp>
      <p:sp>
        <p:nvSpPr>
          <p:cNvPr id="4" name="TextBox 3"/>
          <p:cNvSpPr txBox="1"/>
          <p:nvPr/>
        </p:nvSpPr>
        <p:spPr>
          <a:xfrm>
            <a:off x="660400" y="825500"/>
            <a:ext cx="10871200" cy="1143000"/>
          </a:xfrm>
          <a:prstGeom prst="rect">
            <a:avLst/>
          </a:prstGeom>
          <a:noFill/>
        </p:spPr>
        <p:txBody>
          <a:bodyPr wrap="none" lIns="0" rIns="0" tIns="0" bIns="0">
            <a:spAutoFit/>
          </a:bodyPr>
          <a:lstStyle/>
          <a:p>
            <a:pPr>
              <a:lnSpc>
                <a:spcPts val="3596"/>
              </a:lnSpc>
              <a:spcBef>
                <a:spcPts val="0"/>
              </a:spcBef>
              <a:spcAft>
                <a:spcPts val="0"/>
              </a:spcAft>
              <a:defRPr sz="3100" b="1">
                <a:solidFill>
                  <a:srgbClr val="173A42"/>
                </a:solidFill>
                <a:latin typeface="DejaVu Sans"/>
              </a:defRPr>
            </a:pPr>
            <a:r>
              <a:t>Measure tokens where decisions happen.</a:t>
            </a:r>
          </a:p>
        </p:txBody>
      </p:sp>
      <p:sp>
        <p:nvSpPr>
          <p:cNvPr id="5" name="Rounded Rectangle 4"/>
          <p:cNvSpPr/>
          <p:nvPr/>
        </p:nvSpPr>
        <p:spPr>
          <a:xfrm>
            <a:off x="660400" y="2120900"/>
            <a:ext cx="10871200" cy="431800"/>
          </a:xfrm>
          <a:prstGeom prst="roundRect">
            <a:avLst>
              <a:gd name="adj" fmla="val 14705"/>
            </a:avLst>
          </a:prstGeom>
          <a:solidFill>
            <a:srgbClr val="173A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5500" y="2247900"/>
            <a:ext cx="2159000" cy="228600"/>
          </a:xfrm>
          <a:prstGeom prst="rect">
            <a:avLst/>
          </a:prstGeom>
          <a:noFill/>
        </p:spPr>
        <p:txBody>
          <a:bodyPr wrap="none" lIns="0" rIns="0" tIns="0" bIns="0">
            <a:spAutoFit/>
          </a:bodyPr>
          <a:lstStyle/>
          <a:p>
            <a:pPr>
              <a:lnSpc>
                <a:spcPts val="1524"/>
              </a:lnSpc>
              <a:spcBef>
                <a:spcPts val="0"/>
              </a:spcBef>
              <a:spcAft>
                <a:spcPts val="0"/>
              </a:spcAft>
              <a:defRPr sz="1200" b="1">
                <a:solidFill>
                  <a:srgbClr val="FFFFFF"/>
                </a:solidFill>
                <a:latin typeface="DejaVu Sans"/>
              </a:defRPr>
            </a:pPr>
            <a:r>
              <a:t>VIEW</a:t>
            </a:r>
          </a:p>
        </p:txBody>
      </p:sp>
      <p:sp>
        <p:nvSpPr>
          <p:cNvPr id="7" name="TextBox 6"/>
          <p:cNvSpPr txBox="1"/>
          <p:nvPr/>
        </p:nvSpPr>
        <p:spPr>
          <a:xfrm>
            <a:off x="3302000" y="2247900"/>
            <a:ext cx="3746500" cy="228600"/>
          </a:xfrm>
          <a:prstGeom prst="rect">
            <a:avLst/>
          </a:prstGeom>
          <a:noFill/>
        </p:spPr>
        <p:txBody>
          <a:bodyPr wrap="none" lIns="0" rIns="0" tIns="0" bIns="0">
            <a:spAutoFit/>
          </a:bodyPr>
          <a:lstStyle/>
          <a:p>
            <a:pPr>
              <a:lnSpc>
                <a:spcPts val="1524"/>
              </a:lnSpc>
              <a:spcBef>
                <a:spcPts val="0"/>
              </a:spcBef>
              <a:spcAft>
                <a:spcPts val="0"/>
              </a:spcAft>
              <a:defRPr sz="1200" b="1">
                <a:solidFill>
                  <a:srgbClr val="FFFFFF"/>
                </a:solidFill>
                <a:latin typeface="DejaVu Sans"/>
              </a:defRPr>
            </a:pPr>
            <a:r>
              <a:t>WHAT IS RECORDED</a:t>
            </a:r>
          </a:p>
        </p:txBody>
      </p:sp>
      <p:sp>
        <p:nvSpPr>
          <p:cNvPr id="8" name="TextBox 7"/>
          <p:cNvSpPr txBox="1"/>
          <p:nvPr/>
        </p:nvSpPr>
        <p:spPr>
          <a:xfrm>
            <a:off x="7366000" y="2247900"/>
            <a:ext cx="4013200" cy="228600"/>
          </a:xfrm>
          <a:prstGeom prst="rect">
            <a:avLst/>
          </a:prstGeom>
          <a:noFill/>
        </p:spPr>
        <p:txBody>
          <a:bodyPr wrap="none" lIns="0" rIns="0" tIns="0" bIns="0">
            <a:spAutoFit/>
          </a:bodyPr>
          <a:lstStyle/>
          <a:p>
            <a:pPr>
              <a:lnSpc>
                <a:spcPts val="1524"/>
              </a:lnSpc>
              <a:spcBef>
                <a:spcPts val="0"/>
              </a:spcBef>
              <a:spcAft>
                <a:spcPts val="0"/>
              </a:spcAft>
              <a:defRPr sz="1200" b="1">
                <a:solidFill>
                  <a:srgbClr val="FFFFFF"/>
                </a:solidFill>
                <a:latin typeface="DejaVu Sans"/>
              </a:defRPr>
            </a:pPr>
            <a:r>
              <a:t>HOW TO INTERPRET IT</a:t>
            </a:r>
          </a:p>
        </p:txBody>
      </p:sp>
      <p:sp>
        <p:nvSpPr>
          <p:cNvPr id="9" name="Rectangle 8"/>
          <p:cNvSpPr/>
          <p:nvPr/>
        </p:nvSpPr>
        <p:spPr>
          <a:xfrm>
            <a:off x="660400" y="2552700"/>
            <a:ext cx="10871200" cy="6146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5500" y="2705100"/>
            <a:ext cx="2159000" cy="436880"/>
          </a:xfrm>
          <a:prstGeom prst="rect">
            <a:avLst/>
          </a:prstGeom>
          <a:noFill/>
        </p:spPr>
        <p:txBody>
          <a:bodyPr wrap="none" lIns="0" rIns="0" tIns="0" bIns="0">
            <a:spAutoFit/>
          </a:bodyPr>
          <a:lstStyle/>
          <a:p>
            <a:pPr>
              <a:lnSpc>
                <a:spcPts val="1844"/>
              </a:lnSpc>
              <a:spcBef>
                <a:spcPts val="0"/>
              </a:spcBef>
              <a:spcAft>
                <a:spcPts val="0"/>
              </a:spcAft>
              <a:defRPr sz="1550" b="1">
                <a:solidFill>
                  <a:srgbClr val="008C7B"/>
                </a:solidFill>
                <a:latin typeface="DejaVu Sans"/>
              </a:defRPr>
            </a:pPr>
            <a:r>
              <a:t>Per action</a:t>
            </a:r>
          </a:p>
        </p:txBody>
      </p:sp>
      <p:sp>
        <p:nvSpPr>
          <p:cNvPr id="11" name="TextBox 10"/>
          <p:cNvSpPr txBox="1"/>
          <p:nvPr/>
        </p:nvSpPr>
        <p:spPr>
          <a:xfrm>
            <a:off x="3302000" y="2705100"/>
            <a:ext cx="3746500" cy="436880"/>
          </a:xfrm>
          <a:prstGeom prst="rect">
            <a:avLst/>
          </a:prstGeom>
          <a:noFill/>
        </p:spPr>
        <p:txBody>
          <a:bodyPr wrap="none" lIns="0" rIns="0" tIns="0" bIns="0">
            <a:spAutoFit/>
          </a:bodyPr>
          <a:lstStyle/>
          <a:p>
            <a:pPr>
              <a:lnSpc>
                <a:spcPts val="1844"/>
              </a:lnSpc>
              <a:spcBef>
                <a:spcPts val="0"/>
              </a:spcBef>
              <a:spcAft>
                <a:spcPts val="0"/>
              </a:spcAft>
              <a:defRPr sz="1550" b="0">
                <a:solidFill>
                  <a:srgbClr val="173A42"/>
                </a:solidFill>
                <a:latin typeface="DejaVu Sans"/>
              </a:defRPr>
            </a:pPr>
            <a:r>
              <a:t>Input, output, and total tokens</a:t>
            </a:r>
          </a:p>
        </p:txBody>
      </p:sp>
      <p:sp>
        <p:nvSpPr>
          <p:cNvPr id="12" name="TextBox 11"/>
          <p:cNvSpPr txBox="1"/>
          <p:nvPr/>
        </p:nvSpPr>
        <p:spPr>
          <a:xfrm>
            <a:off x="7366000" y="2705100"/>
            <a:ext cx="4013200" cy="436880"/>
          </a:xfrm>
          <a:prstGeom prst="rect">
            <a:avLst/>
          </a:prstGeom>
          <a:noFill/>
        </p:spPr>
        <p:txBody>
          <a:bodyPr wrap="none" lIns="0" rIns="0" tIns="0" bIns="0">
            <a:spAutoFit/>
          </a:bodyPr>
          <a:lstStyle/>
          <a:p>
            <a:pPr>
              <a:lnSpc>
                <a:spcPts val="1844"/>
              </a:lnSpc>
              <a:spcBef>
                <a:spcPts val="0"/>
              </a:spcBef>
              <a:spcAft>
                <a:spcPts val="0"/>
              </a:spcAft>
              <a:defRPr sz="1550" b="0">
                <a:solidFill>
                  <a:srgbClr val="173A42"/>
                </a:solidFill>
                <a:latin typeface="DejaVu Sans"/>
              </a:defRPr>
            </a:pPr>
            <a:r>
              <a:t>Full provider-call usage, including</a:t>
            </a:r>
          </a:p>
          <a:p>
            <a:pPr>
              <a:lnSpc>
                <a:spcPts val="1844"/>
              </a:lnSpc>
              <a:spcBef>
                <a:spcPts val="0"/>
              </a:spcBef>
              <a:spcAft>
                <a:spcPts val="0"/>
              </a:spcAft>
              <a:defRPr sz="1550" b="0">
                <a:solidFill>
                  <a:srgbClr val="173A42"/>
                </a:solidFill>
                <a:latin typeface="DejaVu Sans"/>
              </a:defRPr>
            </a:pPr>
            <a:r>
              <a:t>context</a:t>
            </a:r>
          </a:p>
        </p:txBody>
      </p:sp>
      <p:sp>
        <p:nvSpPr>
          <p:cNvPr id="13" name="Rectangle 12"/>
          <p:cNvSpPr/>
          <p:nvPr/>
        </p:nvSpPr>
        <p:spPr>
          <a:xfrm>
            <a:off x="660400" y="3167380"/>
            <a:ext cx="10871200" cy="614680"/>
          </a:xfrm>
          <a:prstGeom prst="rect">
            <a:avLst/>
          </a:prstGeom>
          <a:solidFill>
            <a:srgbClr val="EDF3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25500" y="3319779"/>
            <a:ext cx="2159000" cy="436880"/>
          </a:xfrm>
          <a:prstGeom prst="rect">
            <a:avLst/>
          </a:prstGeom>
          <a:noFill/>
        </p:spPr>
        <p:txBody>
          <a:bodyPr wrap="none" lIns="0" rIns="0" tIns="0" bIns="0">
            <a:spAutoFit/>
          </a:bodyPr>
          <a:lstStyle/>
          <a:p>
            <a:pPr>
              <a:lnSpc>
                <a:spcPts val="1844"/>
              </a:lnSpc>
              <a:spcBef>
                <a:spcPts val="0"/>
              </a:spcBef>
              <a:spcAft>
                <a:spcPts val="0"/>
              </a:spcAft>
              <a:defRPr sz="1550" b="1">
                <a:solidFill>
                  <a:srgbClr val="008C7B"/>
                </a:solidFill>
                <a:latin typeface="DejaVu Sans"/>
              </a:defRPr>
            </a:pPr>
            <a:r>
              <a:t>Per simulated day</a:t>
            </a:r>
          </a:p>
        </p:txBody>
      </p:sp>
      <p:sp>
        <p:nvSpPr>
          <p:cNvPr id="15" name="TextBox 14"/>
          <p:cNvSpPr txBox="1"/>
          <p:nvPr/>
        </p:nvSpPr>
        <p:spPr>
          <a:xfrm>
            <a:off x="3302000" y="3319779"/>
            <a:ext cx="3746500" cy="436880"/>
          </a:xfrm>
          <a:prstGeom prst="rect">
            <a:avLst/>
          </a:prstGeom>
          <a:noFill/>
        </p:spPr>
        <p:txBody>
          <a:bodyPr wrap="none" lIns="0" rIns="0" tIns="0" bIns="0">
            <a:spAutoFit/>
          </a:bodyPr>
          <a:lstStyle/>
          <a:p>
            <a:pPr>
              <a:lnSpc>
                <a:spcPts val="1844"/>
              </a:lnSpc>
              <a:spcBef>
                <a:spcPts val="0"/>
              </a:spcBef>
              <a:spcAft>
                <a:spcPts val="0"/>
              </a:spcAft>
              <a:defRPr sz="1550" b="0">
                <a:solidFill>
                  <a:srgbClr val="173A42"/>
                </a:solidFill>
                <a:latin typeface="DejaVu Sans"/>
              </a:defRPr>
            </a:pPr>
            <a:r>
              <a:t>Tokens and model-call count</a:t>
            </a:r>
          </a:p>
        </p:txBody>
      </p:sp>
      <p:sp>
        <p:nvSpPr>
          <p:cNvPr id="16" name="TextBox 15"/>
          <p:cNvSpPr txBox="1"/>
          <p:nvPr/>
        </p:nvSpPr>
        <p:spPr>
          <a:xfrm>
            <a:off x="7366000" y="3319779"/>
            <a:ext cx="4013200" cy="436880"/>
          </a:xfrm>
          <a:prstGeom prst="rect">
            <a:avLst/>
          </a:prstGeom>
          <a:noFill/>
        </p:spPr>
        <p:txBody>
          <a:bodyPr wrap="none" lIns="0" rIns="0" tIns="0" bIns="0">
            <a:spAutoFit/>
          </a:bodyPr>
          <a:lstStyle/>
          <a:p>
            <a:pPr>
              <a:lnSpc>
                <a:spcPts val="1844"/>
              </a:lnSpc>
              <a:spcBef>
                <a:spcPts val="0"/>
              </a:spcBef>
              <a:spcAft>
                <a:spcPts val="0"/>
              </a:spcAft>
              <a:defRPr sz="1550" b="0">
                <a:solidFill>
                  <a:srgbClr val="173A42"/>
                </a:solidFill>
                <a:latin typeface="DejaVu Sans"/>
              </a:defRPr>
            </a:pPr>
            <a:r>
              <a:t>Assigned to the model decision's day</a:t>
            </a:r>
          </a:p>
        </p:txBody>
      </p:sp>
      <p:sp>
        <p:nvSpPr>
          <p:cNvPr id="17" name="Rectangle 16"/>
          <p:cNvSpPr/>
          <p:nvPr/>
        </p:nvSpPr>
        <p:spPr>
          <a:xfrm>
            <a:off x="660400" y="3782060"/>
            <a:ext cx="10871200" cy="6146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5500" y="3934460"/>
            <a:ext cx="2159000" cy="436880"/>
          </a:xfrm>
          <a:prstGeom prst="rect">
            <a:avLst/>
          </a:prstGeom>
          <a:noFill/>
        </p:spPr>
        <p:txBody>
          <a:bodyPr wrap="none" lIns="0" rIns="0" tIns="0" bIns="0">
            <a:spAutoFit/>
          </a:bodyPr>
          <a:lstStyle/>
          <a:p>
            <a:pPr>
              <a:lnSpc>
                <a:spcPts val="1844"/>
              </a:lnSpc>
              <a:spcBef>
                <a:spcPts val="0"/>
              </a:spcBef>
              <a:spcAft>
                <a:spcPts val="0"/>
              </a:spcAft>
              <a:defRPr sz="1550" b="1">
                <a:solidFill>
                  <a:srgbClr val="008C7B"/>
                </a:solidFill>
                <a:latin typeface="DejaVu Sans"/>
              </a:defRPr>
            </a:pPr>
            <a:r>
              <a:t>Shared response</a:t>
            </a:r>
          </a:p>
        </p:txBody>
      </p:sp>
      <p:sp>
        <p:nvSpPr>
          <p:cNvPr id="19" name="TextBox 18"/>
          <p:cNvSpPr txBox="1"/>
          <p:nvPr/>
        </p:nvSpPr>
        <p:spPr>
          <a:xfrm>
            <a:off x="3302000" y="3934460"/>
            <a:ext cx="3746500" cy="436880"/>
          </a:xfrm>
          <a:prstGeom prst="rect">
            <a:avLst/>
          </a:prstGeom>
          <a:noFill/>
        </p:spPr>
        <p:txBody>
          <a:bodyPr wrap="none" lIns="0" rIns="0" tIns="0" bIns="0">
            <a:spAutoFit/>
          </a:bodyPr>
          <a:lstStyle/>
          <a:p>
            <a:pPr>
              <a:lnSpc>
                <a:spcPts val="1844"/>
              </a:lnSpc>
              <a:spcBef>
                <a:spcPts val="0"/>
              </a:spcBef>
              <a:spcAft>
                <a:spcPts val="0"/>
              </a:spcAft>
              <a:defRPr sz="1550" b="0">
                <a:solidFill>
                  <a:srgbClr val="173A42"/>
                </a:solidFill>
                <a:latin typeface="DejaVu Sans"/>
              </a:defRPr>
            </a:pPr>
            <a:r>
              <a:t>Linked model-call ID</a:t>
            </a:r>
          </a:p>
        </p:txBody>
      </p:sp>
      <p:sp>
        <p:nvSpPr>
          <p:cNvPr id="20" name="TextBox 19"/>
          <p:cNvSpPr txBox="1"/>
          <p:nvPr/>
        </p:nvSpPr>
        <p:spPr>
          <a:xfrm>
            <a:off x="7366000" y="3934460"/>
            <a:ext cx="4013200" cy="436880"/>
          </a:xfrm>
          <a:prstGeom prst="rect">
            <a:avLst/>
          </a:prstGeom>
          <a:noFill/>
        </p:spPr>
        <p:txBody>
          <a:bodyPr wrap="none" lIns="0" rIns="0" tIns="0" bIns="0">
            <a:spAutoFit/>
          </a:bodyPr>
          <a:lstStyle/>
          <a:p>
            <a:pPr>
              <a:lnSpc>
                <a:spcPts val="1844"/>
              </a:lnSpc>
              <a:spcBef>
                <a:spcPts val="0"/>
              </a:spcBef>
              <a:spcAft>
                <a:spcPts val="0"/>
              </a:spcAft>
              <a:defRPr sz="1550" b="0">
                <a:solidFill>
                  <a:srgbClr val="173A42"/>
                </a:solidFill>
                <a:latin typeface="DejaVu Sans"/>
              </a:defRPr>
            </a:pPr>
            <a:r>
              <a:t>Charge first action once; later actions</a:t>
            </a:r>
          </a:p>
          <a:p>
            <a:pPr>
              <a:lnSpc>
                <a:spcPts val="1844"/>
              </a:lnSpc>
              <a:spcBef>
                <a:spcPts val="0"/>
              </a:spcBef>
              <a:spcAft>
                <a:spcPts val="0"/>
              </a:spcAft>
              <a:defRPr sz="1550" b="0">
                <a:solidFill>
                  <a:srgbClr val="173A42"/>
                </a:solidFill>
                <a:latin typeface="DejaVu Sans"/>
              </a:defRPr>
            </a:pPr>
            <a:r>
              <a:t>add zero</a:t>
            </a:r>
          </a:p>
        </p:txBody>
      </p:sp>
      <p:sp>
        <p:nvSpPr>
          <p:cNvPr id="21" name="Rectangle 20"/>
          <p:cNvSpPr/>
          <p:nvPr/>
        </p:nvSpPr>
        <p:spPr>
          <a:xfrm>
            <a:off x="660400" y="4396740"/>
            <a:ext cx="10871200" cy="614680"/>
          </a:xfrm>
          <a:prstGeom prst="rect">
            <a:avLst/>
          </a:prstGeom>
          <a:solidFill>
            <a:srgbClr val="EDF3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5500" y="4549140"/>
            <a:ext cx="2159000" cy="436880"/>
          </a:xfrm>
          <a:prstGeom prst="rect">
            <a:avLst/>
          </a:prstGeom>
          <a:noFill/>
        </p:spPr>
        <p:txBody>
          <a:bodyPr wrap="none" lIns="0" rIns="0" tIns="0" bIns="0">
            <a:spAutoFit/>
          </a:bodyPr>
          <a:lstStyle/>
          <a:p>
            <a:pPr>
              <a:lnSpc>
                <a:spcPts val="1844"/>
              </a:lnSpc>
              <a:spcBef>
                <a:spcPts val="0"/>
              </a:spcBef>
              <a:spcAft>
                <a:spcPts val="0"/>
              </a:spcAft>
              <a:defRPr sz="1550" b="1">
                <a:solidFill>
                  <a:srgbClr val="008C7B"/>
                </a:solidFill>
                <a:latin typeface="DejaVu Sans"/>
              </a:defRPr>
            </a:pPr>
            <a:r>
              <a:t>Timeout</a:t>
            </a:r>
          </a:p>
        </p:txBody>
      </p:sp>
      <p:sp>
        <p:nvSpPr>
          <p:cNvPr id="23" name="TextBox 22"/>
          <p:cNvSpPr txBox="1"/>
          <p:nvPr/>
        </p:nvSpPr>
        <p:spPr>
          <a:xfrm>
            <a:off x="3302000" y="4549140"/>
            <a:ext cx="3746500" cy="436880"/>
          </a:xfrm>
          <a:prstGeom prst="rect">
            <a:avLst/>
          </a:prstGeom>
          <a:noFill/>
        </p:spPr>
        <p:txBody>
          <a:bodyPr wrap="none" lIns="0" rIns="0" tIns="0" bIns="0">
            <a:spAutoFit/>
          </a:bodyPr>
          <a:lstStyle/>
          <a:p>
            <a:pPr>
              <a:lnSpc>
                <a:spcPts val="1844"/>
              </a:lnSpc>
              <a:spcBef>
                <a:spcPts val="0"/>
              </a:spcBef>
              <a:spcAft>
                <a:spcPts val="0"/>
              </a:spcAft>
              <a:defRPr sz="1550" b="0">
                <a:solidFill>
                  <a:srgbClr val="173A42"/>
                </a:solidFill>
                <a:latin typeface="DejaVu Sans"/>
              </a:defRPr>
            </a:pPr>
            <a:r>
              <a:t>Estimated reservation</a:t>
            </a:r>
          </a:p>
        </p:txBody>
      </p:sp>
      <p:sp>
        <p:nvSpPr>
          <p:cNvPr id="24" name="TextBox 23"/>
          <p:cNvSpPr txBox="1"/>
          <p:nvPr/>
        </p:nvSpPr>
        <p:spPr>
          <a:xfrm>
            <a:off x="7366000" y="4549140"/>
            <a:ext cx="4013200" cy="436880"/>
          </a:xfrm>
          <a:prstGeom prst="rect">
            <a:avLst/>
          </a:prstGeom>
          <a:noFill/>
        </p:spPr>
        <p:txBody>
          <a:bodyPr wrap="none" lIns="0" rIns="0" tIns="0" bIns="0">
            <a:spAutoFit/>
          </a:bodyPr>
          <a:lstStyle/>
          <a:p>
            <a:pPr>
              <a:lnSpc>
                <a:spcPts val="1844"/>
              </a:lnSpc>
              <a:spcBef>
                <a:spcPts val="0"/>
              </a:spcBef>
              <a:spcAft>
                <a:spcPts val="0"/>
              </a:spcAft>
              <a:defRPr sz="1550" b="0">
                <a:solidFill>
                  <a:srgbClr val="173A42"/>
                </a:solidFill>
                <a:latin typeface="DejaVu Sans"/>
              </a:defRPr>
            </a:pPr>
            <a:r>
              <a:t>Clearly labeled; not measured token</a:t>
            </a:r>
          </a:p>
          <a:p>
            <a:pPr>
              <a:lnSpc>
                <a:spcPts val="1844"/>
              </a:lnSpc>
              <a:spcBef>
                <a:spcPts val="0"/>
              </a:spcBef>
              <a:spcAft>
                <a:spcPts val="0"/>
              </a:spcAft>
              <a:defRPr sz="1550" b="0">
                <a:solidFill>
                  <a:srgbClr val="173A42"/>
                </a:solidFill>
                <a:latin typeface="DejaVu Sans"/>
              </a:defRPr>
            </a:pPr>
            <a:r>
              <a:t>usage</a:t>
            </a:r>
          </a:p>
        </p:txBody>
      </p:sp>
      <p:sp>
        <p:nvSpPr>
          <p:cNvPr id="25" name="Rectangle 24"/>
          <p:cNvSpPr/>
          <p:nvPr/>
        </p:nvSpPr>
        <p:spPr>
          <a:xfrm>
            <a:off x="660400" y="5011420"/>
            <a:ext cx="10871200" cy="6146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25500" y="5163820"/>
            <a:ext cx="2159000" cy="436880"/>
          </a:xfrm>
          <a:prstGeom prst="rect">
            <a:avLst/>
          </a:prstGeom>
          <a:noFill/>
        </p:spPr>
        <p:txBody>
          <a:bodyPr wrap="none" lIns="0" rIns="0" tIns="0" bIns="0">
            <a:spAutoFit/>
          </a:bodyPr>
          <a:lstStyle/>
          <a:p>
            <a:pPr>
              <a:lnSpc>
                <a:spcPts val="1844"/>
              </a:lnSpc>
              <a:spcBef>
                <a:spcPts val="0"/>
              </a:spcBef>
              <a:spcAft>
                <a:spcPts val="0"/>
              </a:spcAft>
              <a:defRPr sz="1550" b="1">
                <a:solidFill>
                  <a:srgbClr val="008C7B"/>
                </a:solidFill>
                <a:latin typeface="DejaVu Sans"/>
              </a:defRPr>
            </a:pPr>
            <a:r>
              <a:t>Run summary</a:t>
            </a:r>
          </a:p>
        </p:txBody>
      </p:sp>
      <p:sp>
        <p:nvSpPr>
          <p:cNvPr id="27" name="TextBox 26"/>
          <p:cNvSpPr txBox="1"/>
          <p:nvPr/>
        </p:nvSpPr>
        <p:spPr>
          <a:xfrm>
            <a:off x="3302000" y="5163820"/>
            <a:ext cx="3746500" cy="436880"/>
          </a:xfrm>
          <a:prstGeom prst="rect">
            <a:avLst/>
          </a:prstGeom>
          <a:noFill/>
        </p:spPr>
        <p:txBody>
          <a:bodyPr wrap="none" lIns="0" rIns="0" tIns="0" bIns="0">
            <a:spAutoFit/>
          </a:bodyPr>
          <a:lstStyle/>
          <a:p>
            <a:pPr>
              <a:lnSpc>
                <a:spcPts val="1844"/>
              </a:lnSpc>
              <a:spcBef>
                <a:spcPts val="0"/>
              </a:spcBef>
              <a:spcAft>
                <a:spcPts val="0"/>
              </a:spcAft>
              <a:defRPr sz="1550" b="0">
                <a:solidFill>
                  <a:srgbClr val="173A42"/>
                </a:solidFill>
                <a:latin typeface="DejaVu Sans"/>
              </a:defRPr>
            </a:pPr>
            <a:r>
              <a:t>Totals + daily breakdown</a:t>
            </a:r>
          </a:p>
        </p:txBody>
      </p:sp>
      <p:sp>
        <p:nvSpPr>
          <p:cNvPr id="28" name="TextBox 27"/>
          <p:cNvSpPr txBox="1"/>
          <p:nvPr/>
        </p:nvSpPr>
        <p:spPr>
          <a:xfrm>
            <a:off x="7366000" y="5163820"/>
            <a:ext cx="4013200" cy="436880"/>
          </a:xfrm>
          <a:prstGeom prst="rect">
            <a:avLst/>
          </a:prstGeom>
          <a:noFill/>
        </p:spPr>
        <p:txBody>
          <a:bodyPr wrap="none" lIns="0" rIns="0" tIns="0" bIns="0">
            <a:spAutoFit/>
          </a:bodyPr>
          <a:lstStyle/>
          <a:p>
            <a:pPr>
              <a:lnSpc>
                <a:spcPts val="1844"/>
              </a:lnSpc>
              <a:spcBef>
                <a:spcPts val="0"/>
              </a:spcBef>
              <a:spcAft>
                <a:spcPts val="0"/>
              </a:spcAft>
              <a:defRPr sz="1550" b="0">
                <a:solidFill>
                  <a:srgbClr val="173A42"/>
                </a:solidFill>
                <a:latin typeface="DejaVu Sans"/>
              </a:defRPr>
            </a:pPr>
            <a:r>
              <a:t>Check cost against business progress</a:t>
            </a:r>
          </a:p>
        </p:txBody>
      </p:sp>
      <p:sp>
        <p:nvSpPr>
          <p:cNvPr id="29" name="Rounded Rectangle 28"/>
          <p:cNvSpPr/>
          <p:nvPr/>
        </p:nvSpPr>
        <p:spPr>
          <a:xfrm>
            <a:off x="660400" y="5842000"/>
            <a:ext cx="10871200" cy="546100"/>
          </a:xfrm>
          <a:prstGeom prst="roundRect">
            <a:avLst>
              <a:gd name="adj" fmla="val 15000"/>
            </a:avLst>
          </a:prstGeom>
          <a:solidFill>
            <a:srgbClr val="E8F3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38200" y="5994400"/>
            <a:ext cx="10502900" cy="355600"/>
          </a:xfrm>
          <a:prstGeom prst="rect">
            <a:avLst/>
          </a:prstGeom>
          <a:noFill/>
        </p:spPr>
        <p:txBody>
          <a:bodyPr wrap="none" lIns="0" rIns="0" tIns="0" bIns="0">
            <a:spAutoFit/>
          </a:bodyPr>
          <a:lstStyle/>
          <a:p>
            <a:pPr>
              <a:lnSpc>
                <a:spcPts val="1380"/>
              </a:lnSpc>
              <a:spcBef>
                <a:spcPts val="0"/>
              </a:spcBef>
              <a:spcAft>
                <a:spcPts val="0"/>
              </a:spcAft>
              <a:defRPr sz="1200" b="1">
                <a:solidFill>
                  <a:srgbClr val="173A42"/>
                </a:solidFill>
                <a:latin typeface="DejaVu Sans"/>
              </a:defRPr>
            </a:pPr>
            <a:r>
              <a:t>Scripted actions use zero model tokens. Missing legacy attribution is unavailable.</a:t>
            </a:r>
          </a:p>
        </p:txBody>
      </p:sp>
      <p:cxnSp>
        <p:nvCxnSpPr>
          <p:cNvPr id="31" name="Connector 30"/>
          <p:cNvCxnSpPr/>
          <p:nvPr/>
        </p:nvCxnSpPr>
        <p:spPr>
          <a:xfrm>
            <a:off x="660400" y="6565900"/>
            <a:ext cx="10871200" cy="0"/>
          </a:xfrm>
          <a:prstGeom prst="line">
            <a:avLst/>
          </a:prstGeom>
          <a:ln w="8255">
            <a:solidFill>
              <a:srgbClr val="DCE6E2"/>
            </a:solidFill>
          </a:ln>
        </p:spPr>
        <p:style>
          <a:lnRef idx="2">
            <a:schemeClr val="accent1"/>
          </a:lnRef>
          <a:fillRef idx="0">
            <a:schemeClr val="accent1"/>
          </a:fillRef>
          <a:effectRef idx="1">
            <a:schemeClr val="accent1"/>
          </a:effectRef>
          <a:fontRef idx="minor">
            <a:schemeClr val="tx1"/>
          </a:fontRef>
        </p:style>
      </p:cxnSp>
      <p:sp>
        <p:nvSpPr>
          <p:cNvPr id="32" name="TextBox 31"/>
          <p:cNvSpPr txBox="1"/>
          <p:nvPr/>
        </p:nvSpPr>
        <p:spPr>
          <a:xfrm>
            <a:off x="660400" y="6654800"/>
            <a:ext cx="8509000" cy="127000"/>
          </a:xfrm>
          <a:prstGeom prst="rect">
            <a:avLst/>
          </a:prstGeom>
          <a:noFill/>
        </p:spPr>
        <p:txBody>
          <a:bodyPr wrap="none" lIns="0" rIns="0" tIns="0" bIns="0">
            <a:spAutoFit/>
          </a:bodyPr>
          <a:lstStyle/>
          <a:p>
            <a:pPr>
              <a:lnSpc>
                <a:spcPts val="952"/>
              </a:lnSpc>
              <a:spcBef>
                <a:spcPts val="0"/>
              </a:spcBef>
              <a:spcAft>
                <a:spcPts val="0"/>
              </a:spcAft>
              <a:defRPr sz="750" b="0">
                <a:solidFill>
                  <a:srgbClr val="557079"/>
                </a:solidFill>
                <a:latin typeface="DejaVu Sans"/>
              </a:defRPr>
            </a:pPr>
            <a:r>
              <a:t>VENDING BENCH  /  PARTICIPANT BRIEFING</a:t>
            </a:r>
          </a:p>
        </p:txBody>
      </p:sp>
      <p:sp>
        <p:nvSpPr>
          <p:cNvPr id="33" name="TextBox 32"/>
          <p:cNvSpPr txBox="1"/>
          <p:nvPr/>
        </p:nvSpPr>
        <p:spPr>
          <a:xfrm>
            <a:off x="11188700" y="6642100"/>
            <a:ext cx="342900" cy="152400"/>
          </a:xfrm>
          <a:prstGeom prst="rect">
            <a:avLst/>
          </a:prstGeom>
          <a:noFill/>
        </p:spPr>
        <p:txBody>
          <a:bodyPr wrap="none" lIns="0" rIns="0" tIns="0" bIns="0">
            <a:spAutoFit/>
          </a:bodyPr>
          <a:lstStyle/>
          <a:p>
            <a:pPr>
              <a:lnSpc>
                <a:spcPts val="1143"/>
              </a:lnSpc>
              <a:spcBef>
                <a:spcPts val="0"/>
              </a:spcBef>
              <a:spcAft>
                <a:spcPts val="0"/>
              </a:spcAft>
              <a:defRPr sz="900" b="1">
                <a:solidFill>
                  <a:srgbClr val="008C7B"/>
                </a:solidFill>
                <a:latin typeface="DejaVu Sans"/>
              </a:defRPr>
            </a:pPr>
            <a: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5F8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60400" y="355600"/>
            <a:ext cx="10287000" cy="228600"/>
          </a:xfrm>
          <a:prstGeom prst="rect">
            <a:avLst/>
          </a:prstGeom>
          <a:noFill/>
        </p:spPr>
        <p:txBody>
          <a:bodyPr wrap="none" lIns="0" rIns="0" tIns="0" bIns="0">
            <a:spAutoFit/>
          </a:bodyPr>
          <a:lstStyle/>
          <a:p>
            <a:pPr>
              <a:lnSpc>
                <a:spcPts val="1270"/>
              </a:lnSpc>
              <a:spcBef>
                <a:spcPts val="0"/>
              </a:spcBef>
              <a:spcAft>
                <a:spcPts val="0"/>
              </a:spcAft>
              <a:defRPr sz="1000" b="1">
                <a:solidFill>
                  <a:srgbClr val="008C7B"/>
                </a:solidFill>
                <a:latin typeface="DejaVu Sans"/>
              </a:defRPr>
            </a:pPr>
            <a:r>
              <a:t>05 / DEVELOPMENT AND REVIEW</a:t>
            </a:r>
          </a:p>
        </p:txBody>
      </p:sp>
      <p:sp>
        <p:nvSpPr>
          <p:cNvPr id="4" name="TextBox 3"/>
          <p:cNvSpPr txBox="1"/>
          <p:nvPr/>
        </p:nvSpPr>
        <p:spPr>
          <a:xfrm>
            <a:off x="660400" y="825500"/>
            <a:ext cx="10871200" cy="1143000"/>
          </a:xfrm>
          <a:prstGeom prst="rect">
            <a:avLst/>
          </a:prstGeom>
          <a:noFill/>
        </p:spPr>
        <p:txBody>
          <a:bodyPr wrap="none" lIns="0" rIns="0" tIns="0" bIns="0">
            <a:spAutoFit/>
          </a:bodyPr>
          <a:lstStyle/>
          <a:p>
            <a:pPr>
              <a:lnSpc>
                <a:spcPts val="3596"/>
              </a:lnSpc>
              <a:spcBef>
                <a:spcPts val="0"/>
              </a:spcBef>
              <a:spcAft>
                <a:spcPts val="0"/>
              </a:spcAft>
              <a:defRPr sz="3100" b="1">
                <a:solidFill>
                  <a:srgbClr val="173A42"/>
                </a:solidFill>
                <a:latin typeface="DejaVu Sans"/>
              </a:defRPr>
            </a:pPr>
            <a:r>
              <a:t>Start with one complete practice episode.</a:t>
            </a:r>
          </a:p>
        </p:txBody>
      </p:sp>
      <p:sp>
        <p:nvSpPr>
          <p:cNvPr id="5" name="Rounded Rectangle 4"/>
          <p:cNvSpPr/>
          <p:nvPr/>
        </p:nvSpPr>
        <p:spPr>
          <a:xfrm>
            <a:off x="660400" y="2209800"/>
            <a:ext cx="7302500" cy="3327400"/>
          </a:xfrm>
          <a:prstGeom prst="roundRect">
            <a:avLst>
              <a:gd name="adj" fmla="val 3816"/>
            </a:avLst>
          </a:prstGeom>
          <a:solidFill>
            <a:srgbClr val="173A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89000" y="2413000"/>
            <a:ext cx="6756400" cy="228600"/>
          </a:xfrm>
          <a:prstGeom prst="rect">
            <a:avLst/>
          </a:prstGeom>
          <a:noFill/>
        </p:spPr>
        <p:txBody>
          <a:bodyPr wrap="none" lIns="0" rIns="0" tIns="0" bIns="0">
            <a:spAutoFit/>
          </a:bodyPr>
          <a:lstStyle/>
          <a:p>
            <a:pPr>
              <a:lnSpc>
                <a:spcPts val="1270"/>
              </a:lnSpc>
              <a:spcBef>
                <a:spcPts val="0"/>
              </a:spcBef>
              <a:spcAft>
                <a:spcPts val="0"/>
              </a:spcAft>
              <a:defRPr sz="1000" b="1">
                <a:solidFill>
                  <a:srgbClr val="CAEFA1"/>
                </a:solidFill>
                <a:latin typeface="DejaVu Sans"/>
              </a:defRPr>
            </a:pPr>
            <a:r>
              <a:t>LOCAL PRACTICE</a:t>
            </a:r>
          </a:p>
        </p:txBody>
      </p:sp>
      <p:sp>
        <p:nvSpPr>
          <p:cNvPr id="7" name="TextBox 6"/>
          <p:cNvSpPr txBox="1"/>
          <p:nvPr/>
        </p:nvSpPr>
        <p:spPr>
          <a:xfrm>
            <a:off x="889000" y="2857500"/>
            <a:ext cx="6819900" cy="2590800"/>
          </a:xfrm>
          <a:prstGeom prst="rect">
            <a:avLst/>
          </a:prstGeom>
          <a:noFill/>
        </p:spPr>
        <p:txBody>
          <a:bodyPr wrap="none" lIns="0" rIns="0" tIns="0" bIns="0">
            <a:spAutoFit/>
          </a:bodyPr>
          <a:lstStyle/>
          <a:p>
            <a:pPr>
              <a:lnSpc>
                <a:spcPts val="2142"/>
              </a:lnSpc>
              <a:spcBef>
                <a:spcPts val="0"/>
              </a:spcBef>
              <a:spcAft>
                <a:spcPts val="0"/>
              </a:spcAft>
              <a:defRPr sz="1400" b="0">
                <a:solidFill>
                  <a:srgbClr val="FFFFFF"/>
                </a:solidFill>
                <a:latin typeface="DejaVu Sans Mono"/>
              </a:defRPr>
            </a:pPr>
            <a:r>
              <a:t>python3 -m pip install -e '.[test]'</a:t>
            </a:r>
          </a:p>
          <a:p>
            <a:pPr>
              <a:lnSpc>
                <a:spcPts val="2142"/>
              </a:lnSpc>
              <a:spcBef>
                <a:spcPts val="0"/>
              </a:spcBef>
              <a:spcAft>
                <a:spcPts val="0"/>
              </a:spcAft>
              <a:defRPr sz="1400" b="0">
                <a:solidFill>
                  <a:srgbClr val="FFFFFF"/>
                </a:solidFill>
                <a:latin typeface="DejaVu Sans Mono"/>
              </a:defRPr>
            </a:pPr>
          </a:p>
          <a:p>
            <a:pPr>
              <a:lnSpc>
                <a:spcPts val="2142"/>
              </a:lnSpc>
              <a:spcBef>
                <a:spcPts val="0"/>
              </a:spcBef>
              <a:spcAft>
                <a:spcPts val="0"/>
              </a:spcAft>
              <a:defRPr sz="1400" b="0">
                <a:solidFill>
                  <a:srgbClr val="FFFFFF"/>
                </a:solidFill>
                <a:latin typeface="DejaVu Sans Mono"/>
              </a:defRPr>
            </a:pPr>
            <a:r>
              <a:t>./scripts/run_environment.sh smoke --agent listed</a:t>
            </a:r>
          </a:p>
          <a:p>
            <a:pPr>
              <a:lnSpc>
                <a:spcPts val="2142"/>
              </a:lnSpc>
              <a:spcBef>
                <a:spcPts val="0"/>
              </a:spcBef>
              <a:spcAft>
                <a:spcPts val="0"/>
              </a:spcAft>
              <a:defRPr sz="1400" b="0">
                <a:solidFill>
                  <a:srgbClr val="FFFFFF"/>
                </a:solidFill>
                <a:latin typeface="DejaVu Sans Mono"/>
              </a:defRPr>
            </a:pPr>
            <a:r>
              <a:t>./scripts/run_environment.sh smoke --agent negotiating</a:t>
            </a:r>
          </a:p>
          <a:p>
            <a:pPr>
              <a:lnSpc>
                <a:spcPts val="2142"/>
              </a:lnSpc>
              <a:spcBef>
                <a:spcPts val="0"/>
              </a:spcBef>
              <a:spcAft>
                <a:spcPts val="0"/>
              </a:spcAft>
              <a:defRPr sz="1400" b="0">
                <a:solidFill>
                  <a:srgbClr val="FFFFFF"/>
                </a:solidFill>
                <a:latin typeface="DejaVu Sans Mono"/>
              </a:defRPr>
            </a:pPr>
          </a:p>
          <a:p>
            <a:pPr>
              <a:lnSpc>
                <a:spcPts val="2142"/>
              </a:lnSpc>
              <a:spcBef>
                <a:spcPts val="0"/>
              </a:spcBef>
              <a:spcAft>
                <a:spcPts val="0"/>
              </a:spcAft>
              <a:defRPr sz="1400" b="0">
                <a:solidFill>
                  <a:srgbClr val="FFFFFF"/>
                </a:solidFill>
                <a:latin typeface="DejaVu Sans Mono"/>
              </a:defRPr>
            </a:pPr>
            <a:r>
              <a:t>./scripts/view_runs.sh</a:t>
            </a:r>
          </a:p>
          <a:p>
            <a:pPr>
              <a:lnSpc>
                <a:spcPts val="2142"/>
              </a:lnSpc>
              <a:spcBef>
                <a:spcPts val="0"/>
              </a:spcBef>
              <a:spcAft>
                <a:spcPts val="0"/>
              </a:spcAft>
              <a:defRPr sz="1400" b="0">
                <a:solidFill>
                  <a:srgbClr val="FFFFFF"/>
                </a:solidFill>
                <a:latin typeface="DejaVu Sans Mono"/>
              </a:defRPr>
            </a:pPr>
            <a:r>
              <a:t># Open http://localhost:8080</a:t>
            </a:r>
          </a:p>
        </p:txBody>
      </p:sp>
      <p:sp>
        <p:nvSpPr>
          <p:cNvPr id="8" name="Rounded Rectangle 7"/>
          <p:cNvSpPr/>
          <p:nvPr/>
        </p:nvSpPr>
        <p:spPr>
          <a:xfrm>
            <a:off x="8293100" y="2413000"/>
            <a:ext cx="63500" cy="63500"/>
          </a:xfrm>
          <a:prstGeom prst="roundRect">
            <a:avLst>
              <a:gd name="adj" fmla="val 15000"/>
            </a:avLst>
          </a:prstGeom>
          <a:solidFill>
            <a:srgbClr val="008C7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521700" y="2336800"/>
            <a:ext cx="3009900" cy="1397000"/>
          </a:xfrm>
          <a:prstGeom prst="rect">
            <a:avLst/>
          </a:prstGeom>
          <a:noFill/>
        </p:spPr>
        <p:txBody>
          <a:bodyPr wrap="none" lIns="0" rIns="0" tIns="0" bIns="0">
            <a:spAutoFit/>
          </a:bodyPr>
          <a:lstStyle/>
          <a:p>
            <a:pPr>
              <a:lnSpc>
                <a:spcPts val="2092"/>
              </a:lnSpc>
              <a:spcBef>
                <a:spcPts val="0"/>
              </a:spcBef>
              <a:spcAft>
                <a:spcPts val="0"/>
              </a:spcAft>
              <a:defRPr sz="1550" b="0">
                <a:solidFill>
                  <a:srgbClr val="173A42"/>
                </a:solidFill>
                <a:latin typeface="DejaVu Sans"/>
              </a:defRPr>
            </a:pPr>
            <a:r>
              <a:t>Use the supplied smoke</a:t>
            </a:r>
          </a:p>
          <a:p>
            <a:pPr>
              <a:lnSpc>
                <a:spcPts val="2092"/>
              </a:lnSpc>
              <a:spcBef>
                <a:spcPts val="0"/>
              </a:spcBef>
              <a:spcAft>
                <a:spcPts val="0"/>
              </a:spcAft>
              <a:defRPr sz="1550" b="0">
                <a:solidFill>
                  <a:srgbClr val="173A42"/>
                </a:solidFill>
                <a:latin typeface="DejaVu Sans"/>
              </a:defRPr>
            </a:pPr>
            <a:r>
              <a:t>environment for local</a:t>
            </a:r>
          </a:p>
          <a:p>
            <a:pPr>
              <a:lnSpc>
                <a:spcPts val="2092"/>
              </a:lnSpc>
              <a:spcBef>
                <a:spcPts val="0"/>
              </a:spcBef>
              <a:spcAft>
                <a:spcPts val="0"/>
              </a:spcAft>
              <a:defRPr sz="1550" b="0">
                <a:solidFill>
                  <a:srgbClr val="173A42"/>
                </a:solidFill>
                <a:latin typeface="DejaVu Sans"/>
              </a:defRPr>
            </a:pPr>
            <a:r>
              <a:t>development.</a:t>
            </a:r>
          </a:p>
        </p:txBody>
      </p:sp>
      <p:sp>
        <p:nvSpPr>
          <p:cNvPr id="10" name="Rounded Rectangle 9"/>
          <p:cNvSpPr/>
          <p:nvPr/>
        </p:nvSpPr>
        <p:spPr>
          <a:xfrm>
            <a:off x="8293100" y="3369945"/>
            <a:ext cx="63500" cy="63500"/>
          </a:xfrm>
          <a:prstGeom prst="roundRect">
            <a:avLst>
              <a:gd name="adj" fmla="val 15000"/>
            </a:avLst>
          </a:prstGeom>
          <a:solidFill>
            <a:srgbClr val="008C7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21700" y="3293745"/>
            <a:ext cx="3009900" cy="1397000"/>
          </a:xfrm>
          <a:prstGeom prst="rect">
            <a:avLst/>
          </a:prstGeom>
          <a:noFill/>
        </p:spPr>
        <p:txBody>
          <a:bodyPr wrap="none" lIns="0" rIns="0" tIns="0" bIns="0">
            <a:spAutoFit/>
          </a:bodyPr>
          <a:lstStyle/>
          <a:p>
            <a:pPr>
              <a:lnSpc>
                <a:spcPts val="2092"/>
              </a:lnSpc>
              <a:spcBef>
                <a:spcPts val="0"/>
              </a:spcBef>
              <a:spcAft>
                <a:spcPts val="0"/>
              </a:spcAft>
              <a:defRPr sz="1550" b="0">
                <a:solidFill>
                  <a:srgbClr val="173A42"/>
                </a:solidFill>
                <a:latin typeface="DejaVu Sans"/>
              </a:defRPr>
            </a:pPr>
            <a:r>
              <a:t>The run script owns a</a:t>
            </a:r>
          </a:p>
          <a:p>
            <a:pPr>
              <a:lnSpc>
                <a:spcPts val="2092"/>
              </a:lnSpc>
              <a:spcBef>
                <a:spcPts val="0"/>
              </a:spcBef>
              <a:spcAft>
                <a:spcPts val="0"/>
              </a:spcAft>
              <a:defRPr sz="1550" b="0">
                <a:solidFill>
                  <a:srgbClr val="173A42"/>
                </a:solidFill>
                <a:latin typeface="DejaVu Sans"/>
              </a:defRPr>
            </a:pPr>
            <a:r>
              <a:t>temporary local service and</a:t>
            </a:r>
          </a:p>
          <a:p>
            <a:pPr>
              <a:lnSpc>
                <a:spcPts val="2092"/>
              </a:lnSpc>
              <a:spcBef>
                <a:spcPts val="0"/>
              </a:spcBef>
              <a:spcAft>
                <a:spcPts val="0"/>
              </a:spcAft>
              <a:defRPr sz="1550" b="0">
                <a:solidFill>
                  <a:srgbClr val="173A42"/>
                </a:solidFill>
                <a:latin typeface="DejaVu Sans"/>
              </a:defRPr>
            </a:pPr>
            <a:r>
              <a:t>cleans it up.</a:t>
            </a:r>
          </a:p>
        </p:txBody>
      </p:sp>
      <p:sp>
        <p:nvSpPr>
          <p:cNvPr id="12" name="Rounded Rectangle 11"/>
          <p:cNvSpPr/>
          <p:nvPr/>
        </p:nvSpPr>
        <p:spPr>
          <a:xfrm>
            <a:off x="8293100" y="4326890"/>
            <a:ext cx="63500" cy="63500"/>
          </a:xfrm>
          <a:prstGeom prst="roundRect">
            <a:avLst>
              <a:gd name="adj" fmla="val 15000"/>
            </a:avLst>
          </a:prstGeom>
          <a:solidFill>
            <a:srgbClr val="008C7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521700" y="4250690"/>
            <a:ext cx="3009900" cy="1397000"/>
          </a:xfrm>
          <a:prstGeom prst="rect">
            <a:avLst/>
          </a:prstGeom>
          <a:noFill/>
        </p:spPr>
        <p:txBody>
          <a:bodyPr wrap="none" lIns="0" rIns="0" tIns="0" bIns="0">
            <a:spAutoFit/>
          </a:bodyPr>
          <a:lstStyle/>
          <a:p>
            <a:pPr>
              <a:lnSpc>
                <a:spcPts val="2092"/>
              </a:lnSpc>
              <a:spcBef>
                <a:spcPts val="0"/>
              </a:spcBef>
              <a:spcAft>
                <a:spcPts val="0"/>
              </a:spcAft>
              <a:defRPr sz="1550" b="0">
                <a:solidFill>
                  <a:srgbClr val="173A42"/>
                </a:solidFill>
                <a:latin typeface="DejaVu Sans"/>
              </a:defRPr>
            </a:pPr>
            <a:r>
              <a:t>Use the baselines to verify</a:t>
            </a:r>
          </a:p>
          <a:p>
            <a:pPr>
              <a:lnSpc>
                <a:spcPts val="2092"/>
              </a:lnSpc>
              <a:spcBef>
                <a:spcPts val="0"/>
              </a:spcBef>
              <a:spcAft>
                <a:spcPts val="0"/>
              </a:spcAft>
              <a:defRPr sz="1550" b="0">
                <a:solidFill>
                  <a:srgbClr val="173A42"/>
                </a:solidFill>
                <a:latin typeface="DejaVu Sans"/>
              </a:defRPr>
            </a:pPr>
            <a:r>
              <a:t>your setup before replacing</a:t>
            </a:r>
          </a:p>
          <a:p>
            <a:pPr>
              <a:lnSpc>
                <a:spcPts val="2092"/>
              </a:lnSpc>
              <a:spcBef>
                <a:spcPts val="0"/>
              </a:spcBef>
              <a:spcAft>
                <a:spcPts val="0"/>
              </a:spcAft>
              <a:defRPr sz="1550" b="0">
                <a:solidFill>
                  <a:srgbClr val="173A42"/>
                </a:solidFill>
                <a:latin typeface="DejaVu Sans"/>
              </a:defRPr>
            </a:pPr>
            <a:r>
              <a:t>the policy.</a:t>
            </a:r>
          </a:p>
        </p:txBody>
      </p:sp>
      <p:sp>
        <p:nvSpPr>
          <p:cNvPr id="14" name="Rounded Rectangle 13"/>
          <p:cNvSpPr/>
          <p:nvPr/>
        </p:nvSpPr>
        <p:spPr>
          <a:xfrm>
            <a:off x="660400" y="5842000"/>
            <a:ext cx="10871200" cy="546100"/>
          </a:xfrm>
          <a:prstGeom prst="roundRect">
            <a:avLst>
              <a:gd name="adj" fmla="val 15000"/>
            </a:avLst>
          </a:prstGeom>
          <a:solidFill>
            <a:srgbClr val="E8F3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38200" y="5994400"/>
            <a:ext cx="10502900" cy="355600"/>
          </a:xfrm>
          <a:prstGeom prst="rect">
            <a:avLst/>
          </a:prstGeom>
          <a:noFill/>
        </p:spPr>
        <p:txBody>
          <a:bodyPr wrap="none" lIns="0" rIns="0" tIns="0" bIns="0">
            <a:spAutoFit/>
          </a:bodyPr>
          <a:lstStyle/>
          <a:p>
            <a:pPr>
              <a:lnSpc>
                <a:spcPts val="1380"/>
              </a:lnSpc>
              <a:spcBef>
                <a:spcPts val="0"/>
              </a:spcBef>
              <a:spcAft>
                <a:spcPts val="0"/>
              </a:spcAft>
              <a:defRPr sz="1200" b="1">
                <a:solidFill>
                  <a:srgbClr val="173A42"/>
                </a:solidFill>
                <a:latin typeface="DejaVu Sans"/>
              </a:defRPr>
            </a:pPr>
            <a:r>
              <a:t>Practice scripts are not the private test-access or submission interface.</a:t>
            </a:r>
          </a:p>
        </p:txBody>
      </p:sp>
      <p:cxnSp>
        <p:nvCxnSpPr>
          <p:cNvPr id="16" name="Connector 15"/>
          <p:cNvCxnSpPr/>
          <p:nvPr/>
        </p:nvCxnSpPr>
        <p:spPr>
          <a:xfrm>
            <a:off x="660400" y="6565900"/>
            <a:ext cx="10871200" cy="0"/>
          </a:xfrm>
          <a:prstGeom prst="line">
            <a:avLst/>
          </a:prstGeom>
          <a:ln w="8255">
            <a:solidFill>
              <a:srgbClr val="DCE6E2"/>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660400" y="6654800"/>
            <a:ext cx="8509000" cy="127000"/>
          </a:xfrm>
          <a:prstGeom prst="rect">
            <a:avLst/>
          </a:prstGeom>
          <a:noFill/>
        </p:spPr>
        <p:txBody>
          <a:bodyPr wrap="none" lIns="0" rIns="0" tIns="0" bIns="0">
            <a:spAutoFit/>
          </a:bodyPr>
          <a:lstStyle/>
          <a:p>
            <a:pPr>
              <a:lnSpc>
                <a:spcPts val="952"/>
              </a:lnSpc>
              <a:spcBef>
                <a:spcPts val="0"/>
              </a:spcBef>
              <a:spcAft>
                <a:spcPts val="0"/>
              </a:spcAft>
              <a:defRPr sz="750" b="0">
                <a:solidFill>
                  <a:srgbClr val="557079"/>
                </a:solidFill>
                <a:latin typeface="DejaVu Sans"/>
              </a:defRPr>
            </a:pPr>
            <a:r>
              <a:t>VENDING BENCH  /  PARTICIPANT BRIEFING</a:t>
            </a:r>
          </a:p>
        </p:txBody>
      </p:sp>
      <p:sp>
        <p:nvSpPr>
          <p:cNvPr id="18" name="TextBox 17"/>
          <p:cNvSpPr txBox="1"/>
          <p:nvPr/>
        </p:nvSpPr>
        <p:spPr>
          <a:xfrm>
            <a:off x="11188700" y="6642100"/>
            <a:ext cx="342900" cy="152400"/>
          </a:xfrm>
          <a:prstGeom prst="rect">
            <a:avLst/>
          </a:prstGeom>
          <a:noFill/>
        </p:spPr>
        <p:txBody>
          <a:bodyPr wrap="none" lIns="0" rIns="0" tIns="0" bIns="0">
            <a:spAutoFit/>
          </a:bodyPr>
          <a:lstStyle/>
          <a:p>
            <a:pPr>
              <a:lnSpc>
                <a:spcPts val="1143"/>
              </a:lnSpc>
              <a:spcBef>
                <a:spcPts val="0"/>
              </a:spcBef>
              <a:spcAft>
                <a:spcPts val="0"/>
              </a:spcAft>
              <a:defRPr sz="900" b="1">
                <a:solidFill>
                  <a:srgbClr val="008C7B"/>
                </a:solidFill>
                <a:latin typeface="DejaVu Sans"/>
              </a:defRPr>
            </a:pPr>
            <a: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5F8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60400" y="355600"/>
            <a:ext cx="10287000" cy="228600"/>
          </a:xfrm>
          <a:prstGeom prst="rect">
            <a:avLst/>
          </a:prstGeom>
          <a:noFill/>
        </p:spPr>
        <p:txBody>
          <a:bodyPr wrap="none" lIns="0" rIns="0" tIns="0" bIns="0">
            <a:spAutoFit/>
          </a:bodyPr>
          <a:lstStyle/>
          <a:p>
            <a:pPr>
              <a:lnSpc>
                <a:spcPts val="1270"/>
              </a:lnSpc>
              <a:spcBef>
                <a:spcPts val="0"/>
              </a:spcBef>
              <a:spcAft>
                <a:spcPts val="0"/>
              </a:spcAft>
              <a:defRPr sz="1000" b="1">
                <a:solidFill>
                  <a:srgbClr val="008C7B"/>
                </a:solidFill>
                <a:latin typeface="DejaVu Sans"/>
              </a:defRPr>
            </a:pPr>
            <a:r>
              <a:t>05 / DEVELOPMENT AND REVIEW</a:t>
            </a:r>
          </a:p>
        </p:txBody>
      </p:sp>
      <p:sp>
        <p:nvSpPr>
          <p:cNvPr id="4" name="TextBox 3"/>
          <p:cNvSpPr txBox="1"/>
          <p:nvPr/>
        </p:nvSpPr>
        <p:spPr>
          <a:xfrm>
            <a:off x="660400" y="825500"/>
            <a:ext cx="10871200" cy="1143000"/>
          </a:xfrm>
          <a:prstGeom prst="rect">
            <a:avLst/>
          </a:prstGeom>
          <a:noFill/>
        </p:spPr>
        <p:txBody>
          <a:bodyPr wrap="none" lIns="0" rIns="0" tIns="0" bIns="0">
            <a:spAutoFit/>
          </a:bodyPr>
          <a:lstStyle/>
          <a:p>
            <a:pPr>
              <a:lnSpc>
                <a:spcPts val="3596"/>
              </a:lnSpc>
              <a:spcBef>
                <a:spcPts val="0"/>
              </a:spcBef>
              <a:spcAft>
                <a:spcPts val="0"/>
              </a:spcAft>
              <a:defRPr sz="3100" b="1">
                <a:solidFill>
                  <a:srgbClr val="173A42"/>
                </a:solidFill>
                <a:latin typeface="DejaVu Sans"/>
              </a:defRPr>
            </a:pPr>
            <a:r>
              <a:t>Review the run, then improve one decision.</a:t>
            </a:r>
          </a:p>
        </p:txBody>
      </p:sp>
      <p:sp>
        <p:nvSpPr>
          <p:cNvPr id="5" name="Rounded Rectangle 4"/>
          <p:cNvSpPr/>
          <p:nvPr/>
        </p:nvSpPr>
        <p:spPr>
          <a:xfrm>
            <a:off x="660400" y="2082800"/>
            <a:ext cx="10871200" cy="533400"/>
          </a:xfrm>
          <a:prstGeom prst="roundRect">
            <a:avLst>
              <a:gd name="adj" fmla="val 15000"/>
            </a:avLst>
          </a:prstGeom>
          <a:solidFill>
            <a:srgbClr val="173A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01700" y="2260600"/>
            <a:ext cx="3302000" cy="228600"/>
          </a:xfrm>
          <a:prstGeom prst="rect">
            <a:avLst/>
          </a:prstGeom>
          <a:noFill/>
        </p:spPr>
        <p:txBody>
          <a:bodyPr wrap="none" lIns="0" rIns="0" tIns="0" bIns="0">
            <a:spAutoFit/>
          </a:bodyPr>
          <a:lstStyle/>
          <a:p>
            <a:pPr>
              <a:lnSpc>
                <a:spcPts val="1397"/>
              </a:lnSpc>
              <a:spcBef>
                <a:spcPts val="0"/>
              </a:spcBef>
              <a:spcAft>
                <a:spcPts val="0"/>
              </a:spcAft>
              <a:defRPr sz="1100" b="1">
                <a:solidFill>
                  <a:srgbClr val="CAEFA1"/>
                </a:solidFill>
                <a:latin typeface="DejaVu Sans"/>
              </a:defRPr>
            </a:pPr>
            <a:r>
              <a:t>RUN EXPLORER</a:t>
            </a:r>
          </a:p>
        </p:txBody>
      </p:sp>
      <p:sp>
        <p:nvSpPr>
          <p:cNvPr id="7" name="TextBox 6"/>
          <p:cNvSpPr txBox="1"/>
          <p:nvPr/>
        </p:nvSpPr>
        <p:spPr>
          <a:xfrm>
            <a:off x="8369300" y="2247900"/>
            <a:ext cx="2857500" cy="292100"/>
          </a:xfrm>
          <a:prstGeom prst="rect">
            <a:avLst/>
          </a:prstGeom>
          <a:noFill/>
        </p:spPr>
        <p:txBody>
          <a:bodyPr wrap="none" lIns="0" rIns="0" tIns="0" bIns="0">
            <a:spAutoFit/>
          </a:bodyPr>
          <a:lstStyle/>
          <a:p>
            <a:pPr>
              <a:lnSpc>
                <a:spcPts val="1524"/>
              </a:lnSpc>
              <a:spcBef>
                <a:spcPts val="0"/>
              </a:spcBef>
              <a:spcAft>
                <a:spcPts val="0"/>
              </a:spcAft>
              <a:defRPr sz="1200" b="0">
                <a:solidFill>
                  <a:srgbClr val="FFFFFF"/>
                </a:solidFill>
                <a:latin typeface="DejaVu Sans Mono"/>
              </a:defRPr>
            </a:pPr>
            <a:r>
              <a:t>http://localhost:8080</a:t>
            </a:r>
          </a:p>
        </p:txBody>
      </p:sp>
      <p:sp>
        <p:nvSpPr>
          <p:cNvPr id="8" name="Rounded Rectangle 7"/>
          <p:cNvSpPr/>
          <p:nvPr/>
        </p:nvSpPr>
        <p:spPr>
          <a:xfrm>
            <a:off x="660400" y="2819400"/>
            <a:ext cx="5308600" cy="2730500"/>
          </a:xfrm>
          <a:prstGeom prst="roundRect">
            <a:avLst>
              <a:gd name="adj" fmla="val 4651"/>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60400" y="2819400"/>
            <a:ext cx="5308600" cy="50800"/>
          </a:xfrm>
          <a:prstGeom prst="rect">
            <a:avLst/>
          </a:prstGeom>
          <a:solidFill>
            <a:srgbClr val="008C7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39800" y="3098800"/>
            <a:ext cx="4749800" cy="444500"/>
          </a:xfrm>
          <a:prstGeom prst="rect">
            <a:avLst/>
          </a:prstGeom>
          <a:noFill/>
        </p:spPr>
        <p:txBody>
          <a:bodyPr wrap="none" lIns="0" rIns="0" tIns="0" bIns="0">
            <a:spAutoFit/>
          </a:bodyPr>
          <a:lstStyle/>
          <a:p>
            <a:pPr>
              <a:lnSpc>
                <a:spcPts val="1524"/>
              </a:lnSpc>
              <a:spcBef>
                <a:spcPts val="0"/>
              </a:spcBef>
              <a:spcAft>
                <a:spcPts val="0"/>
              </a:spcAft>
              <a:defRPr sz="1200" b="1">
                <a:solidFill>
                  <a:srgbClr val="008C7B"/>
                </a:solidFill>
                <a:latin typeface="DejaVu Sans"/>
              </a:defRPr>
            </a:pPr>
            <a:r>
              <a:t>BUSINESS PERFORMANCE</a:t>
            </a:r>
          </a:p>
        </p:txBody>
      </p:sp>
      <p:sp>
        <p:nvSpPr>
          <p:cNvPr id="11" name="Rounded Rectangle 10"/>
          <p:cNvSpPr/>
          <p:nvPr/>
        </p:nvSpPr>
        <p:spPr>
          <a:xfrm>
            <a:off x="939800" y="3683000"/>
            <a:ext cx="63500" cy="63500"/>
          </a:xfrm>
          <a:prstGeom prst="roundRect">
            <a:avLst>
              <a:gd name="adj" fmla="val 15000"/>
            </a:avLst>
          </a:prstGeom>
          <a:solidFill>
            <a:srgbClr val="008C7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168400" y="3606800"/>
            <a:ext cx="4508500" cy="1397000"/>
          </a:xfrm>
          <a:prstGeom prst="rect">
            <a:avLst/>
          </a:prstGeom>
          <a:noFill/>
        </p:spPr>
        <p:txBody>
          <a:bodyPr wrap="none" lIns="0" rIns="0" tIns="0" bIns="0">
            <a:spAutoFit/>
          </a:bodyPr>
          <a:lstStyle/>
          <a:p>
            <a:pPr>
              <a:lnSpc>
                <a:spcPts val="2160"/>
              </a:lnSpc>
              <a:spcBef>
                <a:spcPts val="0"/>
              </a:spcBef>
              <a:spcAft>
                <a:spcPts val="0"/>
              </a:spcAft>
              <a:defRPr sz="1600" b="0">
                <a:solidFill>
                  <a:srgbClr val="173A42"/>
                </a:solidFill>
                <a:latin typeface="DejaVu Sans"/>
              </a:defRPr>
            </a:pPr>
            <a:r>
              <a:t>Score, net profit, and liquidity</a:t>
            </a:r>
          </a:p>
        </p:txBody>
      </p:sp>
      <p:sp>
        <p:nvSpPr>
          <p:cNvPr id="13" name="Rounded Rectangle 12"/>
          <p:cNvSpPr/>
          <p:nvPr/>
        </p:nvSpPr>
        <p:spPr>
          <a:xfrm>
            <a:off x="939800" y="4038600"/>
            <a:ext cx="63500" cy="63500"/>
          </a:xfrm>
          <a:prstGeom prst="roundRect">
            <a:avLst>
              <a:gd name="adj" fmla="val 15000"/>
            </a:avLst>
          </a:prstGeom>
          <a:solidFill>
            <a:srgbClr val="008C7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168400" y="3962400"/>
            <a:ext cx="4508500" cy="1397000"/>
          </a:xfrm>
          <a:prstGeom prst="rect">
            <a:avLst/>
          </a:prstGeom>
          <a:noFill/>
        </p:spPr>
        <p:txBody>
          <a:bodyPr wrap="none" lIns="0" rIns="0" tIns="0" bIns="0">
            <a:spAutoFit/>
          </a:bodyPr>
          <a:lstStyle/>
          <a:p>
            <a:pPr>
              <a:lnSpc>
                <a:spcPts val="2160"/>
              </a:lnSpc>
              <a:spcBef>
                <a:spcPts val="0"/>
              </a:spcBef>
              <a:spcAft>
                <a:spcPts val="0"/>
              </a:spcAft>
              <a:defRPr sz="1600" b="0">
                <a:solidFill>
                  <a:srgbClr val="173A42"/>
                </a:solidFill>
                <a:latin typeface="DejaVu Sans"/>
              </a:defRPr>
            </a:pPr>
            <a:r>
              <a:t>Sales by product and daily fees</a:t>
            </a:r>
          </a:p>
        </p:txBody>
      </p:sp>
      <p:sp>
        <p:nvSpPr>
          <p:cNvPr id="15" name="Rounded Rectangle 14"/>
          <p:cNvSpPr/>
          <p:nvPr/>
        </p:nvSpPr>
        <p:spPr>
          <a:xfrm>
            <a:off x="939800" y="4394200"/>
            <a:ext cx="63500" cy="63500"/>
          </a:xfrm>
          <a:prstGeom prst="roundRect">
            <a:avLst>
              <a:gd name="adj" fmla="val 15000"/>
            </a:avLst>
          </a:prstGeom>
          <a:solidFill>
            <a:srgbClr val="008C7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168400" y="4318000"/>
            <a:ext cx="4508500" cy="1397000"/>
          </a:xfrm>
          <a:prstGeom prst="rect">
            <a:avLst/>
          </a:prstGeom>
          <a:noFill/>
        </p:spPr>
        <p:txBody>
          <a:bodyPr wrap="none" lIns="0" rIns="0" tIns="0" bIns="0">
            <a:spAutoFit/>
          </a:bodyPr>
          <a:lstStyle/>
          <a:p>
            <a:pPr>
              <a:lnSpc>
                <a:spcPts val="2160"/>
              </a:lnSpc>
              <a:spcBef>
                <a:spcPts val="0"/>
              </a:spcBef>
              <a:spcAft>
                <a:spcPts val="0"/>
              </a:spcAft>
              <a:defRPr sz="1600" b="0">
                <a:solidFill>
                  <a:srgbClr val="173A42"/>
                </a:solidFill>
                <a:latin typeface="DejaVu Sans"/>
              </a:defRPr>
            </a:pPr>
            <a:r>
              <a:t>Cash trajectory and stock snapshots</a:t>
            </a:r>
          </a:p>
        </p:txBody>
      </p:sp>
      <p:sp>
        <p:nvSpPr>
          <p:cNvPr id="17" name="Rounded Rectangle 16"/>
          <p:cNvSpPr/>
          <p:nvPr/>
        </p:nvSpPr>
        <p:spPr>
          <a:xfrm>
            <a:off x="6223000" y="2819400"/>
            <a:ext cx="5308600" cy="2730500"/>
          </a:xfrm>
          <a:prstGeom prst="roundRect">
            <a:avLst>
              <a:gd name="adj" fmla="val 4651"/>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223000" y="2819400"/>
            <a:ext cx="5308600" cy="50800"/>
          </a:xfrm>
          <a:prstGeom prst="rect">
            <a:avLst/>
          </a:prstGeom>
          <a:solidFill>
            <a:srgbClr val="5E8DC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502400" y="3098800"/>
            <a:ext cx="4749800" cy="444500"/>
          </a:xfrm>
          <a:prstGeom prst="rect">
            <a:avLst/>
          </a:prstGeom>
          <a:noFill/>
        </p:spPr>
        <p:txBody>
          <a:bodyPr wrap="none" lIns="0" rIns="0" tIns="0" bIns="0">
            <a:spAutoFit/>
          </a:bodyPr>
          <a:lstStyle/>
          <a:p>
            <a:pPr>
              <a:lnSpc>
                <a:spcPts val="1524"/>
              </a:lnSpc>
              <a:spcBef>
                <a:spcPts val="0"/>
              </a:spcBef>
              <a:spcAft>
                <a:spcPts val="0"/>
              </a:spcAft>
              <a:defRPr sz="1200" b="1">
                <a:solidFill>
                  <a:srgbClr val="557079"/>
                </a:solidFill>
                <a:latin typeface="DejaVu Sans"/>
              </a:defRPr>
            </a:pPr>
            <a:r>
              <a:t>HARNESS PERFORMANCE</a:t>
            </a:r>
          </a:p>
        </p:txBody>
      </p:sp>
      <p:sp>
        <p:nvSpPr>
          <p:cNvPr id="20" name="Rounded Rectangle 19"/>
          <p:cNvSpPr/>
          <p:nvPr/>
        </p:nvSpPr>
        <p:spPr>
          <a:xfrm>
            <a:off x="6502400" y="3683000"/>
            <a:ext cx="63500" cy="63500"/>
          </a:xfrm>
          <a:prstGeom prst="roundRect">
            <a:avLst>
              <a:gd name="adj" fmla="val 15000"/>
            </a:avLst>
          </a:prstGeom>
          <a:solidFill>
            <a:srgbClr val="008C7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731000" y="3606800"/>
            <a:ext cx="4508500" cy="1397000"/>
          </a:xfrm>
          <a:prstGeom prst="rect">
            <a:avLst/>
          </a:prstGeom>
          <a:noFill/>
        </p:spPr>
        <p:txBody>
          <a:bodyPr wrap="none" lIns="0" rIns="0" tIns="0" bIns="0">
            <a:spAutoFit/>
          </a:bodyPr>
          <a:lstStyle/>
          <a:p>
            <a:pPr>
              <a:lnSpc>
                <a:spcPts val="2160"/>
              </a:lnSpc>
              <a:spcBef>
                <a:spcPts val="0"/>
              </a:spcBef>
              <a:spcAft>
                <a:spcPts val="0"/>
              </a:spcAft>
              <a:defRPr sz="1600" b="0">
                <a:solidFill>
                  <a:srgbClr val="173A42"/>
                </a:solidFill>
                <a:latin typeface="DejaVu Sans"/>
              </a:defRPr>
            </a:pPr>
            <a:r>
              <a:t>Action outcomes and exact payloads</a:t>
            </a:r>
          </a:p>
        </p:txBody>
      </p:sp>
      <p:sp>
        <p:nvSpPr>
          <p:cNvPr id="22" name="Rounded Rectangle 21"/>
          <p:cNvSpPr/>
          <p:nvPr/>
        </p:nvSpPr>
        <p:spPr>
          <a:xfrm>
            <a:off x="6502400" y="4038600"/>
            <a:ext cx="63500" cy="63500"/>
          </a:xfrm>
          <a:prstGeom prst="roundRect">
            <a:avLst>
              <a:gd name="adj" fmla="val 15000"/>
            </a:avLst>
          </a:prstGeom>
          <a:solidFill>
            <a:srgbClr val="008C7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731000" y="3962400"/>
            <a:ext cx="4508500" cy="1397000"/>
          </a:xfrm>
          <a:prstGeom prst="rect">
            <a:avLst/>
          </a:prstGeom>
          <a:noFill/>
        </p:spPr>
        <p:txBody>
          <a:bodyPr wrap="none" lIns="0" rIns="0" tIns="0" bIns="0">
            <a:spAutoFit/>
          </a:bodyPr>
          <a:lstStyle/>
          <a:p>
            <a:pPr>
              <a:lnSpc>
                <a:spcPts val="2160"/>
              </a:lnSpc>
              <a:spcBef>
                <a:spcPts val="0"/>
              </a:spcBef>
              <a:spcAft>
                <a:spcPts val="0"/>
              </a:spcAft>
              <a:defRPr sz="1600" b="0">
                <a:solidFill>
                  <a:srgbClr val="173A42"/>
                </a:solidFill>
                <a:latin typeface="DejaVu Sans"/>
              </a:defRPr>
            </a:pPr>
            <a:r>
              <a:t>Tokens by action and simulated day</a:t>
            </a:r>
          </a:p>
        </p:txBody>
      </p:sp>
      <p:sp>
        <p:nvSpPr>
          <p:cNvPr id="24" name="Rounded Rectangle 23"/>
          <p:cNvSpPr/>
          <p:nvPr/>
        </p:nvSpPr>
        <p:spPr>
          <a:xfrm>
            <a:off x="6502400" y="4394200"/>
            <a:ext cx="63500" cy="63500"/>
          </a:xfrm>
          <a:prstGeom prst="roundRect">
            <a:avLst>
              <a:gd name="adj" fmla="val 15000"/>
            </a:avLst>
          </a:prstGeom>
          <a:solidFill>
            <a:srgbClr val="008C7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731000" y="4318000"/>
            <a:ext cx="4508500" cy="1397000"/>
          </a:xfrm>
          <a:prstGeom prst="rect">
            <a:avLst/>
          </a:prstGeom>
          <a:noFill/>
        </p:spPr>
        <p:txBody>
          <a:bodyPr wrap="none" lIns="0" rIns="0" tIns="0" bIns="0">
            <a:spAutoFit/>
          </a:bodyPr>
          <a:lstStyle/>
          <a:p>
            <a:pPr>
              <a:lnSpc>
                <a:spcPts val="2160"/>
              </a:lnSpc>
              <a:spcBef>
                <a:spcPts val="0"/>
              </a:spcBef>
              <a:spcAft>
                <a:spcPts val="0"/>
              </a:spcAft>
              <a:defRPr sz="1600" b="0">
                <a:solidFill>
                  <a:srgbClr val="173A42"/>
                </a:solidFill>
                <a:latin typeface="DejaVu Sans"/>
              </a:defRPr>
            </a:pPr>
            <a:r>
              <a:t>Context, memory, usage, and stop reason</a:t>
            </a:r>
          </a:p>
        </p:txBody>
      </p:sp>
      <p:sp>
        <p:nvSpPr>
          <p:cNvPr id="26" name="Rounded Rectangle 25"/>
          <p:cNvSpPr/>
          <p:nvPr/>
        </p:nvSpPr>
        <p:spPr>
          <a:xfrm>
            <a:off x="660400" y="5842000"/>
            <a:ext cx="10871200" cy="546100"/>
          </a:xfrm>
          <a:prstGeom prst="roundRect">
            <a:avLst>
              <a:gd name="adj" fmla="val 15000"/>
            </a:avLst>
          </a:prstGeom>
          <a:solidFill>
            <a:srgbClr val="E8F3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38200" y="5994400"/>
            <a:ext cx="10502900" cy="355600"/>
          </a:xfrm>
          <a:prstGeom prst="rect">
            <a:avLst/>
          </a:prstGeom>
          <a:noFill/>
        </p:spPr>
        <p:txBody>
          <a:bodyPr wrap="none" lIns="0" rIns="0" tIns="0" bIns="0">
            <a:spAutoFit/>
          </a:bodyPr>
          <a:lstStyle/>
          <a:p>
            <a:pPr>
              <a:lnSpc>
                <a:spcPts val="1380"/>
              </a:lnSpc>
              <a:spcBef>
                <a:spcPts val="0"/>
              </a:spcBef>
              <a:spcAft>
                <a:spcPts val="0"/>
              </a:spcAft>
              <a:defRPr sz="1200" b="1">
                <a:solidFill>
                  <a:srgbClr val="173A42"/>
                </a:solidFill>
                <a:latin typeface="DejaVu Sans"/>
              </a:defRPr>
            </a:pPr>
            <a:r>
              <a:t>The viewer is read-only. Inspecting a recorded run consumes no simulated time.</a:t>
            </a:r>
          </a:p>
        </p:txBody>
      </p:sp>
      <p:cxnSp>
        <p:nvCxnSpPr>
          <p:cNvPr id="28" name="Connector 27"/>
          <p:cNvCxnSpPr/>
          <p:nvPr/>
        </p:nvCxnSpPr>
        <p:spPr>
          <a:xfrm>
            <a:off x="660400" y="6565900"/>
            <a:ext cx="10871200" cy="0"/>
          </a:xfrm>
          <a:prstGeom prst="line">
            <a:avLst/>
          </a:prstGeom>
          <a:ln w="8255">
            <a:solidFill>
              <a:srgbClr val="DCE6E2"/>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660400" y="6654800"/>
            <a:ext cx="8509000" cy="127000"/>
          </a:xfrm>
          <a:prstGeom prst="rect">
            <a:avLst/>
          </a:prstGeom>
          <a:noFill/>
        </p:spPr>
        <p:txBody>
          <a:bodyPr wrap="none" lIns="0" rIns="0" tIns="0" bIns="0">
            <a:spAutoFit/>
          </a:bodyPr>
          <a:lstStyle/>
          <a:p>
            <a:pPr>
              <a:lnSpc>
                <a:spcPts val="952"/>
              </a:lnSpc>
              <a:spcBef>
                <a:spcPts val="0"/>
              </a:spcBef>
              <a:spcAft>
                <a:spcPts val="0"/>
              </a:spcAft>
              <a:defRPr sz="750" b="0">
                <a:solidFill>
                  <a:srgbClr val="557079"/>
                </a:solidFill>
                <a:latin typeface="DejaVu Sans"/>
              </a:defRPr>
            </a:pPr>
            <a:r>
              <a:t>VENDING BENCH  /  PARTICIPANT BRIEFING</a:t>
            </a:r>
          </a:p>
        </p:txBody>
      </p:sp>
      <p:sp>
        <p:nvSpPr>
          <p:cNvPr id="30" name="TextBox 29"/>
          <p:cNvSpPr txBox="1"/>
          <p:nvPr/>
        </p:nvSpPr>
        <p:spPr>
          <a:xfrm>
            <a:off x="11188700" y="6642100"/>
            <a:ext cx="342900" cy="152400"/>
          </a:xfrm>
          <a:prstGeom prst="rect">
            <a:avLst/>
          </a:prstGeom>
          <a:noFill/>
        </p:spPr>
        <p:txBody>
          <a:bodyPr wrap="none" lIns="0" rIns="0" tIns="0" bIns="0">
            <a:spAutoFit/>
          </a:bodyPr>
          <a:lstStyle/>
          <a:p>
            <a:pPr>
              <a:lnSpc>
                <a:spcPts val="1143"/>
              </a:lnSpc>
              <a:spcBef>
                <a:spcPts val="0"/>
              </a:spcBef>
              <a:spcAft>
                <a:spcPts val="0"/>
              </a:spcAft>
              <a:defRPr sz="900" b="1">
                <a:solidFill>
                  <a:srgbClr val="008C7B"/>
                </a:solidFill>
                <a:latin typeface="DejaVu Sans"/>
              </a:defRPr>
            </a:pPr>
            <a: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102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60400" y="355600"/>
            <a:ext cx="10287000" cy="228600"/>
          </a:xfrm>
          <a:prstGeom prst="rect">
            <a:avLst/>
          </a:prstGeom>
          <a:noFill/>
        </p:spPr>
        <p:txBody>
          <a:bodyPr wrap="none" lIns="0" rIns="0" tIns="0" bIns="0">
            <a:spAutoFit/>
          </a:bodyPr>
          <a:lstStyle/>
          <a:p>
            <a:pPr>
              <a:lnSpc>
                <a:spcPts val="1270"/>
              </a:lnSpc>
              <a:spcBef>
                <a:spcPts val="0"/>
              </a:spcBef>
              <a:spcAft>
                <a:spcPts val="0"/>
              </a:spcAft>
              <a:defRPr sz="1000" b="1">
                <a:solidFill>
                  <a:srgbClr val="CAEFA1"/>
                </a:solidFill>
                <a:latin typeface="DejaVu Sans"/>
              </a:defRPr>
            </a:pPr>
            <a:r>
              <a:t>06 / READY FOR THE TEST</a:t>
            </a:r>
          </a:p>
        </p:txBody>
      </p:sp>
      <p:sp>
        <p:nvSpPr>
          <p:cNvPr id="4" name="TextBox 3"/>
          <p:cNvSpPr txBox="1"/>
          <p:nvPr/>
        </p:nvSpPr>
        <p:spPr>
          <a:xfrm>
            <a:off x="660400" y="825500"/>
            <a:ext cx="10871200" cy="1143000"/>
          </a:xfrm>
          <a:prstGeom prst="rect">
            <a:avLst/>
          </a:prstGeom>
          <a:noFill/>
        </p:spPr>
        <p:txBody>
          <a:bodyPr wrap="none" lIns="0" rIns="0" tIns="0" bIns="0">
            <a:spAutoFit/>
          </a:bodyPr>
          <a:lstStyle/>
          <a:p>
            <a:pPr>
              <a:lnSpc>
                <a:spcPts val="3596"/>
              </a:lnSpc>
              <a:spcBef>
                <a:spcPts val="0"/>
              </a:spcBef>
              <a:spcAft>
                <a:spcPts val="0"/>
              </a:spcAft>
              <a:defRPr sz="3100" b="1">
                <a:solidFill>
                  <a:srgbClr val="FFFFFF"/>
                </a:solidFill>
                <a:latin typeface="DejaVu Sans"/>
              </a:defRPr>
            </a:pPr>
            <a:r>
              <a:t>Arrive with a reproducible harness.</a:t>
            </a:r>
          </a:p>
        </p:txBody>
      </p:sp>
      <p:sp>
        <p:nvSpPr>
          <p:cNvPr id="5" name="Rounded Rectangle 4"/>
          <p:cNvSpPr/>
          <p:nvPr/>
        </p:nvSpPr>
        <p:spPr>
          <a:xfrm>
            <a:off x="685800" y="2273300"/>
            <a:ext cx="342900" cy="342900"/>
          </a:xfrm>
          <a:prstGeom prst="roundRect">
            <a:avLst>
              <a:gd name="adj" fmla="val 15000"/>
            </a:avLst>
          </a:prstGeom>
          <a:solidFill>
            <a:srgbClr val="CAEFA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00100" y="2336800"/>
            <a:ext cx="228600" cy="266700"/>
          </a:xfrm>
          <a:prstGeom prst="rect">
            <a:avLst/>
          </a:prstGeom>
          <a:noFill/>
        </p:spPr>
        <p:txBody>
          <a:bodyPr wrap="none" lIns="0" rIns="0" tIns="0" bIns="0">
            <a:spAutoFit/>
          </a:bodyPr>
          <a:lstStyle/>
          <a:p>
            <a:pPr>
              <a:lnSpc>
                <a:spcPts val="1651"/>
              </a:lnSpc>
              <a:spcBef>
                <a:spcPts val="0"/>
              </a:spcBef>
              <a:spcAft>
                <a:spcPts val="0"/>
              </a:spcAft>
              <a:defRPr sz="1300" b="1">
                <a:solidFill>
                  <a:srgbClr val="173A42"/>
                </a:solidFill>
                <a:latin typeface="DejaVu Sans"/>
              </a:defRPr>
            </a:pPr>
            <a:r>
              <a:t>1</a:t>
            </a:r>
          </a:p>
        </p:txBody>
      </p:sp>
      <p:sp>
        <p:nvSpPr>
          <p:cNvPr id="7" name="TextBox 6"/>
          <p:cNvSpPr txBox="1"/>
          <p:nvPr/>
        </p:nvSpPr>
        <p:spPr>
          <a:xfrm>
            <a:off x="1295400" y="2298700"/>
            <a:ext cx="10096500" cy="495300"/>
          </a:xfrm>
          <a:prstGeom prst="rect">
            <a:avLst/>
          </a:prstGeom>
          <a:noFill/>
        </p:spPr>
        <p:txBody>
          <a:bodyPr wrap="none" lIns="0" rIns="0" tIns="0" bIns="0">
            <a:spAutoFit/>
          </a:bodyPr>
          <a:lstStyle/>
          <a:p>
            <a:pPr>
              <a:lnSpc>
                <a:spcPts val="2400"/>
              </a:lnSpc>
              <a:spcBef>
                <a:spcPts val="0"/>
              </a:spcBef>
              <a:spcAft>
                <a:spcPts val="0"/>
              </a:spcAft>
              <a:defRPr sz="2000" b="0">
                <a:solidFill>
                  <a:srgbClr val="FFFFFF"/>
                </a:solidFill>
                <a:latin typeface="DejaVu Sans"/>
              </a:defRPr>
            </a:pPr>
            <a:r>
              <a:t>A documented entry point and pinned dependencies</a:t>
            </a:r>
          </a:p>
        </p:txBody>
      </p:sp>
      <p:sp>
        <p:nvSpPr>
          <p:cNvPr id="8" name="Rounded Rectangle 7"/>
          <p:cNvSpPr/>
          <p:nvPr/>
        </p:nvSpPr>
        <p:spPr>
          <a:xfrm>
            <a:off x="685800" y="2895600"/>
            <a:ext cx="342900" cy="342900"/>
          </a:xfrm>
          <a:prstGeom prst="roundRect">
            <a:avLst>
              <a:gd name="adj" fmla="val 15000"/>
            </a:avLst>
          </a:prstGeom>
          <a:solidFill>
            <a:srgbClr val="CAEFA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00100" y="2959100"/>
            <a:ext cx="228600" cy="266700"/>
          </a:xfrm>
          <a:prstGeom prst="rect">
            <a:avLst/>
          </a:prstGeom>
          <a:noFill/>
        </p:spPr>
        <p:txBody>
          <a:bodyPr wrap="none" lIns="0" rIns="0" tIns="0" bIns="0">
            <a:spAutoFit/>
          </a:bodyPr>
          <a:lstStyle/>
          <a:p>
            <a:pPr>
              <a:lnSpc>
                <a:spcPts val="1651"/>
              </a:lnSpc>
              <a:spcBef>
                <a:spcPts val="0"/>
              </a:spcBef>
              <a:spcAft>
                <a:spcPts val="0"/>
              </a:spcAft>
              <a:defRPr sz="1300" b="1">
                <a:solidFill>
                  <a:srgbClr val="173A42"/>
                </a:solidFill>
                <a:latin typeface="DejaVu Sans"/>
              </a:defRPr>
            </a:pPr>
            <a:r>
              <a:t>2</a:t>
            </a:r>
          </a:p>
        </p:txBody>
      </p:sp>
      <p:sp>
        <p:nvSpPr>
          <p:cNvPr id="10" name="TextBox 9"/>
          <p:cNvSpPr txBox="1"/>
          <p:nvPr/>
        </p:nvSpPr>
        <p:spPr>
          <a:xfrm>
            <a:off x="1295400" y="2921000"/>
            <a:ext cx="10096500" cy="495300"/>
          </a:xfrm>
          <a:prstGeom prst="rect">
            <a:avLst/>
          </a:prstGeom>
          <a:noFill/>
        </p:spPr>
        <p:txBody>
          <a:bodyPr wrap="none" lIns="0" rIns="0" tIns="0" bIns="0">
            <a:spAutoFit/>
          </a:bodyPr>
          <a:lstStyle/>
          <a:p>
            <a:pPr>
              <a:lnSpc>
                <a:spcPts val="2400"/>
              </a:lnSpc>
              <a:spcBef>
                <a:spcPts val="0"/>
              </a:spcBef>
              <a:spcAft>
                <a:spcPts val="0"/>
              </a:spcAft>
              <a:defRPr sz="2000" b="0">
                <a:solidFill>
                  <a:srgbClr val="FFFFFF"/>
                </a:solidFill>
                <a:latin typeface="DejaVu Sans"/>
              </a:defRPr>
            </a:pPr>
            <a:r>
              <a:t>Configuration for prompts, model selection, and budgets</a:t>
            </a:r>
          </a:p>
        </p:txBody>
      </p:sp>
      <p:sp>
        <p:nvSpPr>
          <p:cNvPr id="11" name="Rounded Rectangle 10"/>
          <p:cNvSpPr/>
          <p:nvPr/>
        </p:nvSpPr>
        <p:spPr>
          <a:xfrm>
            <a:off x="685800" y="3517900"/>
            <a:ext cx="342900" cy="342900"/>
          </a:xfrm>
          <a:prstGeom prst="roundRect">
            <a:avLst>
              <a:gd name="adj" fmla="val 15000"/>
            </a:avLst>
          </a:prstGeom>
          <a:solidFill>
            <a:srgbClr val="CAEFA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00100" y="3581400"/>
            <a:ext cx="228600" cy="266700"/>
          </a:xfrm>
          <a:prstGeom prst="rect">
            <a:avLst/>
          </a:prstGeom>
          <a:noFill/>
        </p:spPr>
        <p:txBody>
          <a:bodyPr wrap="none" lIns="0" rIns="0" tIns="0" bIns="0">
            <a:spAutoFit/>
          </a:bodyPr>
          <a:lstStyle/>
          <a:p>
            <a:pPr>
              <a:lnSpc>
                <a:spcPts val="1651"/>
              </a:lnSpc>
              <a:spcBef>
                <a:spcPts val="0"/>
              </a:spcBef>
              <a:spcAft>
                <a:spcPts val="0"/>
              </a:spcAft>
              <a:defRPr sz="1300" b="1">
                <a:solidFill>
                  <a:srgbClr val="173A42"/>
                </a:solidFill>
                <a:latin typeface="DejaVu Sans"/>
              </a:defRPr>
            </a:pPr>
            <a:r>
              <a:t>3</a:t>
            </a:r>
          </a:p>
        </p:txBody>
      </p:sp>
      <p:sp>
        <p:nvSpPr>
          <p:cNvPr id="13" name="TextBox 12"/>
          <p:cNvSpPr txBox="1"/>
          <p:nvPr/>
        </p:nvSpPr>
        <p:spPr>
          <a:xfrm>
            <a:off x="1295400" y="3543300"/>
            <a:ext cx="10096500" cy="495300"/>
          </a:xfrm>
          <a:prstGeom prst="rect">
            <a:avLst/>
          </a:prstGeom>
          <a:noFill/>
        </p:spPr>
        <p:txBody>
          <a:bodyPr wrap="none" lIns="0" rIns="0" tIns="0" bIns="0">
            <a:spAutoFit/>
          </a:bodyPr>
          <a:lstStyle/>
          <a:p>
            <a:pPr>
              <a:lnSpc>
                <a:spcPts val="2400"/>
              </a:lnSpc>
              <a:spcBef>
                <a:spcPts val="0"/>
              </a:spcBef>
              <a:spcAft>
                <a:spcPts val="0"/>
              </a:spcAft>
              <a:defRPr sz="2000" b="0">
                <a:solidFill>
                  <a:srgbClr val="FFFFFF"/>
                </a:solidFill>
                <a:latin typeface="DejaVu Sans"/>
              </a:defRPr>
            </a:pPr>
            <a:r>
              <a:t>A successful end-to-end practice run with logs</a:t>
            </a:r>
          </a:p>
        </p:txBody>
      </p:sp>
      <p:sp>
        <p:nvSpPr>
          <p:cNvPr id="14" name="Rounded Rectangle 13"/>
          <p:cNvSpPr/>
          <p:nvPr/>
        </p:nvSpPr>
        <p:spPr>
          <a:xfrm>
            <a:off x="685800" y="4140200"/>
            <a:ext cx="342900" cy="342900"/>
          </a:xfrm>
          <a:prstGeom prst="roundRect">
            <a:avLst>
              <a:gd name="adj" fmla="val 15000"/>
            </a:avLst>
          </a:prstGeom>
          <a:solidFill>
            <a:srgbClr val="CAEFA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00100" y="4203700"/>
            <a:ext cx="228600" cy="266700"/>
          </a:xfrm>
          <a:prstGeom prst="rect">
            <a:avLst/>
          </a:prstGeom>
          <a:noFill/>
        </p:spPr>
        <p:txBody>
          <a:bodyPr wrap="none" lIns="0" rIns="0" tIns="0" bIns="0">
            <a:spAutoFit/>
          </a:bodyPr>
          <a:lstStyle/>
          <a:p>
            <a:pPr>
              <a:lnSpc>
                <a:spcPts val="1651"/>
              </a:lnSpc>
              <a:spcBef>
                <a:spcPts val="0"/>
              </a:spcBef>
              <a:spcAft>
                <a:spcPts val="0"/>
              </a:spcAft>
              <a:defRPr sz="1300" b="1">
                <a:solidFill>
                  <a:srgbClr val="173A42"/>
                </a:solidFill>
                <a:latin typeface="DejaVu Sans"/>
              </a:defRPr>
            </a:pPr>
            <a:r>
              <a:t>4</a:t>
            </a:r>
          </a:p>
        </p:txBody>
      </p:sp>
      <p:sp>
        <p:nvSpPr>
          <p:cNvPr id="16" name="TextBox 15"/>
          <p:cNvSpPr txBox="1"/>
          <p:nvPr/>
        </p:nvSpPr>
        <p:spPr>
          <a:xfrm>
            <a:off x="1295400" y="4165600"/>
            <a:ext cx="10096500" cy="495300"/>
          </a:xfrm>
          <a:prstGeom prst="rect">
            <a:avLst/>
          </a:prstGeom>
          <a:noFill/>
        </p:spPr>
        <p:txBody>
          <a:bodyPr wrap="none" lIns="0" rIns="0" tIns="0" bIns="0">
            <a:spAutoFit/>
          </a:bodyPr>
          <a:lstStyle/>
          <a:p>
            <a:pPr>
              <a:lnSpc>
                <a:spcPts val="2400"/>
              </a:lnSpc>
              <a:spcBef>
                <a:spcPts val="0"/>
              </a:spcBef>
              <a:spcAft>
                <a:spcPts val="0"/>
              </a:spcAft>
              <a:defRPr sz="2000" b="0">
                <a:solidFill>
                  <a:srgbClr val="FFFFFF"/>
                </a:solidFill>
                <a:latin typeface="DejaVu Sans"/>
              </a:defRPr>
            </a:pPr>
            <a:r>
              <a:t>Correct retries, termination handling, and cleanup</a:t>
            </a:r>
          </a:p>
        </p:txBody>
      </p:sp>
      <p:sp>
        <p:nvSpPr>
          <p:cNvPr id="17" name="Rounded Rectangle 16"/>
          <p:cNvSpPr/>
          <p:nvPr/>
        </p:nvSpPr>
        <p:spPr>
          <a:xfrm>
            <a:off x="685800" y="4762500"/>
            <a:ext cx="342900" cy="342900"/>
          </a:xfrm>
          <a:prstGeom prst="roundRect">
            <a:avLst>
              <a:gd name="adj" fmla="val 15000"/>
            </a:avLst>
          </a:prstGeom>
          <a:solidFill>
            <a:srgbClr val="CAEFA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00100" y="4826000"/>
            <a:ext cx="228600" cy="266700"/>
          </a:xfrm>
          <a:prstGeom prst="rect">
            <a:avLst/>
          </a:prstGeom>
          <a:noFill/>
        </p:spPr>
        <p:txBody>
          <a:bodyPr wrap="none" lIns="0" rIns="0" tIns="0" bIns="0">
            <a:spAutoFit/>
          </a:bodyPr>
          <a:lstStyle/>
          <a:p>
            <a:pPr>
              <a:lnSpc>
                <a:spcPts val="1651"/>
              </a:lnSpc>
              <a:spcBef>
                <a:spcPts val="0"/>
              </a:spcBef>
              <a:spcAft>
                <a:spcPts val="0"/>
              </a:spcAft>
              <a:defRPr sz="1300" b="1">
                <a:solidFill>
                  <a:srgbClr val="173A42"/>
                </a:solidFill>
                <a:latin typeface="DejaVu Sans"/>
              </a:defRPr>
            </a:pPr>
            <a:r>
              <a:t>5</a:t>
            </a:r>
          </a:p>
        </p:txBody>
      </p:sp>
      <p:sp>
        <p:nvSpPr>
          <p:cNvPr id="19" name="TextBox 18"/>
          <p:cNvSpPr txBox="1"/>
          <p:nvPr/>
        </p:nvSpPr>
        <p:spPr>
          <a:xfrm>
            <a:off x="1295400" y="4787900"/>
            <a:ext cx="10096500" cy="495300"/>
          </a:xfrm>
          <a:prstGeom prst="rect">
            <a:avLst/>
          </a:prstGeom>
          <a:noFill/>
        </p:spPr>
        <p:txBody>
          <a:bodyPr wrap="none" lIns="0" rIns="0" tIns="0" bIns="0">
            <a:spAutoFit/>
          </a:bodyPr>
          <a:lstStyle/>
          <a:p>
            <a:pPr>
              <a:lnSpc>
                <a:spcPts val="2400"/>
              </a:lnSpc>
              <a:spcBef>
                <a:spcPts val="0"/>
              </a:spcBef>
              <a:spcAft>
                <a:spcPts val="0"/>
              </a:spcAft>
              <a:defRPr sz="2000" b="0">
                <a:solidFill>
                  <a:srgbClr val="FFFFFF"/>
                </a:solidFill>
                <a:latin typeface="DejaVu Sans"/>
              </a:defRPr>
            </a:pPr>
            <a:r>
              <a:t>A brief explanation of your design and observed trade-offs</a:t>
            </a:r>
          </a:p>
        </p:txBody>
      </p:sp>
      <p:sp>
        <p:nvSpPr>
          <p:cNvPr id="20" name="Rounded Rectangle 19"/>
          <p:cNvSpPr/>
          <p:nvPr/>
        </p:nvSpPr>
        <p:spPr>
          <a:xfrm>
            <a:off x="660400" y="5842000"/>
            <a:ext cx="10871200" cy="546100"/>
          </a:xfrm>
          <a:prstGeom prst="roundRect">
            <a:avLst>
              <a:gd name="adj" fmla="val 15000"/>
            </a:avLst>
          </a:prstGeom>
          <a:solidFill>
            <a:srgbClr val="193F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38200" y="5994400"/>
            <a:ext cx="10502900" cy="355600"/>
          </a:xfrm>
          <a:prstGeom prst="rect">
            <a:avLst/>
          </a:prstGeom>
          <a:noFill/>
        </p:spPr>
        <p:txBody>
          <a:bodyPr wrap="none" lIns="0" rIns="0" tIns="0" bIns="0">
            <a:spAutoFit/>
          </a:bodyPr>
          <a:lstStyle/>
          <a:p>
            <a:pPr>
              <a:lnSpc>
                <a:spcPts val="1380"/>
              </a:lnSpc>
              <a:spcBef>
                <a:spcPts val="0"/>
              </a:spcBef>
              <a:spcAft>
                <a:spcPts val="0"/>
              </a:spcAft>
              <a:defRPr sz="1200" b="1">
                <a:solidFill>
                  <a:srgbClr val="CAEFA1"/>
                </a:solidFill>
                <a:latin typeface="DejaVu Sans"/>
              </a:defRPr>
            </a:pPr>
            <a:r>
              <a:t>To be announced: submission packaging, deadline, allowed models, test handoff, and tie-breaks.</a:t>
            </a:r>
          </a:p>
        </p:txBody>
      </p:sp>
      <p:cxnSp>
        <p:nvCxnSpPr>
          <p:cNvPr id="22" name="Connector 21"/>
          <p:cNvCxnSpPr/>
          <p:nvPr/>
        </p:nvCxnSpPr>
        <p:spPr>
          <a:xfrm>
            <a:off x="660400" y="6565900"/>
            <a:ext cx="10871200" cy="0"/>
          </a:xfrm>
          <a:prstGeom prst="line">
            <a:avLst/>
          </a:prstGeom>
          <a:ln w="8255">
            <a:solidFill>
              <a:srgbClr val="32515A"/>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660400" y="6654800"/>
            <a:ext cx="8509000" cy="127000"/>
          </a:xfrm>
          <a:prstGeom prst="rect">
            <a:avLst/>
          </a:prstGeom>
          <a:noFill/>
        </p:spPr>
        <p:txBody>
          <a:bodyPr wrap="none" lIns="0" rIns="0" tIns="0" bIns="0">
            <a:spAutoFit/>
          </a:bodyPr>
          <a:lstStyle/>
          <a:p>
            <a:pPr>
              <a:lnSpc>
                <a:spcPts val="952"/>
              </a:lnSpc>
              <a:spcBef>
                <a:spcPts val="0"/>
              </a:spcBef>
              <a:spcAft>
                <a:spcPts val="0"/>
              </a:spcAft>
              <a:defRPr sz="750" b="0">
                <a:solidFill>
                  <a:srgbClr val="A6C1C6"/>
                </a:solidFill>
                <a:latin typeface="DejaVu Sans"/>
              </a:defRPr>
            </a:pPr>
            <a:r>
              <a:t>VENDING BENCH  /  PARTICIPANT BRIEFING</a:t>
            </a:r>
          </a:p>
        </p:txBody>
      </p:sp>
      <p:sp>
        <p:nvSpPr>
          <p:cNvPr id="24" name="TextBox 23"/>
          <p:cNvSpPr txBox="1"/>
          <p:nvPr/>
        </p:nvSpPr>
        <p:spPr>
          <a:xfrm>
            <a:off x="11188700" y="6642100"/>
            <a:ext cx="342900" cy="152400"/>
          </a:xfrm>
          <a:prstGeom prst="rect">
            <a:avLst/>
          </a:prstGeom>
          <a:noFill/>
        </p:spPr>
        <p:txBody>
          <a:bodyPr wrap="none" lIns="0" rIns="0" tIns="0" bIns="0">
            <a:spAutoFit/>
          </a:bodyPr>
          <a:lstStyle/>
          <a:p>
            <a:pPr>
              <a:lnSpc>
                <a:spcPts val="1143"/>
              </a:lnSpc>
              <a:spcBef>
                <a:spcPts val="0"/>
              </a:spcBef>
              <a:spcAft>
                <a:spcPts val="0"/>
              </a:spcAft>
              <a:defRPr sz="900" b="1">
                <a:solidFill>
                  <a:srgbClr val="CAEFA1"/>
                </a:solidFill>
                <a:latin typeface="DejaVu Sans"/>
              </a:defRPr>
            </a:pPr>
            <a: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5F8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60400" y="355600"/>
            <a:ext cx="10287000" cy="228600"/>
          </a:xfrm>
          <a:prstGeom prst="rect">
            <a:avLst/>
          </a:prstGeom>
          <a:noFill/>
        </p:spPr>
        <p:txBody>
          <a:bodyPr wrap="none" lIns="0" rIns="0" tIns="0" bIns="0">
            <a:spAutoFit/>
          </a:bodyPr>
          <a:lstStyle/>
          <a:p>
            <a:pPr>
              <a:lnSpc>
                <a:spcPts val="1270"/>
              </a:lnSpc>
              <a:spcBef>
                <a:spcPts val="0"/>
              </a:spcBef>
              <a:spcAft>
                <a:spcPts val="0"/>
              </a:spcAft>
              <a:defRPr sz="1000" b="1">
                <a:solidFill>
                  <a:srgbClr val="008C7B"/>
                </a:solidFill>
                <a:latin typeface="DejaVu Sans"/>
              </a:defRPr>
            </a:pPr>
            <a:r>
              <a:t>REFERENCE / API LIFECYCLE</a:t>
            </a:r>
          </a:p>
        </p:txBody>
      </p:sp>
      <p:sp>
        <p:nvSpPr>
          <p:cNvPr id="4" name="TextBox 3"/>
          <p:cNvSpPr txBox="1"/>
          <p:nvPr/>
        </p:nvSpPr>
        <p:spPr>
          <a:xfrm>
            <a:off x="660400" y="825500"/>
            <a:ext cx="10871200" cy="1143000"/>
          </a:xfrm>
          <a:prstGeom prst="rect">
            <a:avLst/>
          </a:prstGeom>
          <a:noFill/>
        </p:spPr>
        <p:txBody>
          <a:bodyPr wrap="none" lIns="0" rIns="0" tIns="0" bIns="0">
            <a:spAutoFit/>
          </a:bodyPr>
          <a:lstStyle/>
          <a:p>
            <a:pPr>
              <a:lnSpc>
                <a:spcPts val="3596"/>
              </a:lnSpc>
              <a:spcBef>
                <a:spcPts val="0"/>
              </a:spcBef>
              <a:spcAft>
                <a:spcPts val="0"/>
              </a:spcAft>
              <a:defRPr sz="3100" b="1">
                <a:solidFill>
                  <a:srgbClr val="173A42"/>
                </a:solidFill>
                <a:latin typeface="DejaVu Sans"/>
              </a:defRPr>
            </a:pPr>
            <a:r>
              <a:t>Create or receive an ID, act, then retrieve</a:t>
            </a:r>
          </a:p>
          <a:p>
            <a:pPr>
              <a:lnSpc>
                <a:spcPts val="3596"/>
              </a:lnSpc>
              <a:spcBef>
                <a:spcPts val="0"/>
              </a:spcBef>
              <a:spcAft>
                <a:spcPts val="0"/>
              </a:spcAft>
              <a:defRPr sz="3100" b="1">
                <a:solidFill>
                  <a:srgbClr val="173A42"/>
                </a:solidFill>
                <a:latin typeface="DejaVu Sans"/>
              </a:defRPr>
            </a:pPr>
            <a:r>
              <a:t>results.</a:t>
            </a:r>
          </a:p>
        </p:txBody>
      </p:sp>
      <p:sp>
        <p:nvSpPr>
          <p:cNvPr id="5" name="Rounded Rectangle 4"/>
          <p:cNvSpPr/>
          <p:nvPr/>
        </p:nvSpPr>
        <p:spPr>
          <a:xfrm>
            <a:off x="660400" y="2120900"/>
            <a:ext cx="10871200" cy="431800"/>
          </a:xfrm>
          <a:prstGeom prst="roundRect">
            <a:avLst>
              <a:gd name="adj" fmla="val 14705"/>
            </a:avLst>
          </a:prstGeom>
          <a:solidFill>
            <a:srgbClr val="173A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5500" y="2247900"/>
            <a:ext cx="2159000" cy="228600"/>
          </a:xfrm>
          <a:prstGeom prst="rect">
            <a:avLst/>
          </a:prstGeom>
          <a:noFill/>
        </p:spPr>
        <p:txBody>
          <a:bodyPr wrap="none" lIns="0" rIns="0" tIns="0" bIns="0">
            <a:spAutoFit/>
          </a:bodyPr>
          <a:lstStyle/>
          <a:p>
            <a:pPr>
              <a:lnSpc>
                <a:spcPts val="1524"/>
              </a:lnSpc>
              <a:spcBef>
                <a:spcPts val="0"/>
              </a:spcBef>
              <a:spcAft>
                <a:spcPts val="0"/>
              </a:spcAft>
              <a:defRPr sz="1200" b="1">
                <a:solidFill>
                  <a:srgbClr val="FFFFFF"/>
                </a:solidFill>
                <a:latin typeface="DejaVu Sans"/>
              </a:defRPr>
            </a:pPr>
            <a:r>
              <a:t>REQUEST</a:t>
            </a:r>
          </a:p>
        </p:txBody>
      </p:sp>
      <p:sp>
        <p:nvSpPr>
          <p:cNvPr id="7" name="TextBox 6"/>
          <p:cNvSpPr txBox="1"/>
          <p:nvPr/>
        </p:nvSpPr>
        <p:spPr>
          <a:xfrm>
            <a:off x="3302000" y="2247900"/>
            <a:ext cx="3746500" cy="228600"/>
          </a:xfrm>
          <a:prstGeom prst="rect">
            <a:avLst/>
          </a:prstGeom>
          <a:noFill/>
        </p:spPr>
        <p:txBody>
          <a:bodyPr wrap="none" lIns="0" rIns="0" tIns="0" bIns="0">
            <a:spAutoFit/>
          </a:bodyPr>
          <a:lstStyle/>
          <a:p>
            <a:pPr>
              <a:lnSpc>
                <a:spcPts val="1524"/>
              </a:lnSpc>
              <a:spcBef>
                <a:spcPts val="0"/>
              </a:spcBef>
              <a:spcAft>
                <a:spcPts val="0"/>
              </a:spcAft>
              <a:defRPr sz="1200" b="1">
                <a:solidFill>
                  <a:srgbClr val="FFFFFF"/>
                </a:solidFill>
                <a:latin typeface="DejaVu Sans"/>
              </a:defRPr>
            </a:pPr>
            <a:r>
              <a:t>SUCCESS</a:t>
            </a:r>
          </a:p>
        </p:txBody>
      </p:sp>
      <p:sp>
        <p:nvSpPr>
          <p:cNvPr id="8" name="TextBox 7"/>
          <p:cNvSpPr txBox="1"/>
          <p:nvPr/>
        </p:nvSpPr>
        <p:spPr>
          <a:xfrm>
            <a:off x="7366000" y="2247900"/>
            <a:ext cx="4013200" cy="228600"/>
          </a:xfrm>
          <a:prstGeom prst="rect">
            <a:avLst/>
          </a:prstGeom>
          <a:noFill/>
        </p:spPr>
        <p:txBody>
          <a:bodyPr wrap="none" lIns="0" rIns="0" tIns="0" bIns="0">
            <a:spAutoFit/>
          </a:bodyPr>
          <a:lstStyle/>
          <a:p>
            <a:pPr>
              <a:lnSpc>
                <a:spcPts val="1524"/>
              </a:lnSpc>
              <a:spcBef>
                <a:spcPts val="0"/>
              </a:spcBef>
              <a:spcAft>
                <a:spcPts val="0"/>
              </a:spcAft>
              <a:defRPr sz="1200" b="1">
                <a:solidFill>
                  <a:srgbClr val="FFFFFF"/>
                </a:solidFill>
                <a:latin typeface="DejaVu Sans"/>
              </a:defRPr>
            </a:pPr>
            <a:r>
              <a:t>NOTES</a:t>
            </a:r>
          </a:p>
        </p:txBody>
      </p:sp>
      <p:sp>
        <p:nvSpPr>
          <p:cNvPr id="9" name="Rectangle 8"/>
          <p:cNvSpPr/>
          <p:nvPr/>
        </p:nvSpPr>
        <p:spPr>
          <a:xfrm>
            <a:off x="660400" y="2552700"/>
            <a:ext cx="10871200" cy="6146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5500" y="2705100"/>
            <a:ext cx="2159000" cy="436880"/>
          </a:xfrm>
          <a:prstGeom prst="rect">
            <a:avLst/>
          </a:prstGeom>
          <a:noFill/>
        </p:spPr>
        <p:txBody>
          <a:bodyPr wrap="none" lIns="0" rIns="0" tIns="0" bIns="0">
            <a:spAutoFit/>
          </a:bodyPr>
          <a:lstStyle/>
          <a:p>
            <a:pPr>
              <a:lnSpc>
                <a:spcPts val="1844"/>
              </a:lnSpc>
              <a:spcBef>
                <a:spcPts val="0"/>
              </a:spcBef>
              <a:spcAft>
                <a:spcPts val="0"/>
              </a:spcAft>
              <a:defRPr sz="1550" b="1">
                <a:solidFill>
                  <a:srgbClr val="008C7B"/>
                </a:solidFill>
                <a:latin typeface="DejaVu Sans"/>
              </a:defRPr>
            </a:pPr>
            <a:r>
              <a:t>POST /env</a:t>
            </a:r>
          </a:p>
        </p:txBody>
      </p:sp>
      <p:sp>
        <p:nvSpPr>
          <p:cNvPr id="11" name="TextBox 10"/>
          <p:cNvSpPr txBox="1"/>
          <p:nvPr/>
        </p:nvSpPr>
        <p:spPr>
          <a:xfrm>
            <a:off x="3302000" y="2705100"/>
            <a:ext cx="3746500" cy="436880"/>
          </a:xfrm>
          <a:prstGeom prst="rect">
            <a:avLst/>
          </a:prstGeom>
          <a:noFill/>
        </p:spPr>
        <p:txBody>
          <a:bodyPr wrap="none" lIns="0" rIns="0" tIns="0" bIns="0">
            <a:spAutoFit/>
          </a:bodyPr>
          <a:lstStyle/>
          <a:p>
            <a:pPr>
              <a:lnSpc>
                <a:spcPts val="1844"/>
              </a:lnSpc>
              <a:spcBef>
                <a:spcPts val="0"/>
              </a:spcBef>
              <a:spcAft>
                <a:spcPts val="0"/>
              </a:spcAft>
              <a:defRPr sz="1550" b="0">
                <a:solidFill>
                  <a:srgbClr val="173A42"/>
                </a:solidFill>
                <a:latin typeface="DejaVu Sans"/>
              </a:defRPr>
            </a:pPr>
            <a:r>
              <a:t>201: {env_id}</a:t>
            </a:r>
          </a:p>
        </p:txBody>
      </p:sp>
      <p:sp>
        <p:nvSpPr>
          <p:cNvPr id="12" name="TextBox 11"/>
          <p:cNvSpPr txBox="1"/>
          <p:nvPr/>
        </p:nvSpPr>
        <p:spPr>
          <a:xfrm>
            <a:off x="7366000" y="2705100"/>
            <a:ext cx="4013200" cy="436880"/>
          </a:xfrm>
          <a:prstGeom prst="rect">
            <a:avLst/>
          </a:prstGeom>
          <a:noFill/>
        </p:spPr>
        <p:txBody>
          <a:bodyPr wrap="none" lIns="0" rIns="0" tIns="0" bIns="0">
            <a:spAutoFit/>
          </a:bodyPr>
          <a:lstStyle/>
          <a:p>
            <a:pPr>
              <a:lnSpc>
                <a:spcPts val="1844"/>
              </a:lnSpc>
              <a:spcBef>
                <a:spcPts val="0"/>
              </a:spcBef>
              <a:spcAft>
                <a:spcPts val="0"/>
              </a:spcAft>
              <a:defRPr sz="1550" b="0">
                <a:solidFill>
                  <a:srgbClr val="173A42"/>
                </a:solidFill>
                <a:latin typeface="DejaVu Sans"/>
              </a:defRPr>
            </a:pPr>
            <a:r>
              <a:t>Coordinator-controlled test selection</a:t>
            </a:r>
          </a:p>
        </p:txBody>
      </p:sp>
      <p:sp>
        <p:nvSpPr>
          <p:cNvPr id="13" name="Rectangle 12"/>
          <p:cNvSpPr/>
          <p:nvPr/>
        </p:nvSpPr>
        <p:spPr>
          <a:xfrm>
            <a:off x="660400" y="3167380"/>
            <a:ext cx="10871200" cy="614680"/>
          </a:xfrm>
          <a:prstGeom prst="rect">
            <a:avLst/>
          </a:prstGeom>
          <a:solidFill>
            <a:srgbClr val="EDF3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25500" y="3319779"/>
            <a:ext cx="2159000" cy="436880"/>
          </a:xfrm>
          <a:prstGeom prst="rect">
            <a:avLst/>
          </a:prstGeom>
          <a:noFill/>
        </p:spPr>
        <p:txBody>
          <a:bodyPr wrap="none" lIns="0" rIns="0" tIns="0" bIns="0">
            <a:spAutoFit/>
          </a:bodyPr>
          <a:lstStyle/>
          <a:p>
            <a:pPr>
              <a:lnSpc>
                <a:spcPts val="1844"/>
              </a:lnSpc>
              <a:spcBef>
                <a:spcPts val="0"/>
              </a:spcBef>
              <a:spcAft>
                <a:spcPts val="0"/>
              </a:spcAft>
              <a:defRPr sz="1550" b="1">
                <a:solidFill>
                  <a:srgbClr val="008C7B"/>
                </a:solidFill>
                <a:latin typeface="DejaVu Sans"/>
              </a:defRPr>
            </a:pPr>
            <a:r>
              <a:t>POST</a:t>
            </a:r>
          </a:p>
          <a:p>
            <a:pPr>
              <a:lnSpc>
                <a:spcPts val="1844"/>
              </a:lnSpc>
              <a:spcBef>
                <a:spcPts val="0"/>
              </a:spcBef>
              <a:spcAft>
                <a:spcPts val="0"/>
              </a:spcAft>
              <a:defRPr sz="1550" b="1">
                <a:solidFill>
                  <a:srgbClr val="008C7B"/>
                </a:solidFill>
                <a:latin typeface="DejaVu Sans"/>
              </a:defRPr>
            </a:pPr>
            <a:r>
              <a:t>/env/{id}/{action}</a:t>
            </a:r>
          </a:p>
        </p:txBody>
      </p:sp>
      <p:sp>
        <p:nvSpPr>
          <p:cNvPr id="15" name="TextBox 14"/>
          <p:cNvSpPr txBox="1"/>
          <p:nvPr/>
        </p:nvSpPr>
        <p:spPr>
          <a:xfrm>
            <a:off x="3302000" y="3319779"/>
            <a:ext cx="3746500" cy="436880"/>
          </a:xfrm>
          <a:prstGeom prst="rect">
            <a:avLst/>
          </a:prstGeom>
          <a:noFill/>
        </p:spPr>
        <p:txBody>
          <a:bodyPr wrap="none" lIns="0" rIns="0" tIns="0" bIns="0">
            <a:spAutoFit/>
          </a:bodyPr>
          <a:lstStyle/>
          <a:p>
            <a:pPr>
              <a:lnSpc>
                <a:spcPts val="1844"/>
              </a:lnSpc>
              <a:spcBef>
                <a:spcPts val="0"/>
              </a:spcBef>
              <a:spcAft>
                <a:spcPts val="0"/>
              </a:spcAft>
              <a:defRPr sz="1550" b="0">
                <a:solidFill>
                  <a:srgbClr val="173A42"/>
                </a:solidFill>
                <a:latin typeface="DejaVu Sans"/>
              </a:defRPr>
            </a:pPr>
            <a:r>
              <a:t>200: action envelope</a:t>
            </a:r>
          </a:p>
        </p:txBody>
      </p:sp>
      <p:sp>
        <p:nvSpPr>
          <p:cNvPr id="16" name="TextBox 15"/>
          <p:cNvSpPr txBox="1"/>
          <p:nvPr/>
        </p:nvSpPr>
        <p:spPr>
          <a:xfrm>
            <a:off x="7366000" y="3319779"/>
            <a:ext cx="4013200" cy="436880"/>
          </a:xfrm>
          <a:prstGeom prst="rect">
            <a:avLst/>
          </a:prstGeom>
          <a:noFill/>
        </p:spPr>
        <p:txBody>
          <a:bodyPr wrap="none" lIns="0" rIns="0" tIns="0" bIns="0">
            <a:spAutoFit/>
          </a:bodyPr>
          <a:lstStyle/>
          <a:p>
            <a:pPr>
              <a:lnSpc>
                <a:spcPts val="1844"/>
              </a:lnSpc>
              <a:spcBef>
                <a:spcPts val="0"/>
              </a:spcBef>
              <a:spcAft>
                <a:spcPts val="0"/>
              </a:spcAft>
              <a:defRPr sz="1550" b="0">
                <a:solidFill>
                  <a:srgbClr val="173A42"/>
                </a:solidFill>
                <a:latin typeface="DejaVu Sans"/>
              </a:defRPr>
            </a:pPr>
            <a:r>
              <a:t>Optional Idempotency-Key</a:t>
            </a:r>
          </a:p>
        </p:txBody>
      </p:sp>
      <p:sp>
        <p:nvSpPr>
          <p:cNvPr id="17" name="Rectangle 16"/>
          <p:cNvSpPr/>
          <p:nvPr/>
        </p:nvSpPr>
        <p:spPr>
          <a:xfrm>
            <a:off x="660400" y="3782060"/>
            <a:ext cx="10871200" cy="6146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5500" y="3934460"/>
            <a:ext cx="2159000" cy="436880"/>
          </a:xfrm>
          <a:prstGeom prst="rect">
            <a:avLst/>
          </a:prstGeom>
          <a:noFill/>
        </p:spPr>
        <p:txBody>
          <a:bodyPr wrap="none" lIns="0" rIns="0" tIns="0" bIns="0">
            <a:spAutoFit/>
          </a:bodyPr>
          <a:lstStyle/>
          <a:p>
            <a:pPr>
              <a:lnSpc>
                <a:spcPts val="1844"/>
              </a:lnSpc>
              <a:spcBef>
                <a:spcPts val="0"/>
              </a:spcBef>
              <a:spcAft>
                <a:spcPts val="0"/>
              </a:spcAft>
              <a:defRPr sz="1550" b="1">
                <a:solidFill>
                  <a:srgbClr val="008C7B"/>
                </a:solidFill>
                <a:latin typeface="DejaVu Sans"/>
              </a:defRPr>
            </a:pPr>
            <a:r>
              <a:t>GET</a:t>
            </a:r>
          </a:p>
          <a:p>
            <a:pPr>
              <a:lnSpc>
                <a:spcPts val="1844"/>
              </a:lnSpc>
              <a:spcBef>
                <a:spcPts val="0"/>
              </a:spcBef>
              <a:spcAft>
                <a:spcPts val="0"/>
              </a:spcAft>
              <a:defRPr sz="1550" b="1">
                <a:solidFill>
                  <a:srgbClr val="008C7B"/>
                </a:solidFill>
                <a:latin typeface="DejaVu Sans"/>
              </a:defRPr>
            </a:pPr>
            <a:r>
              <a:t>/env/{id}/status</a:t>
            </a:r>
          </a:p>
        </p:txBody>
      </p:sp>
      <p:sp>
        <p:nvSpPr>
          <p:cNvPr id="19" name="TextBox 18"/>
          <p:cNvSpPr txBox="1"/>
          <p:nvPr/>
        </p:nvSpPr>
        <p:spPr>
          <a:xfrm>
            <a:off x="3302000" y="3934460"/>
            <a:ext cx="3746500" cy="436880"/>
          </a:xfrm>
          <a:prstGeom prst="rect">
            <a:avLst/>
          </a:prstGeom>
          <a:noFill/>
        </p:spPr>
        <p:txBody>
          <a:bodyPr wrap="none" lIns="0" rIns="0" tIns="0" bIns="0">
            <a:spAutoFit/>
          </a:bodyPr>
          <a:lstStyle/>
          <a:p>
            <a:pPr>
              <a:lnSpc>
                <a:spcPts val="1844"/>
              </a:lnSpc>
              <a:spcBef>
                <a:spcPts val="0"/>
              </a:spcBef>
              <a:spcAft>
                <a:spcPts val="0"/>
              </a:spcAft>
              <a:defRPr sz="1550" b="0">
                <a:solidFill>
                  <a:srgbClr val="173A42"/>
                </a:solidFill>
                <a:latin typeface="DejaVu Sans"/>
              </a:defRPr>
            </a:pPr>
            <a:r>
              <a:t>200: {state}</a:t>
            </a:r>
          </a:p>
        </p:txBody>
      </p:sp>
      <p:sp>
        <p:nvSpPr>
          <p:cNvPr id="20" name="TextBox 19"/>
          <p:cNvSpPr txBox="1"/>
          <p:nvPr/>
        </p:nvSpPr>
        <p:spPr>
          <a:xfrm>
            <a:off x="7366000" y="3934460"/>
            <a:ext cx="4013200" cy="436880"/>
          </a:xfrm>
          <a:prstGeom prst="rect">
            <a:avLst/>
          </a:prstGeom>
          <a:noFill/>
        </p:spPr>
        <p:txBody>
          <a:bodyPr wrap="none" lIns="0" rIns="0" tIns="0" bIns="0">
            <a:spAutoFit/>
          </a:bodyPr>
          <a:lstStyle/>
          <a:p>
            <a:pPr>
              <a:lnSpc>
                <a:spcPts val="1844"/>
              </a:lnSpc>
              <a:spcBef>
                <a:spcPts val="0"/>
              </a:spcBef>
              <a:spcAft>
                <a:spcPts val="0"/>
              </a:spcAft>
              <a:defRPr sz="1550" b="0">
                <a:solidFill>
                  <a:srgbClr val="173A42"/>
                </a:solidFill>
                <a:latin typeface="DejaVu Sans"/>
              </a:defRPr>
            </a:pPr>
            <a:r>
              <a:t>running / ended / unavailable</a:t>
            </a:r>
          </a:p>
        </p:txBody>
      </p:sp>
      <p:sp>
        <p:nvSpPr>
          <p:cNvPr id="21" name="Rectangle 20"/>
          <p:cNvSpPr/>
          <p:nvPr/>
        </p:nvSpPr>
        <p:spPr>
          <a:xfrm>
            <a:off x="660400" y="4396740"/>
            <a:ext cx="10871200" cy="614680"/>
          </a:xfrm>
          <a:prstGeom prst="rect">
            <a:avLst/>
          </a:prstGeom>
          <a:solidFill>
            <a:srgbClr val="EDF3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5500" y="4549140"/>
            <a:ext cx="2159000" cy="436880"/>
          </a:xfrm>
          <a:prstGeom prst="rect">
            <a:avLst/>
          </a:prstGeom>
          <a:noFill/>
        </p:spPr>
        <p:txBody>
          <a:bodyPr wrap="none" lIns="0" rIns="0" tIns="0" bIns="0">
            <a:spAutoFit/>
          </a:bodyPr>
          <a:lstStyle/>
          <a:p>
            <a:pPr>
              <a:lnSpc>
                <a:spcPts val="1844"/>
              </a:lnSpc>
              <a:spcBef>
                <a:spcPts val="0"/>
              </a:spcBef>
              <a:spcAft>
                <a:spcPts val="0"/>
              </a:spcAft>
              <a:defRPr sz="1550" b="1">
                <a:solidFill>
                  <a:srgbClr val="008C7B"/>
                </a:solidFill>
                <a:latin typeface="DejaVu Sans"/>
              </a:defRPr>
            </a:pPr>
            <a:r>
              <a:t>GET</a:t>
            </a:r>
          </a:p>
          <a:p>
            <a:pPr>
              <a:lnSpc>
                <a:spcPts val="1844"/>
              </a:lnSpc>
              <a:spcBef>
                <a:spcPts val="0"/>
              </a:spcBef>
              <a:spcAft>
                <a:spcPts val="0"/>
              </a:spcAft>
              <a:defRPr sz="1550" b="1">
                <a:solidFill>
                  <a:srgbClr val="008C7B"/>
                </a:solidFill>
                <a:latin typeface="DejaVu Sans"/>
              </a:defRPr>
            </a:pPr>
            <a:r>
              <a:t>/env/{id}/result</a:t>
            </a:r>
          </a:p>
        </p:txBody>
      </p:sp>
      <p:sp>
        <p:nvSpPr>
          <p:cNvPr id="23" name="TextBox 22"/>
          <p:cNvSpPr txBox="1"/>
          <p:nvPr/>
        </p:nvSpPr>
        <p:spPr>
          <a:xfrm>
            <a:off x="3302000" y="4549140"/>
            <a:ext cx="3746500" cy="436880"/>
          </a:xfrm>
          <a:prstGeom prst="rect">
            <a:avLst/>
          </a:prstGeom>
          <a:noFill/>
        </p:spPr>
        <p:txBody>
          <a:bodyPr wrap="none" lIns="0" rIns="0" tIns="0" bIns="0">
            <a:spAutoFit/>
          </a:bodyPr>
          <a:lstStyle/>
          <a:p>
            <a:pPr>
              <a:lnSpc>
                <a:spcPts val="1844"/>
              </a:lnSpc>
              <a:spcBef>
                <a:spcPts val="0"/>
              </a:spcBef>
              <a:spcAft>
                <a:spcPts val="0"/>
              </a:spcAft>
              <a:defRPr sz="1550" b="0">
                <a:solidFill>
                  <a:srgbClr val="173A42"/>
                </a:solidFill>
                <a:latin typeface="DejaVu Sans"/>
              </a:defRPr>
            </a:pPr>
            <a:r>
              <a:t>200: terminal summary</a:t>
            </a:r>
          </a:p>
        </p:txBody>
      </p:sp>
      <p:sp>
        <p:nvSpPr>
          <p:cNvPr id="24" name="TextBox 23"/>
          <p:cNvSpPr txBox="1"/>
          <p:nvPr/>
        </p:nvSpPr>
        <p:spPr>
          <a:xfrm>
            <a:off x="7366000" y="4549140"/>
            <a:ext cx="4013200" cy="436880"/>
          </a:xfrm>
          <a:prstGeom prst="rect">
            <a:avLst/>
          </a:prstGeom>
          <a:noFill/>
        </p:spPr>
        <p:txBody>
          <a:bodyPr wrap="none" lIns="0" rIns="0" tIns="0" bIns="0">
            <a:spAutoFit/>
          </a:bodyPr>
          <a:lstStyle/>
          <a:p>
            <a:pPr>
              <a:lnSpc>
                <a:spcPts val="1844"/>
              </a:lnSpc>
              <a:spcBef>
                <a:spcPts val="0"/>
              </a:spcBef>
              <a:spcAft>
                <a:spcPts val="0"/>
              </a:spcAft>
              <a:defRPr sz="1550" b="0">
                <a:solidFill>
                  <a:srgbClr val="173A42"/>
                </a:solidFill>
                <a:latin typeface="DejaVu Sans"/>
              </a:defRPr>
            </a:pPr>
            <a:r>
              <a:t>409 while running</a:t>
            </a:r>
          </a:p>
        </p:txBody>
      </p:sp>
      <p:sp>
        <p:nvSpPr>
          <p:cNvPr id="25" name="Rectangle 24"/>
          <p:cNvSpPr/>
          <p:nvPr/>
        </p:nvSpPr>
        <p:spPr>
          <a:xfrm>
            <a:off x="660400" y="5011420"/>
            <a:ext cx="10871200" cy="6146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25500" y="5163820"/>
            <a:ext cx="2159000" cy="436880"/>
          </a:xfrm>
          <a:prstGeom prst="rect">
            <a:avLst/>
          </a:prstGeom>
          <a:noFill/>
        </p:spPr>
        <p:txBody>
          <a:bodyPr wrap="none" lIns="0" rIns="0" tIns="0" bIns="0">
            <a:spAutoFit/>
          </a:bodyPr>
          <a:lstStyle/>
          <a:p>
            <a:pPr>
              <a:lnSpc>
                <a:spcPts val="1844"/>
              </a:lnSpc>
              <a:spcBef>
                <a:spcPts val="0"/>
              </a:spcBef>
              <a:spcAft>
                <a:spcPts val="0"/>
              </a:spcAft>
              <a:defRPr sz="1550" b="1">
                <a:solidFill>
                  <a:srgbClr val="008C7B"/>
                </a:solidFill>
                <a:latin typeface="DejaVu Sans"/>
              </a:defRPr>
            </a:pPr>
            <a:r>
              <a:t>DELETE /env/{id}</a:t>
            </a:r>
          </a:p>
        </p:txBody>
      </p:sp>
      <p:sp>
        <p:nvSpPr>
          <p:cNvPr id="27" name="TextBox 26"/>
          <p:cNvSpPr txBox="1"/>
          <p:nvPr/>
        </p:nvSpPr>
        <p:spPr>
          <a:xfrm>
            <a:off x="3302000" y="5163820"/>
            <a:ext cx="3746500" cy="436880"/>
          </a:xfrm>
          <a:prstGeom prst="rect">
            <a:avLst/>
          </a:prstGeom>
          <a:noFill/>
        </p:spPr>
        <p:txBody>
          <a:bodyPr wrap="none" lIns="0" rIns="0" tIns="0" bIns="0">
            <a:spAutoFit/>
          </a:bodyPr>
          <a:lstStyle/>
          <a:p>
            <a:pPr>
              <a:lnSpc>
                <a:spcPts val="1844"/>
              </a:lnSpc>
              <a:spcBef>
                <a:spcPts val="0"/>
              </a:spcBef>
              <a:spcAft>
                <a:spcPts val="0"/>
              </a:spcAft>
              <a:defRPr sz="1550" b="0">
                <a:solidFill>
                  <a:srgbClr val="173A42"/>
                </a:solidFill>
                <a:latin typeface="DejaVu Sans"/>
              </a:defRPr>
            </a:pPr>
            <a:r>
              <a:t>204: empty response</a:t>
            </a:r>
          </a:p>
        </p:txBody>
      </p:sp>
      <p:sp>
        <p:nvSpPr>
          <p:cNvPr id="28" name="TextBox 27"/>
          <p:cNvSpPr txBox="1"/>
          <p:nvPr/>
        </p:nvSpPr>
        <p:spPr>
          <a:xfrm>
            <a:off x="7366000" y="5163820"/>
            <a:ext cx="4013200" cy="436880"/>
          </a:xfrm>
          <a:prstGeom prst="rect">
            <a:avLst/>
          </a:prstGeom>
          <a:noFill/>
        </p:spPr>
        <p:txBody>
          <a:bodyPr wrap="none" lIns="0" rIns="0" tIns="0" bIns="0">
            <a:spAutoFit/>
          </a:bodyPr>
          <a:lstStyle/>
          <a:p>
            <a:pPr>
              <a:lnSpc>
                <a:spcPts val="1844"/>
              </a:lnSpc>
              <a:spcBef>
                <a:spcPts val="0"/>
              </a:spcBef>
              <a:spcAft>
                <a:spcPts val="0"/>
              </a:spcAft>
              <a:defRPr sz="1550" b="0">
                <a:solidFill>
                  <a:srgbClr val="173A42"/>
                </a:solidFill>
                <a:latin typeface="DejaVu Sans"/>
              </a:defRPr>
            </a:pPr>
            <a:r>
              <a:t>Idempotent cleanup</a:t>
            </a:r>
          </a:p>
        </p:txBody>
      </p:sp>
      <p:sp>
        <p:nvSpPr>
          <p:cNvPr id="29" name="Rounded Rectangle 28"/>
          <p:cNvSpPr/>
          <p:nvPr/>
        </p:nvSpPr>
        <p:spPr>
          <a:xfrm>
            <a:off x="660400" y="5842000"/>
            <a:ext cx="10871200" cy="546100"/>
          </a:xfrm>
          <a:prstGeom prst="roundRect">
            <a:avLst>
              <a:gd name="adj" fmla="val 15000"/>
            </a:avLst>
          </a:prstGeom>
          <a:solidFill>
            <a:srgbClr val="E8F3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38200" y="5994400"/>
            <a:ext cx="10502900" cy="355600"/>
          </a:xfrm>
          <a:prstGeom prst="rect">
            <a:avLst/>
          </a:prstGeom>
          <a:noFill/>
        </p:spPr>
        <p:txBody>
          <a:bodyPr wrap="none" lIns="0" rIns="0" tIns="0" bIns="0">
            <a:spAutoFit/>
          </a:bodyPr>
          <a:lstStyle/>
          <a:p>
            <a:pPr>
              <a:lnSpc>
                <a:spcPts val="1380"/>
              </a:lnSpc>
              <a:spcBef>
                <a:spcPts val="0"/>
              </a:spcBef>
              <a:spcAft>
                <a:spcPts val="0"/>
              </a:spcAft>
              <a:defRPr sz="1200" b="1">
                <a:solidFill>
                  <a:srgbClr val="173A42"/>
                </a:solidFill>
                <a:latin typeface="DejaVu Sans"/>
              </a:defRPr>
            </a:pPr>
            <a:r>
              <a:t>The final accepted action can return 200 with state ended. Later actions are rejected.</a:t>
            </a:r>
          </a:p>
        </p:txBody>
      </p:sp>
      <p:cxnSp>
        <p:nvCxnSpPr>
          <p:cNvPr id="31" name="Connector 30"/>
          <p:cNvCxnSpPr/>
          <p:nvPr/>
        </p:nvCxnSpPr>
        <p:spPr>
          <a:xfrm>
            <a:off x="660400" y="6565900"/>
            <a:ext cx="10871200" cy="0"/>
          </a:xfrm>
          <a:prstGeom prst="line">
            <a:avLst/>
          </a:prstGeom>
          <a:ln w="8255">
            <a:solidFill>
              <a:srgbClr val="DCE6E2"/>
            </a:solidFill>
          </a:ln>
        </p:spPr>
        <p:style>
          <a:lnRef idx="2">
            <a:schemeClr val="accent1"/>
          </a:lnRef>
          <a:fillRef idx="0">
            <a:schemeClr val="accent1"/>
          </a:fillRef>
          <a:effectRef idx="1">
            <a:schemeClr val="accent1"/>
          </a:effectRef>
          <a:fontRef idx="minor">
            <a:schemeClr val="tx1"/>
          </a:fontRef>
        </p:style>
      </p:cxnSp>
      <p:sp>
        <p:nvSpPr>
          <p:cNvPr id="32" name="TextBox 31"/>
          <p:cNvSpPr txBox="1"/>
          <p:nvPr/>
        </p:nvSpPr>
        <p:spPr>
          <a:xfrm>
            <a:off x="660400" y="6654800"/>
            <a:ext cx="8509000" cy="127000"/>
          </a:xfrm>
          <a:prstGeom prst="rect">
            <a:avLst/>
          </a:prstGeom>
          <a:noFill/>
        </p:spPr>
        <p:txBody>
          <a:bodyPr wrap="none" lIns="0" rIns="0" tIns="0" bIns="0">
            <a:spAutoFit/>
          </a:bodyPr>
          <a:lstStyle/>
          <a:p>
            <a:pPr>
              <a:lnSpc>
                <a:spcPts val="952"/>
              </a:lnSpc>
              <a:spcBef>
                <a:spcPts val="0"/>
              </a:spcBef>
              <a:spcAft>
                <a:spcPts val="0"/>
              </a:spcAft>
              <a:defRPr sz="750" b="0">
                <a:solidFill>
                  <a:srgbClr val="557079"/>
                </a:solidFill>
                <a:latin typeface="DejaVu Sans"/>
              </a:defRPr>
            </a:pPr>
            <a:r>
              <a:t>VENDING BENCH  /  PARTICIPANT BRIEFING</a:t>
            </a:r>
          </a:p>
        </p:txBody>
      </p:sp>
      <p:sp>
        <p:nvSpPr>
          <p:cNvPr id="33" name="TextBox 32"/>
          <p:cNvSpPr txBox="1"/>
          <p:nvPr/>
        </p:nvSpPr>
        <p:spPr>
          <a:xfrm>
            <a:off x="11188700" y="6642100"/>
            <a:ext cx="342900" cy="152400"/>
          </a:xfrm>
          <a:prstGeom prst="rect">
            <a:avLst/>
          </a:prstGeom>
          <a:noFill/>
        </p:spPr>
        <p:txBody>
          <a:bodyPr wrap="none" lIns="0" rIns="0" tIns="0" bIns="0">
            <a:spAutoFit/>
          </a:bodyPr>
          <a:lstStyle/>
          <a:p>
            <a:pPr>
              <a:lnSpc>
                <a:spcPts val="1143"/>
              </a:lnSpc>
              <a:spcBef>
                <a:spcPts val="0"/>
              </a:spcBef>
              <a:spcAft>
                <a:spcPts val="0"/>
              </a:spcAft>
              <a:defRPr sz="900" b="1">
                <a:solidFill>
                  <a:srgbClr val="008C7B"/>
                </a:solidFill>
                <a:latin typeface="DejaVu Sans"/>
              </a:defRPr>
            </a:pPr>
            <a: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5F8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60400" y="355600"/>
            <a:ext cx="10287000" cy="228600"/>
          </a:xfrm>
          <a:prstGeom prst="rect">
            <a:avLst/>
          </a:prstGeom>
          <a:noFill/>
        </p:spPr>
        <p:txBody>
          <a:bodyPr wrap="none" lIns="0" rIns="0" tIns="0" bIns="0">
            <a:spAutoFit/>
          </a:bodyPr>
          <a:lstStyle/>
          <a:p>
            <a:pPr>
              <a:lnSpc>
                <a:spcPts val="1270"/>
              </a:lnSpc>
              <a:spcBef>
                <a:spcPts val="0"/>
              </a:spcBef>
              <a:spcAft>
                <a:spcPts val="0"/>
              </a:spcAft>
              <a:defRPr sz="1000" b="1">
                <a:solidFill>
                  <a:srgbClr val="008C7B"/>
                </a:solidFill>
                <a:latin typeface="DejaVu Sans"/>
              </a:defRPr>
            </a:pPr>
            <a:r>
              <a:t>REFERENCE / REQUEST SHAPES</a:t>
            </a:r>
          </a:p>
        </p:txBody>
      </p:sp>
      <p:sp>
        <p:nvSpPr>
          <p:cNvPr id="4" name="TextBox 3"/>
          <p:cNvSpPr txBox="1"/>
          <p:nvPr/>
        </p:nvSpPr>
        <p:spPr>
          <a:xfrm>
            <a:off x="660400" y="825500"/>
            <a:ext cx="10871200" cy="1143000"/>
          </a:xfrm>
          <a:prstGeom prst="rect">
            <a:avLst/>
          </a:prstGeom>
          <a:noFill/>
        </p:spPr>
        <p:txBody>
          <a:bodyPr wrap="none" lIns="0" rIns="0" tIns="0" bIns="0">
            <a:spAutoFit/>
          </a:bodyPr>
          <a:lstStyle/>
          <a:p>
            <a:pPr>
              <a:lnSpc>
                <a:spcPts val="3596"/>
              </a:lnSpc>
              <a:spcBef>
                <a:spcPts val="0"/>
              </a:spcBef>
              <a:spcAft>
                <a:spcPts val="0"/>
              </a:spcAft>
              <a:defRPr sz="3100" b="1">
                <a:solidFill>
                  <a:srgbClr val="173A42"/>
                </a:solidFill>
                <a:latin typeface="DejaVu Sans"/>
              </a:defRPr>
            </a:pPr>
            <a:r>
              <a:t>Use the exact schemas. Money is integer cents.</a:t>
            </a:r>
          </a:p>
        </p:txBody>
      </p:sp>
      <p:sp>
        <p:nvSpPr>
          <p:cNvPr id="5" name="Rounded Rectangle 4"/>
          <p:cNvSpPr/>
          <p:nvPr/>
        </p:nvSpPr>
        <p:spPr>
          <a:xfrm>
            <a:off x="660400" y="2120900"/>
            <a:ext cx="10871200" cy="431800"/>
          </a:xfrm>
          <a:prstGeom prst="roundRect">
            <a:avLst>
              <a:gd name="adj" fmla="val 14705"/>
            </a:avLst>
          </a:prstGeom>
          <a:solidFill>
            <a:srgbClr val="173A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5500" y="2247900"/>
            <a:ext cx="2476500" cy="228600"/>
          </a:xfrm>
          <a:prstGeom prst="rect">
            <a:avLst/>
          </a:prstGeom>
          <a:noFill/>
        </p:spPr>
        <p:txBody>
          <a:bodyPr wrap="none" lIns="0" rIns="0" tIns="0" bIns="0">
            <a:spAutoFit/>
          </a:bodyPr>
          <a:lstStyle/>
          <a:p>
            <a:pPr>
              <a:lnSpc>
                <a:spcPts val="1524"/>
              </a:lnSpc>
              <a:spcBef>
                <a:spcPts val="0"/>
              </a:spcBef>
              <a:spcAft>
                <a:spcPts val="0"/>
              </a:spcAft>
              <a:defRPr sz="1200" b="1">
                <a:solidFill>
                  <a:srgbClr val="FFFFFF"/>
                </a:solidFill>
                <a:latin typeface="DejaVu Sans"/>
              </a:defRPr>
            </a:pPr>
            <a:r>
              <a:t>ACTION</a:t>
            </a:r>
          </a:p>
        </p:txBody>
      </p:sp>
      <p:sp>
        <p:nvSpPr>
          <p:cNvPr id="7" name="TextBox 6"/>
          <p:cNvSpPr txBox="1"/>
          <p:nvPr/>
        </p:nvSpPr>
        <p:spPr>
          <a:xfrm>
            <a:off x="3619500" y="2247900"/>
            <a:ext cx="7759700" cy="228600"/>
          </a:xfrm>
          <a:prstGeom prst="rect">
            <a:avLst/>
          </a:prstGeom>
          <a:noFill/>
        </p:spPr>
        <p:txBody>
          <a:bodyPr wrap="none" lIns="0" rIns="0" tIns="0" bIns="0">
            <a:spAutoFit/>
          </a:bodyPr>
          <a:lstStyle/>
          <a:p>
            <a:pPr>
              <a:lnSpc>
                <a:spcPts val="1524"/>
              </a:lnSpc>
              <a:spcBef>
                <a:spcPts val="0"/>
              </a:spcBef>
              <a:spcAft>
                <a:spcPts val="0"/>
              </a:spcAft>
              <a:defRPr sz="1200" b="1">
                <a:solidFill>
                  <a:srgbClr val="FFFFFF"/>
                </a:solidFill>
                <a:latin typeface="DejaVu Sans"/>
              </a:defRPr>
            </a:pPr>
            <a:r>
              <a:t>PAYLOAD</a:t>
            </a:r>
          </a:p>
        </p:txBody>
      </p:sp>
      <p:sp>
        <p:nvSpPr>
          <p:cNvPr id="8" name="Rectangle 7"/>
          <p:cNvSpPr/>
          <p:nvPr/>
        </p:nvSpPr>
        <p:spPr>
          <a:xfrm>
            <a:off x="660400" y="2552700"/>
            <a:ext cx="10871200" cy="512233"/>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5500" y="2705100"/>
            <a:ext cx="2476500" cy="334433"/>
          </a:xfrm>
          <a:prstGeom prst="rect">
            <a:avLst/>
          </a:prstGeom>
          <a:noFill/>
        </p:spPr>
        <p:txBody>
          <a:bodyPr wrap="none" lIns="0" rIns="0" tIns="0" bIns="0">
            <a:spAutoFit/>
          </a:bodyPr>
          <a:lstStyle/>
          <a:p>
            <a:pPr>
              <a:lnSpc>
                <a:spcPts val="1844"/>
              </a:lnSpc>
              <a:spcBef>
                <a:spcPts val="0"/>
              </a:spcBef>
              <a:spcAft>
                <a:spcPts val="0"/>
              </a:spcAft>
              <a:defRPr sz="1550" b="1">
                <a:solidFill>
                  <a:srgbClr val="008C7B"/>
                </a:solidFill>
                <a:latin typeface="DejaVu Sans"/>
              </a:defRPr>
            </a:pPr>
            <a:r>
              <a:t>make_offer</a:t>
            </a:r>
          </a:p>
        </p:txBody>
      </p:sp>
      <p:sp>
        <p:nvSpPr>
          <p:cNvPr id="10" name="TextBox 9"/>
          <p:cNvSpPr txBox="1"/>
          <p:nvPr/>
        </p:nvSpPr>
        <p:spPr>
          <a:xfrm>
            <a:off x="3619500" y="2705100"/>
            <a:ext cx="7759700" cy="334433"/>
          </a:xfrm>
          <a:prstGeom prst="rect">
            <a:avLst/>
          </a:prstGeom>
          <a:noFill/>
        </p:spPr>
        <p:txBody>
          <a:bodyPr wrap="none" lIns="0" rIns="0" tIns="0" bIns="0">
            <a:spAutoFit/>
          </a:bodyPr>
          <a:lstStyle/>
          <a:p>
            <a:pPr>
              <a:lnSpc>
                <a:spcPts val="1844"/>
              </a:lnSpc>
              <a:spcBef>
                <a:spcPts val="0"/>
              </a:spcBef>
              <a:spcAft>
                <a:spcPts val="0"/>
              </a:spcAft>
              <a:defRPr sz="1550" b="0">
                <a:solidFill>
                  <a:srgbClr val="173A42"/>
                </a:solidFill>
                <a:latin typeface="DejaVu Sans"/>
              </a:defRPr>
            </a:pPr>
            <a:r>
              <a:t>supplier_id, product_id, quantity, unit_price_cents</a:t>
            </a:r>
          </a:p>
        </p:txBody>
      </p:sp>
      <p:sp>
        <p:nvSpPr>
          <p:cNvPr id="11" name="Rectangle 10"/>
          <p:cNvSpPr/>
          <p:nvPr/>
        </p:nvSpPr>
        <p:spPr>
          <a:xfrm>
            <a:off x="660400" y="3064933"/>
            <a:ext cx="10871200" cy="512233"/>
          </a:xfrm>
          <a:prstGeom prst="rect">
            <a:avLst/>
          </a:prstGeom>
          <a:solidFill>
            <a:srgbClr val="EDF3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5500" y="3217333"/>
            <a:ext cx="2476500" cy="334433"/>
          </a:xfrm>
          <a:prstGeom prst="rect">
            <a:avLst/>
          </a:prstGeom>
          <a:noFill/>
        </p:spPr>
        <p:txBody>
          <a:bodyPr wrap="none" lIns="0" rIns="0" tIns="0" bIns="0">
            <a:spAutoFit/>
          </a:bodyPr>
          <a:lstStyle/>
          <a:p>
            <a:pPr>
              <a:lnSpc>
                <a:spcPts val="1844"/>
              </a:lnSpc>
              <a:spcBef>
                <a:spcPts val="0"/>
              </a:spcBef>
              <a:spcAft>
                <a:spcPts val="0"/>
              </a:spcAft>
              <a:defRPr sz="1550" b="1">
                <a:solidFill>
                  <a:srgbClr val="008C7B"/>
                </a:solidFill>
                <a:latin typeface="DejaVu Sans"/>
              </a:defRPr>
            </a:pPr>
            <a:r>
              <a:t>set_price</a:t>
            </a:r>
          </a:p>
        </p:txBody>
      </p:sp>
      <p:sp>
        <p:nvSpPr>
          <p:cNvPr id="13" name="TextBox 12"/>
          <p:cNvSpPr txBox="1"/>
          <p:nvPr/>
        </p:nvSpPr>
        <p:spPr>
          <a:xfrm>
            <a:off x="3619500" y="3217333"/>
            <a:ext cx="7759700" cy="334433"/>
          </a:xfrm>
          <a:prstGeom prst="rect">
            <a:avLst/>
          </a:prstGeom>
          <a:noFill/>
        </p:spPr>
        <p:txBody>
          <a:bodyPr wrap="none" lIns="0" rIns="0" tIns="0" bIns="0">
            <a:spAutoFit/>
          </a:bodyPr>
          <a:lstStyle/>
          <a:p>
            <a:pPr>
              <a:lnSpc>
                <a:spcPts val="1844"/>
              </a:lnSpc>
              <a:spcBef>
                <a:spcPts val="0"/>
              </a:spcBef>
              <a:spcAft>
                <a:spcPts val="0"/>
              </a:spcAft>
              <a:defRPr sz="1550" b="0">
                <a:solidFill>
                  <a:srgbClr val="173A42"/>
                </a:solidFill>
                <a:latin typeface="DejaVu Sans"/>
              </a:defRPr>
            </a:pPr>
            <a:r>
              <a:t>product_id, unit_price_cents</a:t>
            </a:r>
          </a:p>
        </p:txBody>
      </p:sp>
      <p:sp>
        <p:nvSpPr>
          <p:cNvPr id="14" name="Rectangle 13"/>
          <p:cNvSpPr/>
          <p:nvPr/>
        </p:nvSpPr>
        <p:spPr>
          <a:xfrm>
            <a:off x="660400" y="3577166"/>
            <a:ext cx="10871200" cy="512233"/>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25500" y="3729566"/>
            <a:ext cx="2476500" cy="334433"/>
          </a:xfrm>
          <a:prstGeom prst="rect">
            <a:avLst/>
          </a:prstGeom>
          <a:noFill/>
        </p:spPr>
        <p:txBody>
          <a:bodyPr wrap="none" lIns="0" rIns="0" tIns="0" bIns="0">
            <a:spAutoFit/>
          </a:bodyPr>
          <a:lstStyle/>
          <a:p>
            <a:pPr>
              <a:lnSpc>
                <a:spcPts val="1844"/>
              </a:lnSpc>
              <a:spcBef>
                <a:spcPts val="0"/>
              </a:spcBef>
              <a:spcAft>
                <a:spcPts val="0"/>
              </a:spcAft>
              <a:defRPr sz="1550" b="1">
                <a:solidFill>
                  <a:srgbClr val="008C7B"/>
                </a:solidFill>
                <a:latin typeface="DejaVu Sans"/>
              </a:defRPr>
            </a:pPr>
            <a:r>
              <a:t>stock_items</a:t>
            </a:r>
          </a:p>
        </p:txBody>
      </p:sp>
      <p:sp>
        <p:nvSpPr>
          <p:cNvPr id="16" name="TextBox 15"/>
          <p:cNvSpPr txBox="1"/>
          <p:nvPr/>
        </p:nvSpPr>
        <p:spPr>
          <a:xfrm>
            <a:off x="3619500" y="3729566"/>
            <a:ext cx="7759700" cy="334433"/>
          </a:xfrm>
          <a:prstGeom prst="rect">
            <a:avLst/>
          </a:prstGeom>
          <a:noFill/>
        </p:spPr>
        <p:txBody>
          <a:bodyPr wrap="none" lIns="0" rIns="0" tIns="0" bIns="0">
            <a:spAutoFit/>
          </a:bodyPr>
          <a:lstStyle/>
          <a:p>
            <a:pPr>
              <a:lnSpc>
                <a:spcPts val="1844"/>
              </a:lnSpc>
              <a:spcBef>
                <a:spcPts val="0"/>
              </a:spcBef>
              <a:spcAft>
                <a:spcPts val="0"/>
              </a:spcAft>
              <a:defRPr sz="1550" b="0">
                <a:solidFill>
                  <a:srgbClr val="173A42"/>
                </a:solidFill>
                <a:latin typeface="DejaVu Sans"/>
              </a:defRPr>
            </a:pPr>
            <a:r>
              <a:t>slot_id, product_id, quantity</a:t>
            </a:r>
          </a:p>
        </p:txBody>
      </p:sp>
      <p:sp>
        <p:nvSpPr>
          <p:cNvPr id="17" name="Rectangle 16"/>
          <p:cNvSpPr/>
          <p:nvPr/>
        </p:nvSpPr>
        <p:spPr>
          <a:xfrm>
            <a:off x="660400" y="4089400"/>
            <a:ext cx="10871200" cy="512233"/>
          </a:xfrm>
          <a:prstGeom prst="rect">
            <a:avLst/>
          </a:prstGeom>
          <a:solidFill>
            <a:srgbClr val="EDF3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5500" y="4241800"/>
            <a:ext cx="2476500" cy="334433"/>
          </a:xfrm>
          <a:prstGeom prst="rect">
            <a:avLst/>
          </a:prstGeom>
          <a:noFill/>
        </p:spPr>
        <p:txBody>
          <a:bodyPr wrap="none" lIns="0" rIns="0" tIns="0" bIns="0">
            <a:spAutoFit/>
          </a:bodyPr>
          <a:lstStyle/>
          <a:p>
            <a:pPr>
              <a:lnSpc>
                <a:spcPts val="1844"/>
              </a:lnSpc>
              <a:spcBef>
                <a:spcPts val="0"/>
              </a:spcBef>
              <a:spcAft>
                <a:spcPts val="0"/>
              </a:spcAft>
              <a:defRPr sz="1550" b="1">
                <a:solidFill>
                  <a:srgbClr val="008C7B"/>
                </a:solidFill>
                <a:latin typeface="DejaVu Sans"/>
              </a:defRPr>
            </a:pPr>
            <a:r>
              <a:t>unstock_items</a:t>
            </a:r>
          </a:p>
        </p:txBody>
      </p:sp>
      <p:sp>
        <p:nvSpPr>
          <p:cNvPr id="19" name="TextBox 18"/>
          <p:cNvSpPr txBox="1"/>
          <p:nvPr/>
        </p:nvSpPr>
        <p:spPr>
          <a:xfrm>
            <a:off x="3619500" y="4241800"/>
            <a:ext cx="7759700" cy="334433"/>
          </a:xfrm>
          <a:prstGeom prst="rect">
            <a:avLst/>
          </a:prstGeom>
          <a:noFill/>
        </p:spPr>
        <p:txBody>
          <a:bodyPr wrap="none" lIns="0" rIns="0" tIns="0" bIns="0">
            <a:spAutoFit/>
          </a:bodyPr>
          <a:lstStyle/>
          <a:p>
            <a:pPr>
              <a:lnSpc>
                <a:spcPts val="1844"/>
              </a:lnSpc>
              <a:spcBef>
                <a:spcPts val="0"/>
              </a:spcBef>
              <a:spcAft>
                <a:spcPts val="0"/>
              </a:spcAft>
              <a:defRPr sz="1550" b="0">
                <a:solidFill>
                  <a:srgbClr val="173A42"/>
                </a:solidFill>
                <a:latin typeface="DejaVu Sans"/>
              </a:defRPr>
            </a:pPr>
            <a:r>
              <a:t>slot_id, quantity</a:t>
            </a:r>
          </a:p>
        </p:txBody>
      </p:sp>
      <p:sp>
        <p:nvSpPr>
          <p:cNvPr id="20" name="Rectangle 19"/>
          <p:cNvSpPr/>
          <p:nvPr/>
        </p:nvSpPr>
        <p:spPr>
          <a:xfrm>
            <a:off x="660400" y="4601633"/>
            <a:ext cx="10871200" cy="512233"/>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5500" y="4754033"/>
            <a:ext cx="2476500" cy="334433"/>
          </a:xfrm>
          <a:prstGeom prst="rect">
            <a:avLst/>
          </a:prstGeom>
          <a:noFill/>
        </p:spPr>
        <p:txBody>
          <a:bodyPr wrap="none" lIns="0" rIns="0" tIns="0" bIns="0">
            <a:spAutoFit/>
          </a:bodyPr>
          <a:lstStyle/>
          <a:p>
            <a:pPr>
              <a:lnSpc>
                <a:spcPts val="1844"/>
              </a:lnSpc>
              <a:spcBef>
                <a:spcPts val="0"/>
              </a:spcBef>
              <a:spcAft>
                <a:spcPts val="0"/>
              </a:spcAft>
              <a:defRPr sz="1550" b="1">
                <a:solidFill>
                  <a:srgbClr val="008C7B"/>
                </a:solidFill>
                <a:latin typeface="DejaVu Sans"/>
              </a:defRPr>
            </a:pPr>
            <a:r>
              <a:t>search_products</a:t>
            </a:r>
          </a:p>
        </p:txBody>
      </p:sp>
      <p:sp>
        <p:nvSpPr>
          <p:cNvPr id="22" name="TextBox 21"/>
          <p:cNvSpPr txBox="1"/>
          <p:nvPr/>
        </p:nvSpPr>
        <p:spPr>
          <a:xfrm>
            <a:off x="3619500" y="4754033"/>
            <a:ext cx="7759700" cy="334433"/>
          </a:xfrm>
          <a:prstGeom prst="rect">
            <a:avLst/>
          </a:prstGeom>
          <a:noFill/>
        </p:spPr>
        <p:txBody>
          <a:bodyPr wrap="none" lIns="0" rIns="0" tIns="0" bIns="0">
            <a:spAutoFit/>
          </a:bodyPr>
          <a:lstStyle/>
          <a:p>
            <a:pPr>
              <a:lnSpc>
                <a:spcPts val="1844"/>
              </a:lnSpc>
              <a:spcBef>
                <a:spcPts val="0"/>
              </a:spcBef>
              <a:spcAft>
                <a:spcPts val="0"/>
              </a:spcAft>
              <a:defRPr sz="1550" b="0">
                <a:solidFill>
                  <a:srgbClr val="173A42"/>
                </a:solidFill>
                <a:latin typeface="DejaVu Sans"/>
              </a:defRPr>
            </a:pPr>
            <a:r>
              <a:t>Optional product_id</a:t>
            </a:r>
          </a:p>
        </p:txBody>
      </p:sp>
      <p:sp>
        <p:nvSpPr>
          <p:cNvPr id="23" name="Rectangle 22"/>
          <p:cNvSpPr/>
          <p:nvPr/>
        </p:nvSpPr>
        <p:spPr>
          <a:xfrm>
            <a:off x="660400" y="5113866"/>
            <a:ext cx="10871200" cy="512233"/>
          </a:xfrm>
          <a:prstGeom prst="rect">
            <a:avLst/>
          </a:prstGeom>
          <a:solidFill>
            <a:srgbClr val="EDF3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25500" y="5266266"/>
            <a:ext cx="2476500" cy="334433"/>
          </a:xfrm>
          <a:prstGeom prst="rect">
            <a:avLst/>
          </a:prstGeom>
          <a:noFill/>
        </p:spPr>
        <p:txBody>
          <a:bodyPr wrap="none" lIns="0" rIns="0" tIns="0" bIns="0">
            <a:spAutoFit/>
          </a:bodyPr>
          <a:lstStyle/>
          <a:p>
            <a:pPr>
              <a:lnSpc>
                <a:spcPts val="1844"/>
              </a:lnSpc>
              <a:spcBef>
                <a:spcPts val="0"/>
              </a:spcBef>
              <a:spcAft>
                <a:spcPts val="0"/>
              </a:spcAft>
              <a:defRPr sz="1550" b="1">
                <a:solidFill>
                  <a:srgbClr val="008C7B"/>
                </a:solidFill>
                <a:latin typeface="DejaVu Sans"/>
              </a:defRPr>
            </a:pPr>
            <a:r>
              <a:t>Other listed actions</a:t>
            </a:r>
          </a:p>
        </p:txBody>
      </p:sp>
      <p:sp>
        <p:nvSpPr>
          <p:cNvPr id="25" name="TextBox 24"/>
          <p:cNvSpPr txBox="1"/>
          <p:nvPr/>
        </p:nvSpPr>
        <p:spPr>
          <a:xfrm>
            <a:off x="3619500" y="5266266"/>
            <a:ext cx="7759700" cy="334433"/>
          </a:xfrm>
          <a:prstGeom prst="rect">
            <a:avLst/>
          </a:prstGeom>
          <a:noFill/>
        </p:spPr>
        <p:txBody>
          <a:bodyPr wrap="none" lIns="0" rIns="0" tIns="0" bIns="0">
            <a:spAutoFit/>
          </a:bodyPr>
          <a:lstStyle/>
          <a:p>
            <a:pPr>
              <a:lnSpc>
                <a:spcPts val="1844"/>
              </a:lnSpc>
              <a:spcBef>
                <a:spcPts val="0"/>
              </a:spcBef>
              <a:spcAft>
                <a:spcPts val="0"/>
              </a:spcAft>
              <a:defRPr sz="1550" b="0">
                <a:solidFill>
                  <a:srgbClr val="173A42"/>
                </a:solidFill>
                <a:latin typeface="DejaVu Sans"/>
              </a:defRPr>
            </a:pPr>
            <a:r>
              <a:t>{}</a:t>
            </a:r>
          </a:p>
        </p:txBody>
      </p:sp>
      <p:sp>
        <p:nvSpPr>
          <p:cNvPr id="26" name="Rounded Rectangle 25"/>
          <p:cNvSpPr/>
          <p:nvPr/>
        </p:nvSpPr>
        <p:spPr>
          <a:xfrm>
            <a:off x="660400" y="5842000"/>
            <a:ext cx="10871200" cy="546100"/>
          </a:xfrm>
          <a:prstGeom prst="roundRect">
            <a:avLst>
              <a:gd name="adj" fmla="val 15000"/>
            </a:avLst>
          </a:prstGeom>
          <a:solidFill>
            <a:srgbClr val="E8F3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38200" y="5994400"/>
            <a:ext cx="10502900" cy="355600"/>
          </a:xfrm>
          <a:prstGeom prst="rect">
            <a:avLst/>
          </a:prstGeom>
          <a:noFill/>
        </p:spPr>
        <p:txBody>
          <a:bodyPr wrap="none" lIns="0" rIns="0" tIns="0" bIns="0">
            <a:spAutoFit/>
          </a:bodyPr>
          <a:lstStyle/>
          <a:p>
            <a:pPr>
              <a:lnSpc>
                <a:spcPts val="1380"/>
              </a:lnSpc>
              <a:spcBef>
                <a:spcPts val="0"/>
              </a:spcBef>
              <a:spcAft>
                <a:spcPts val="0"/>
              </a:spcAft>
              <a:defRPr sz="1200" b="1">
                <a:solidFill>
                  <a:srgbClr val="173A42"/>
                </a:solidFill>
                <a:latin typeface="DejaVu Sans"/>
              </a:defRPr>
            </a:pPr>
            <a:r>
              <a:t>Reject extra fields, fractional quantities, invalid IDs, and out-of-bounds prices locally.</a:t>
            </a:r>
          </a:p>
        </p:txBody>
      </p:sp>
      <p:cxnSp>
        <p:nvCxnSpPr>
          <p:cNvPr id="28" name="Connector 27"/>
          <p:cNvCxnSpPr/>
          <p:nvPr/>
        </p:nvCxnSpPr>
        <p:spPr>
          <a:xfrm>
            <a:off x="660400" y="6565900"/>
            <a:ext cx="10871200" cy="0"/>
          </a:xfrm>
          <a:prstGeom prst="line">
            <a:avLst/>
          </a:prstGeom>
          <a:ln w="8255">
            <a:solidFill>
              <a:srgbClr val="DCE6E2"/>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660400" y="6654800"/>
            <a:ext cx="8509000" cy="127000"/>
          </a:xfrm>
          <a:prstGeom prst="rect">
            <a:avLst/>
          </a:prstGeom>
          <a:noFill/>
        </p:spPr>
        <p:txBody>
          <a:bodyPr wrap="none" lIns="0" rIns="0" tIns="0" bIns="0">
            <a:spAutoFit/>
          </a:bodyPr>
          <a:lstStyle/>
          <a:p>
            <a:pPr>
              <a:lnSpc>
                <a:spcPts val="952"/>
              </a:lnSpc>
              <a:spcBef>
                <a:spcPts val="0"/>
              </a:spcBef>
              <a:spcAft>
                <a:spcPts val="0"/>
              </a:spcAft>
              <a:defRPr sz="750" b="0">
                <a:solidFill>
                  <a:srgbClr val="557079"/>
                </a:solidFill>
                <a:latin typeface="DejaVu Sans"/>
              </a:defRPr>
            </a:pPr>
            <a:r>
              <a:t>VENDING BENCH  /  PARTICIPANT BRIEFING</a:t>
            </a:r>
          </a:p>
        </p:txBody>
      </p:sp>
      <p:sp>
        <p:nvSpPr>
          <p:cNvPr id="30" name="TextBox 29"/>
          <p:cNvSpPr txBox="1"/>
          <p:nvPr/>
        </p:nvSpPr>
        <p:spPr>
          <a:xfrm>
            <a:off x="11188700" y="6642100"/>
            <a:ext cx="342900" cy="152400"/>
          </a:xfrm>
          <a:prstGeom prst="rect">
            <a:avLst/>
          </a:prstGeom>
          <a:noFill/>
        </p:spPr>
        <p:txBody>
          <a:bodyPr wrap="none" lIns="0" rIns="0" tIns="0" bIns="0">
            <a:spAutoFit/>
          </a:bodyPr>
          <a:lstStyle/>
          <a:p>
            <a:pPr>
              <a:lnSpc>
                <a:spcPts val="1143"/>
              </a:lnSpc>
              <a:spcBef>
                <a:spcPts val="0"/>
              </a:spcBef>
              <a:spcAft>
                <a:spcPts val="0"/>
              </a:spcAft>
              <a:defRPr sz="900" b="1">
                <a:solidFill>
                  <a:srgbClr val="008C7B"/>
                </a:solidFill>
                <a:latin typeface="DejaVu Sans"/>
              </a:defRPr>
            </a:pPr>
            <a: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5F8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60400" y="355600"/>
            <a:ext cx="10287000" cy="228600"/>
          </a:xfrm>
          <a:prstGeom prst="rect">
            <a:avLst/>
          </a:prstGeom>
          <a:noFill/>
        </p:spPr>
        <p:txBody>
          <a:bodyPr wrap="none" lIns="0" rIns="0" tIns="0" bIns="0">
            <a:spAutoFit/>
          </a:bodyPr>
          <a:lstStyle/>
          <a:p>
            <a:pPr>
              <a:lnSpc>
                <a:spcPts val="1270"/>
              </a:lnSpc>
              <a:spcBef>
                <a:spcPts val="0"/>
              </a:spcBef>
              <a:spcAft>
                <a:spcPts val="0"/>
              </a:spcAft>
              <a:defRPr sz="1000" b="1">
                <a:solidFill>
                  <a:srgbClr val="008C7B"/>
                </a:solidFill>
                <a:latin typeface="DejaVu Sans"/>
              </a:defRPr>
            </a:pPr>
            <a:r>
              <a:t>REFERENCE / ONE ACTION</a:t>
            </a:r>
          </a:p>
        </p:txBody>
      </p:sp>
      <p:sp>
        <p:nvSpPr>
          <p:cNvPr id="4" name="TextBox 3"/>
          <p:cNvSpPr txBox="1"/>
          <p:nvPr/>
        </p:nvSpPr>
        <p:spPr>
          <a:xfrm>
            <a:off x="660400" y="825500"/>
            <a:ext cx="10871200" cy="1143000"/>
          </a:xfrm>
          <a:prstGeom prst="rect">
            <a:avLst/>
          </a:prstGeom>
          <a:noFill/>
        </p:spPr>
        <p:txBody>
          <a:bodyPr wrap="none" lIns="0" rIns="0" tIns="0" bIns="0">
            <a:spAutoFit/>
          </a:bodyPr>
          <a:lstStyle/>
          <a:p>
            <a:pPr>
              <a:lnSpc>
                <a:spcPts val="3596"/>
              </a:lnSpc>
              <a:spcBef>
                <a:spcPts val="0"/>
              </a:spcBef>
              <a:spcAft>
                <a:spcPts val="0"/>
              </a:spcAft>
              <a:defRPr sz="3100" b="1">
                <a:solidFill>
                  <a:srgbClr val="173A42"/>
                </a:solidFill>
                <a:latin typeface="DejaVu Sans"/>
              </a:defRPr>
            </a:pPr>
            <a:r>
              <a:t>One validated request. One logged outcome.</a:t>
            </a:r>
          </a:p>
        </p:txBody>
      </p:sp>
      <p:sp>
        <p:nvSpPr>
          <p:cNvPr id="5" name="Rounded Rectangle 4"/>
          <p:cNvSpPr/>
          <p:nvPr/>
        </p:nvSpPr>
        <p:spPr>
          <a:xfrm>
            <a:off x="660400" y="2082800"/>
            <a:ext cx="5308600" cy="3543300"/>
          </a:xfrm>
          <a:prstGeom prst="roundRect">
            <a:avLst>
              <a:gd name="adj" fmla="val 3584"/>
            </a:avLst>
          </a:prstGeom>
          <a:solidFill>
            <a:srgbClr val="173A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89000" y="2311400"/>
            <a:ext cx="4826000" cy="241300"/>
          </a:xfrm>
          <a:prstGeom prst="rect">
            <a:avLst/>
          </a:prstGeom>
          <a:noFill/>
        </p:spPr>
        <p:txBody>
          <a:bodyPr wrap="none" lIns="0" rIns="0" tIns="0" bIns="0">
            <a:spAutoFit/>
          </a:bodyPr>
          <a:lstStyle/>
          <a:p>
            <a:pPr>
              <a:lnSpc>
                <a:spcPts val="1270"/>
              </a:lnSpc>
              <a:spcBef>
                <a:spcPts val="0"/>
              </a:spcBef>
              <a:spcAft>
                <a:spcPts val="0"/>
              </a:spcAft>
              <a:defRPr sz="1000" b="1">
                <a:solidFill>
                  <a:srgbClr val="CAEFA1"/>
                </a:solidFill>
                <a:latin typeface="DejaVu Sans"/>
              </a:defRPr>
            </a:pPr>
            <a:r>
              <a:t>REQUEST</a:t>
            </a:r>
          </a:p>
        </p:txBody>
      </p:sp>
      <p:sp>
        <p:nvSpPr>
          <p:cNvPr id="7" name="TextBox 6"/>
          <p:cNvSpPr txBox="1"/>
          <p:nvPr/>
        </p:nvSpPr>
        <p:spPr>
          <a:xfrm>
            <a:off x="889000" y="2730500"/>
            <a:ext cx="4851400" cy="2794000"/>
          </a:xfrm>
          <a:prstGeom prst="rect">
            <a:avLst/>
          </a:prstGeom>
          <a:noFill/>
        </p:spPr>
        <p:txBody>
          <a:bodyPr wrap="none" lIns="0" rIns="0" tIns="0" bIns="0">
            <a:spAutoFit/>
          </a:bodyPr>
          <a:lstStyle/>
          <a:p>
            <a:pPr>
              <a:lnSpc>
                <a:spcPts val="1849"/>
              </a:lnSpc>
              <a:spcBef>
                <a:spcPts val="0"/>
              </a:spcBef>
              <a:spcAft>
                <a:spcPts val="0"/>
              </a:spcAft>
              <a:defRPr sz="1350" b="0">
                <a:solidFill>
                  <a:srgbClr val="FFFFFF"/>
                </a:solidFill>
                <a:latin typeface="DejaVu Sans Mono"/>
              </a:defRPr>
            </a:pPr>
            <a:r>
              <a:t>POST /env/{env_id}/make_offer</a:t>
            </a:r>
          </a:p>
          <a:p>
            <a:pPr>
              <a:lnSpc>
                <a:spcPts val="1849"/>
              </a:lnSpc>
              <a:spcBef>
                <a:spcPts val="0"/>
              </a:spcBef>
              <a:spcAft>
                <a:spcPts val="0"/>
              </a:spcAft>
              <a:defRPr sz="1350" b="0">
                <a:solidFill>
                  <a:srgbClr val="FFFFFF"/>
                </a:solidFill>
                <a:latin typeface="DejaVu Sans Mono"/>
              </a:defRPr>
            </a:pPr>
            <a:r>
              <a:t>Idempotency-Key: purchase-0001</a:t>
            </a:r>
          </a:p>
          <a:p>
            <a:pPr>
              <a:lnSpc>
                <a:spcPts val="1849"/>
              </a:lnSpc>
              <a:spcBef>
                <a:spcPts val="0"/>
              </a:spcBef>
              <a:spcAft>
                <a:spcPts val="0"/>
              </a:spcAft>
              <a:defRPr sz="1350" b="0">
                <a:solidFill>
                  <a:srgbClr val="FFFFFF"/>
                </a:solidFill>
                <a:latin typeface="DejaVu Sans Mono"/>
              </a:defRPr>
            </a:pPr>
          </a:p>
          <a:p>
            <a:pPr>
              <a:lnSpc>
                <a:spcPts val="1849"/>
              </a:lnSpc>
              <a:spcBef>
                <a:spcPts val="0"/>
              </a:spcBef>
              <a:spcAft>
                <a:spcPts val="0"/>
              </a:spcAft>
              <a:defRPr sz="1350" b="0">
                <a:solidFill>
                  <a:srgbClr val="FFFFFF"/>
                </a:solidFill>
                <a:latin typeface="DejaVu Sans Mono"/>
              </a:defRPr>
            </a:pPr>
            <a:r>
              <a:t>{</a:t>
            </a:r>
          </a:p>
          <a:p>
            <a:pPr>
              <a:lnSpc>
                <a:spcPts val="1849"/>
              </a:lnSpc>
              <a:spcBef>
                <a:spcPts val="0"/>
              </a:spcBef>
              <a:spcAft>
                <a:spcPts val="0"/>
              </a:spcAft>
              <a:defRPr sz="1350" b="0">
                <a:solidFill>
                  <a:srgbClr val="FFFFFF"/>
                </a:solidFill>
                <a:latin typeface="DejaVu Sans Mono"/>
              </a:defRPr>
            </a:pPr>
            <a:r>
              <a:t>  "supplier_id": "s01",</a:t>
            </a:r>
          </a:p>
          <a:p>
            <a:pPr>
              <a:lnSpc>
                <a:spcPts val="1849"/>
              </a:lnSpc>
              <a:spcBef>
                <a:spcPts val="0"/>
              </a:spcBef>
              <a:spcAft>
                <a:spcPts val="0"/>
              </a:spcAft>
              <a:defRPr sz="1350" b="0">
                <a:solidFill>
                  <a:srgbClr val="FFFFFF"/>
                </a:solidFill>
                <a:latin typeface="DejaVu Sans Mono"/>
              </a:defRPr>
            </a:pPr>
            <a:r>
              <a:t>  "product_id": "p01",</a:t>
            </a:r>
          </a:p>
          <a:p>
            <a:pPr>
              <a:lnSpc>
                <a:spcPts val="1849"/>
              </a:lnSpc>
              <a:spcBef>
                <a:spcPts val="0"/>
              </a:spcBef>
              <a:spcAft>
                <a:spcPts val="0"/>
              </a:spcAft>
              <a:defRPr sz="1350" b="0">
                <a:solidFill>
                  <a:srgbClr val="FFFFFF"/>
                </a:solidFill>
                <a:latin typeface="DejaVu Sans Mono"/>
              </a:defRPr>
            </a:pPr>
            <a:r>
              <a:t>  "quantity": 10,</a:t>
            </a:r>
          </a:p>
          <a:p>
            <a:pPr>
              <a:lnSpc>
                <a:spcPts val="1849"/>
              </a:lnSpc>
              <a:spcBef>
                <a:spcPts val="0"/>
              </a:spcBef>
              <a:spcAft>
                <a:spcPts val="0"/>
              </a:spcAft>
              <a:defRPr sz="1350" b="0">
                <a:solidFill>
                  <a:srgbClr val="FFFFFF"/>
                </a:solidFill>
                <a:latin typeface="DejaVu Sans Mono"/>
              </a:defRPr>
            </a:pPr>
            <a:r>
              <a:t>  "unit_price_cents": 100</a:t>
            </a:r>
          </a:p>
          <a:p>
            <a:pPr>
              <a:lnSpc>
                <a:spcPts val="1849"/>
              </a:lnSpc>
              <a:spcBef>
                <a:spcPts val="0"/>
              </a:spcBef>
              <a:spcAft>
                <a:spcPts val="0"/>
              </a:spcAft>
              <a:defRPr sz="1350" b="0">
                <a:solidFill>
                  <a:srgbClr val="FFFFFF"/>
                </a:solidFill>
                <a:latin typeface="DejaVu Sans Mono"/>
              </a:defRPr>
            </a:pPr>
            <a:r>
              <a:t>}</a:t>
            </a:r>
          </a:p>
        </p:txBody>
      </p:sp>
      <p:sp>
        <p:nvSpPr>
          <p:cNvPr id="8" name="Rounded Rectangle 7"/>
          <p:cNvSpPr/>
          <p:nvPr/>
        </p:nvSpPr>
        <p:spPr>
          <a:xfrm>
            <a:off x="6223000" y="2082800"/>
            <a:ext cx="5308600" cy="3543300"/>
          </a:xfrm>
          <a:prstGeom prst="roundRect">
            <a:avLst>
              <a:gd name="adj" fmla="val 3584"/>
            </a:avLst>
          </a:prstGeom>
          <a:solidFill>
            <a:srgbClr val="173A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51600" y="2311400"/>
            <a:ext cx="4826000" cy="241300"/>
          </a:xfrm>
          <a:prstGeom prst="rect">
            <a:avLst/>
          </a:prstGeom>
          <a:noFill/>
        </p:spPr>
        <p:txBody>
          <a:bodyPr wrap="none" lIns="0" rIns="0" tIns="0" bIns="0">
            <a:spAutoFit/>
          </a:bodyPr>
          <a:lstStyle/>
          <a:p>
            <a:pPr>
              <a:lnSpc>
                <a:spcPts val="1270"/>
              </a:lnSpc>
              <a:spcBef>
                <a:spcPts val="0"/>
              </a:spcBef>
              <a:spcAft>
                <a:spcPts val="0"/>
              </a:spcAft>
              <a:defRPr sz="1000" b="1">
                <a:solidFill>
                  <a:srgbClr val="CAEFA1"/>
                </a:solidFill>
                <a:latin typeface="DejaVu Sans"/>
              </a:defRPr>
            </a:pPr>
            <a:r>
              <a:t>RESPONSE EXCERPT</a:t>
            </a:r>
          </a:p>
        </p:txBody>
      </p:sp>
      <p:sp>
        <p:nvSpPr>
          <p:cNvPr id="10" name="TextBox 9"/>
          <p:cNvSpPr txBox="1"/>
          <p:nvPr/>
        </p:nvSpPr>
        <p:spPr>
          <a:xfrm>
            <a:off x="6451600" y="2730500"/>
            <a:ext cx="4851400" cy="2794000"/>
          </a:xfrm>
          <a:prstGeom prst="rect">
            <a:avLst/>
          </a:prstGeom>
          <a:noFill/>
        </p:spPr>
        <p:txBody>
          <a:bodyPr wrap="none" lIns="0" rIns="0" tIns="0" bIns="0">
            <a:spAutoFit/>
          </a:bodyPr>
          <a:lstStyle/>
          <a:p>
            <a:pPr>
              <a:lnSpc>
                <a:spcPts val="1849"/>
              </a:lnSpc>
              <a:spcBef>
                <a:spcPts val="0"/>
              </a:spcBef>
              <a:spcAft>
                <a:spcPts val="0"/>
              </a:spcAft>
              <a:defRPr sz="1350" b="0">
                <a:solidFill>
                  <a:srgbClr val="FFFFFF"/>
                </a:solidFill>
                <a:latin typeface="DejaVu Sans Mono"/>
              </a:defRPr>
            </a:pPr>
            <a:r>
              <a:t>{</a:t>
            </a:r>
          </a:p>
          <a:p>
            <a:pPr>
              <a:lnSpc>
                <a:spcPts val="1849"/>
              </a:lnSpc>
              <a:spcBef>
                <a:spcPts val="0"/>
              </a:spcBef>
              <a:spcAft>
                <a:spcPts val="0"/>
              </a:spcAft>
              <a:defRPr sz="1350" b="0">
                <a:solidFill>
                  <a:srgbClr val="FFFFFF"/>
                </a:solidFill>
                <a:latin typeface="DejaVu Sans Mono"/>
              </a:defRPr>
            </a:pPr>
            <a:r>
              <a:t>  "state": "running",</a:t>
            </a:r>
          </a:p>
          <a:p>
            <a:pPr>
              <a:lnSpc>
                <a:spcPts val="1849"/>
              </a:lnSpc>
              <a:spcBef>
                <a:spcPts val="0"/>
              </a:spcBef>
              <a:spcAft>
                <a:spcPts val="0"/>
              </a:spcAft>
              <a:defRPr sz="1350" b="0">
                <a:solidFill>
                  <a:srgbClr val="FFFFFF"/>
                </a:solidFill>
                <a:latin typeface="DejaVu Sans Mono"/>
              </a:defRPr>
            </a:pPr>
            <a:r>
              <a:t>  "elapsed_minutes": 75,</a:t>
            </a:r>
          </a:p>
          <a:p>
            <a:pPr>
              <a:lnSpc>
                <a:spcPts val="1849"/>
              </a:lnSpc>
              <a:spcBef>
                <a:spcPts val="0"/>
              </a:spcBef>
              <a:spcAft>
                <a:spcPts val="0"/>
              </a:spcAft>
              <a:defRPr sz="1350" b="0">
                <a:solidFill>
                  <a:srgbClr val="FFFFFF"/>
                </a:solidFill>
                <a:latin typeface="DejaVu Sans Mono"/>
              </a:defRPr>
            </a:pPr>
            <a:r>
              <a:t>  "result": {</a:t>
            </a:r>
          </a:p>
          <a:p>
            <a:pPr>
              <a:lnSpc>
                <a:spcPts val="1849"/>
              </a:lnSpc>
              <a:spcBef>
                <a:spcPts val="0"/>
              </a:spcBef>
              <a:spcAft>
                <a:spcPts val="0"/>
              </a:spcAft>
              <a:defRPr sz="1350" b="0">
                <a:solidFill>
                  <a:srgbClr val="FFFFFF"/>
                </a:solidFill>
                <a:latin typeface="DejaVu Sans Mono"/>
              </a:defRPr>
            </a:pPr>
            <a:r>
              <a:t>    "outcome": "counteroffer",</a:t>
            </a:r>
          </a:p>
          <a:p>
            <a:pPr>
              <a:lnSpc>
                <a:spcPts val="1849"/>
              </a:lnSpc>
              <a:spcBef>
                <a:spcPts val="0"/>
              </a:spcBef>
              <a:spcAft>
                <a:spcPts val="0"/>
              </a:spcAft>
              <a:defRPr sz="1350" b="0">
                <a:solidFill>
                  <a:srgbClr val="FFFFFF"/>
                </a:solidFill>
                <a:latin typeface="DejaVu Sans Mono"/>
              </a:defRPr>
            </a:pPr>
            <a:r>
              <a:t>    "unit_price_cents": 110</a:t>
            </a:r>
          </a:p>
          <a:p>
            <a:pPr>
              <a:lnSpc>
                <a:spcPts val="1849"/>
              </a:lnSpc>
              <a:spcBef>
                <a:spcPts val="0"/>
              </a:spcBef>
              <a:spcAft>
                <a:spcPts val="0"/>
              </a:spcAft>
              <a:defRPr sz="1350" b="0">
                <a:solidFill>
                  <a:srgbClr val="FFFFFF"/>
                </a:solidFill>
                <a:latin typeface="DejaVu Sans Mono"/>
              </a:defRPr>
            </a:pPr>
            <a:r>
              <a:t>  }</a:t>
            </a:r>
          </a:p>
          <a:p>
            <a:pPr>
              <a:lnSpc>
                <a:spcPts val="1849"/>
              </a:lnSpc>
              <a:spcBef>
                <a:spcPts val="0"/>
              </a:spcBef>
              <a:spcAft>
                <a:spcPts val="0"/>
              </a:spcAft>
              <a:defRPr sz="1350" b="0">
                <a:solidFill>
                  <a:srgbClr val="FFFFFF"/>
                </a:solidFill>
                <a:latin typeface="DejaVu Sans Mono"/>
              </a:defRPr>
            </a:pPr>
            <a:r>
              <a:t>}</a:t>
            </a:r>
          </a:p>
        </p:txBody>
      </p:sp>
      <p:sp>
        <p:nvSpPr>
          <p:cNvPr id="11" name="Rounded Rectangle 10"/>
          <p:cNvSpPr/>
          <p:nvPr/>
        </p:nvSpPr>
        <p:spPr>
          <a:xfrm>
            <a:off x="660400" y="5842000"/>
            <a:ext cx="10871200" cy="546100"/>
          </a:xfrm>
          <a:prstGeom prst="roundRect">
            <a:avLst>
              <a:gd name="adj" fmla="val 15000"/>
            </a:avLst>
          </a:prstGeom>
          <a:solidFill>
            <a:srgbClr val="E8F3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38200" y="5994400"/>
            <a:ext cx="10502900" cy="355600"/>
          </a:xfrm>
          <a:prstGeom prst="rect">
            <a:avLst/>
          </a:prstGeom>
          <a:noFill/>
        </p:spPr>
        <p:txBody>
          <a:bodyPr wrap="none" lIns="0" rIns="0" tIns="0" bIns="0">
            <a:spAutoFit/>
          </a:bodyPr>
          <a:lstStyle/>
          <a:p>
            <a:pPr>
              <a:lnSpc>
                <a:spcPts val="1380"/>
              </a:lnSpc>
              <a:spcBef>
                <a:spcPts val="0"/>
              </a:spcBef>
              <a:spcAft>
                <a:spcPts val="0"/>
              </a:spcAft>
              <a:defRPr sz="1200" b="1">
                <a:solidFill>
                  <a:srgbClr val="173A42"/>
                </a:solidFill>
                <a:latin typeface="DejaVu Sans"/>
              </a:defRPr>
            </a:pPr>
            <a:r>
              <a:t>Illustrative response excerpt. A counteroffer moves no cash or goods.</a:t>
            </a:r>
          </a:p>
        </p:txBody>
      </p:sp>
      <p:cxnSp>
        <p:nvCxnSpPr>
          <p:cNvPr id="13" name="Connector 12"/>
          <p:cNvCxnSpPr/>
          <p:nvPr/>
        </p:nvCxnSpPr>
        <p:spPr>
          <a:xfrm>
            <a:off x="660400" y="6565900"/>
            <a:ext cx="10871200" cy="0"/>
          </a:xfrm>
          <a:prstGeom prst="line">
            <a:avLst/>
          </a:prstGeom>
          <a:ln w="8255">
            <a:solidFill>
              <a:srgbClr val="DCE6E2"/>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660400" y="6654800"/>
            <a:ext cx="8509000" cy="127000"/>
          </a:xfrm>
          <a:prstGeom prst="rect">
            <a:avLst/>
          </a:prstGeom>
          <a:noFill/>
        </p:spPr>
        <p:txBody>
          <a:bodyPr wrap="none" lIns="0" rIns="0" tIns="0" bIns="0">
            <a:spAutoFit/>
          </a:bodyPr>
          <a:lstStyle/>
          <a:p>
            <a:pPr>
              <a:lnSpc>
                <a:spcPts val="952"/>
              </a:lnSpc>
              <a:spcBef>
                <a:spcPts val="0"/>
              </a:spcBef>
              <a:spcAft>
                <a:spcPts val="0"/>
              </a:spcAft>
              <a:defRPr sz="750" b="0">
                <a:solidFill>
                  <a:srgbClr val="557079"/>
                </a:solidFill>
                <a:latin typeface="DejaVu Sans"/>
              </a:defRPr>
            </a:pPr>
            <a:r>
              <a:t>VENDING BENCH  /  PARTICIPANT BRIEFING</a:t>
            </a:r>
          </a:p>
        </p:txBody>
      </p:sp>
      <p:sp>
        <p:nvSpPr>
          <p:cNvPr id="15" name="TextBox 14"/>
          <p:cNvSpPr txBox="1"/>
          <p:nvPr/>
        </p:nvSpPr>
        <p:spPr>
          <a:xfrm>
            <a:off x="11188700" y="6642100"/>
            <a:ext cx="342900" cy="152400"/>
          </a:xfrm>
          <a:prstGeom prst="rect">
            <a:avLst/>
          </a:prstGeom>
          <a:noFill/>
        </p:spPr>
        <p:txBody>
          <a:bodyPr wrap="none" lIns="0" rIns="0" tIns="0" bIns="0">
            <a:spAutoFit/>
          </a:bodyPr>
          <a:lstStyle/>
          <a:p>
            <a:pPr>
              <a:lnSpc>
                <a:spcPts val="1143"/>
              </a:lnSpc>
              <a:spcBef>
                <a:spcPts val="0"/>
              </a:spcBef>
              <a:spcAft>
                <a:spcPts val="0"/>
              </a:spcAft>
              <a:defRPr sz="900" b="1">
                <a:solidFill>
                  <a:srgbClr val="008C7B"/>
                </a:solidFill>
                <a:latin typeface="DejaVu Sans"/>
              </a:defRPr>
            </a:pPr>
            <a:r>
              <a:t>22</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Vending Bench — Harness Design Challenge</dc:title>
  <dc:subject>Participant briefing for a pre-generated test environment</dc:subject>
  <dc:creator>Vending Bench</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