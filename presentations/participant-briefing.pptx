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participants. The deliverable is an agent harness: the software that turns model decisions into reliable business actions. This briefing is based on the current implementation. Event-specific submission and model policies are still to be announced. Suggested presentation time: about 20 minutes plus questions; reference slides are optional.</a:t>
            </a:r>
          </a:p>
          <a:p/>
          <a:p>
            <a:r>
              <a:t>Implementation references: README.md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harness is more than a prompt. It includes orchestration, memory, provider integration, and error handling. Participants should not change the test definition or the simulation to improve a score. Model eligibility, compute allowances, and the submission interface will be announced by the organizers; do not imply they have already been finalized.</a:t>
            </a:r>
          </a:p>
          <a:p/>
          <a:p>
            <a:r>
              <a:t>Implementation references: src/vending/environments.py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pre-generated environment is an initial definition, not a running checkpoint. Each episode gets a separate environment ID and starts empty. Identical definitions and seeds reproduce the market; action choices change sales opportunities. Identical action sequences reproduce the business simulation until real-time expiry intervenes. The number of official repeats, compute conditions, and tie-breaks remain organizer decisions. Freeze these before comparing submissions.</a:t>
            </a:r>
          </a:p>
          <a:p/>
          <a:p>
            <a:r>
              <a:t>Implementation references: src/vending/environments.py, src/vending/registry.py, docs/environments.md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Observations expose the complete public catalog and initial listed quotes. Participants can discover costs by negotiating and demand by observing sales. Do not distribute the private test JSON, private service artifacts, or evaluator configuration to participant harnesses. The local MVP does not enforce this boundary through authentication or a sandbox; organizers must enforce it through deployment and file access. This operational point is expanded in the organizer checklist, not presented as an already implemented security guarantee.</a:t>
            </a:r>
          </a:p>
          <a:p/>
          <a:p>
            <a:r>
              <a:t>Implementation references: src/vending/engine.py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numeric settings here are settings in configs/environment.json, not guaranteed hidden-test settings. Catalog size, fees, machine shape, capacity, and action costs are configurable. The engine requires a positive selling price before stocking. There is no separate logistics pipeline. Purchases and inventory transfers are all-or-nothing.</a:t>
            </a:r>
          </a:p>
          <a:p/>
          <a:p>
            <a:r>
              <a:t>Implementation references: src/vending/config.py, src/vending/engine.py, configs/environment.json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practice file configures runtime_seconds=3600 and max_days=365. These are configurable, and max_days can be null. Actions apply immediate effects before advancing time; sales settle only at midnight. Status and result reads do not advance business time. The service checks a monotonic deadline and expires idle environments in a background sweep. Late actions cannot extend business time. Repeated fee failures can end the episode earlier.</a:t>
            </a:r>
          </a:p>
          <a:p/>
          <a:p>
            <a:r>
              <a:t>Implementation references: configs/environment.json, src/vending/engine.py, src/vending/registry.py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Accepted offers debit spendable cash and add a storage lot immediately. Counteroffers do neither. At midnight, available spendable cash pays existing fee arrears before the current fee; partial payment creates debt. A current fee not fully paid increments the failure streak. A fully paid current fee resets it. Uncollected machine cash cannot pay the fee automatically. Multiple slots raise availability but do not multiply demand.</a:t>
            </a:r>
          </a:p>
          <a:p/>
          <a:p>
            <a:r>
              <a:t>Implementation references: src/vending/engine.py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Suppliers follow deterministic policies. Patient suppliers counter out-of-range offers, impatient suppliers can return no_reply, and pushy-patient suppliers may add an upsell. This deck does not disclose particular supplier types, pair minimums, or category assignments in the test. Supplier stock is unlimited, but the quantity cap and spendable cash limit purchases. A no_reply outcome is not a network timeout. Winner, loser, and balanced pair assignments and their quotes reshuffle at days 31, 61, and so on under the default 30-day interval. Supplier behavior types stay fixed. Public supplier_reshuffle events invalidate cached quotes; the controller requires search_products before buying again. Existing inventory keeps its acquisition cost.</a:t>
            </a:r>
          </a:p>
          <a:p/>
          <a:p>
            <a:r>
              <a:t>Implementation references: src/vending/suppliers.py, src/vending/engine.py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Demand is Poisson with a constant-elasticity price adjustment and a repeating day multiplier. The parameters are private. The diagram is qualitative, not a plot of hidden test demand. Product demand is independent with no substitution. Selling-price bounds are returned in the public catalog; the default range is 0.25 to 5 times reference, rounded to integer cents. Reference price is a comparison anchor, not a guarantee of the most profitable selling price.</a:t>
            </a:r>
          </a:p>
          <a:p/>
          <a:p>
            <a:r>
              <a:t>Implementation references: src/vending/demand.py, src/vending/engine.py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unsold units are valued at their actual acquisition cost, in storage and in machine slots. Purchasing exchanges equal cash and inventory value and does not create immediate profit. Raising retail prices does not revalue stock. Cash collection and inventory transfers preserve score. Selling recognizes revenue minus acquisition cost; completed-day fees reduce net assets. Fee debt is subtracted so failing to pay does not improve the score. The example is invented arithmetic, not a test result.</a:t>
            </a:r>
          </a:p>
          <a:p/>
          <a:p>
            <a:r>
              <a:t>Implementation references: src/vending/scoring.py, src/vending/models.py, src/vending/engine.py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costs are configurable; read observe.rules.durations. Public reads implemented as actions cost time, unlike HTTP status/result reads. Avoid repeatedly observing everything when a smaller state update is sufficient. Unknown actions and schema errors do not advance simulated time. End-day called at midnight advances a full day. All effects and incidental sales are returned in the common action envelope.</a:t>
            </a:r>
          </a:p>
          <a:p/>
          <a:p>
            <a:r>
              <a:t>Implementation references: src/vending/config.py, src/vending/models.py, src/vending/engine.py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Targets round up and machine targets cannot exceed allocated capacity. Before enough history exists, target one slot and no storage reserve. Purchases cover only the shortfall after subtracting both machine and storage stock. Sellout quantities are lower bounds on demand. Price trials require three comparable, fully stocked days; hold for three comparable days and keep only improved average daily gross profit, otherwise revert. Exclude stockout days and restart comparisons after a supplier reshuffle. Negotiation permits two offers per supplier/product/day: 90% of listed price, then the returned counteroffer or listed price after no reply, subject to affordability and retail margin. Decisions should state quantities, expected margin, and reason. These are controller policy defaults, not universal engine rules.</a:t>
            </a:r>
          </a:p>
          <a:p/>
          <a:p>
            <a:r>
              <a:t>Implementation references: .pi/lib/vending-controller.mjs, .pi/skills/vending-machine/SKILL.md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extension owns the API URL and returned environment ID. The model has only the structured vending tool, with shell and file tools disabled. Create and observe are separate calls; initial selection and pricing precede replenishment. After settlement, collect positive machine cash, read machine and storage snapshots, refresh stale quotes, review pricing, then replenish or end the day. Crossed midnights and lifecycle changes are processed after every response. Rejected stocking does not advance the controller phase or alter stock. End-day remains possible when no valid affordable replenishment remains. On termination retrieve and record GET /result before deleting, without automatically creating another episode. Checkpoints are stored in Pi session entries; resume checks status and reconciles public snapshots.</a:t>
            </a:r>
          </a:p>
          <a:p/>
          <a:p>
            <a:r>
              <a:t>Implementation references: .pi/extensions/vending-extension.js, .pi/lib/vending-controller.mjs, scripts/run_pi_agent.sh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client retries an uncertain business request once with the same idempotency key (two attempts total), with a 15-second HTTP timeout. It never blindly repeats environment creation. Reusing a key with a changed payload conflicts. A terminal environment rejects later actions, including replays; retrieve its result instead. Persisted controller checkpoints support resume and snapshot reconciliation. Automatic follow-up continues normal completed turns while work remains; cancellation, provider errors, and repeated lack of progress can pause it. A resumed legacy trace without a checkpoint cannot safely reconstruct controller ownership.</a:t>
            </a:r>
          </a:p>
          <a:p/>
          <a:p>
            <a:r>
              <a:t>Implementation references: .pi/lib/vending-client.mjs, .pi/extensions/vending-extension.js, src/vending/registry.py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values describe configs/environment.json and the current Pi starter. There is no implemented 100,000-token budget or 1,000-policy-call ceiling. A model context window is not an episode token budget. max_days is configurable and can be null; real expiry or fee failure can end an episode earlier. Organizers must define, implement, and calibrate any additional compute policy before evaluation.</a:t>
            </a:r>
          </a:p>
          <a:p/>
          <a:p>
            <a:r>
              <a:t>Implementation references: configs/environment.json, scripts/run_pi_agent.sh, .pi/extensions/vending-extension.js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 JSONL traces preserve provider usage in model messages. The viewer aggregates input and output tokens and model-call counts, but does not attribute Pi usage to individual business actions or simulated days. Some legacy artifacts include those fields. Missing attribution should remain unavailable, not silently zero. Do not claim that current Pi implements token reservations or token-budget termination.</a:t>
            </a:r>
          </a:p>
          <a:p/>
          <a:p>
            <a:r>
              <a:t>Implementation references: src/viewer/store.py, src/viewer/tokens.py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Prepare the Python environment with python3 -m pip install -e '.[test]' and install the Pi CLI with scripts/install_pi.sh. Start the service, model server, agent, and viewer in separate terminals in that order. The serving script requires locally downloaded weights and suitable GPU resources; inspect its configuration for your machine. For a shorter smoke episode, start the service with environments/smoke.json instead. The extension loads the skill and exposes only vending. Stop local service/model/viewer processes when finished. These commands are local development, not a private grading boundary.</a:t>
            </a:r>
          </a:p>
          <a:p/>
          <a:p>
            <a:r>
              <a:t>Implementation references: README.md, start_env.sh, scripts/install_pi.sh, scripts/serve_qwen_vllm.sh, scripts/run_pi_agent.sh, scripts/view_runs.sh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viewer normalizes legacy curl records and structured vending results. Daily activity records purchases, costs, sales, and cash collection. Machine and storage displays are the last observed snapshots, with their timestamps, not guaranteed final inventory. Live profit requires enough trace history; terminal GET /result is authoritative. Unfinished means no final result was recorded and does not prove the process is alive. Pi per-action and per-day token attribution is unavailable. Use the viewer to diagnose redundant requests, fee liquidity, stockouts, and local blocks. Private evaluator data is not an additional policy tool.</a:t>
            </a:r>
          </a:p>
          <a:p/>
          <a:p>
            <a:r>
              <a:t>Implementation references: src/viewer/api.py, src/viewer/store.py, README.md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readiness checklist, not a finalized submission contract. Organizers must announce invocation, lifecycle ownership, model allowance, runtime/token policy, repeats, deadlines, and treatment of incomplete or infrastructure-failed runs. Preserve the Pi session JSONL, configuration, and policy version for auditability. Record terminal result retrieval and cleanup. Compare profitability across multiple seeds with equal wall-time budgets before claiming improvement.</a:t>
            </a:r>
          </a:p>
          <a:p/>
          <a:p>
            <a:r>
              <a:t>Implementation references: README.md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Known actions return 410 on ended environments and 409 on unavailable ones. Unknown IDs/actions are 404. Invalid JSON is 400; schema/identifier errors are 422. Domain refusals are ordinary 200 results. Status contains only state; it does not contain a score. Retrieve result before deletion. If the harness stops while running, a trusted service-side deletion snapshot supports truncated accounting; there is no post-delete result endpoint. Exactly who owns creation and deletion during the event must be specified in the organizer's test handoff. In the Pi starter, the extension owns this lifecycle and the environment ID; model calls use the vending tool rather than raw HTTP.</a:t>
            </a:r>
          </a:p>
          <a:p/>
          <a:p>
            <a:r>
              <a:t>Implementation references: src/vending/api.py, src/vending/registry.py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 to src/vending/models.py for the shared typed schemas. Quantities and offer prices must be positive integers, and the configured quantity cap applies. Selling prices must respect the product's public bounds. Boolean values are not valid integer amounts. A 200 response includes action_id, state, sim_time, elapsed_minutes, result, events, metrics, and termination_reason, with score on terminal accepted actions. There is no arbitrary Python method dispatch or hidden evaluator action available to the policy. This table describes REST schemas. The Pi tool exposes a constrained subset with an action and typed payload; consult its returned permitted actions. unstock_items and wait are not exposed by the starter controller.</a:t>
            </a:r>
          </a:p>
          <a:p/>
          <a:p>
            <a:r>
              <a:t>Implementation references: src/vending/models.py, src/vending/engine.py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invented interaction, not a revealed test quote. The response omits envelope fields and counteroffer terms for readability. To accept the counteroffer, submit a new make_offer action with a new idempotency key because its payload differs. Only retries of the identical original request reuse purchase-0001. Log the actual full response and preserve its incidental sales events.</a:t>
            </a:r>
          </a:p>
          <a:p/>
          <a:p>
            <a:r>
              <a:t>Implementation references: src/vending/models.py, src/vending/engine.py, .pi/lib/vending-client.mjs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CAEFA1"/>
                </a:solidFill>
                <a:latin typeface="DejaVu Sans"/>
              </a:defRPr>
            </a:pPr>
            <a:r>
              <a:t>PARTICIPANT BRIEFING</a:t>
            </a:r>
          </a:p>
        </p:txBody>
      </p:sp>
      <p:sp>
        <p:nvSpPr>
          <p:cNvPr id="4" name="Rectangle 3"/>
          <p:cNvSpPr/>
          <p:nvPr/>
        </p:nvSpPr>
        <p:spPr>
          <a:xfrm>
            <a:off x="660400" y="965200"/>
            <a:ext cx="762000" cy="63500"/>
          </a:xfrm>
          <a:prstGeom prst="rect">
            <a:avLst/>
          </a:prstGeom>
          <a:solidFill>
            <a:srgbClr val="CAEF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0400" y="1485900"/>
            <a:ext cx="7747000" cy="2184400"/>
          </a:xfrm>
          <a:prstGeom prst="rect">
            <a:avLst/>
          </a:prstGeom>
          <a:noFill/>
        </p:spPr>
        <p:txBody>
          <a:bodyPr wrap="none" lIns="0" rIns="0" tIns="0" bIns="0">
            <a:spAutoFit/>
          </a:bodyPr>
          <a:lstStyle/>
          <a:p>
            <a:pPr>
              <a:lnSpc>
                <a:spcPts val="5473"/>
              </a:lnSpc>
              <a:spcBef>
                <a:spcPts val="0"/>
              </a:spcBef>
              <a:spcAft>
                <a:spcPts val="0"/>
              </a:spcAft>
              <a:defRPr sz="4600" b="1">
                <a:solidFill>
                  <a:srgbClr val="FFFFFF"/>
                </a:solidFill>
                <a:latin typeface="DejaVu Sans"/>
              </a:defRPr>
            </a:pPr>
            <a:r>
              <a:t>Build the harness.</a:t>
            </a:r>
          </a:p>
          <a:p>
            <a:pPr>
              <a:lnSpc>
                <a:spcPts val="5473"/>
              </a:lnSpc>
              <a:spcBef>
                <a:spcPts val="0"/>
              </a:spcBef>
              <a:spcAft>
                <a:spcPts val="0"/>
              </a:spcAft>
              <a:defRPr sz="4600" b="1">
                <a:solidFill>
                  <a:srgbClr val="FFFFFF"/>
                </a:solidFill>
                <a:latin typeface="DejaVu Sans"/>
              </a:defRPr>
            </a:pPr>
            <a:r>
              <a:t>Run the business.</a:t>
            </a:r>
          </a:p>
        </p:txBody>
      </p:sp>
      <p:sp>
        <p:nvSpPr>
          <p:cNvPr id="6" name="TextBox 5"/>
          <p:cNvSpPr txBox="1"/>
          <p:nvPr/>
        </p:nvSpPr>
        <p:spPr>
          <a:xfrm>
            <a:off x="698500" y="3822700"/>
            <a:ext cx="6731000" cy="546100"/>
          </a:xfrm>
          <a:prstGeom prst="rect">
            <a:avLst/>
          </a:prstGeom>
          <a:noFill/>
        </p:spPr>
        <p:txBody>
          <a:bodyPr wrap="none" lIns="0" rIns="0" tIns="0" bIns="0">
            <a:spAutoFit/>
          </a:bodyPr>
          <a:lstStyle/>
          <a:p>
            <a:pPr>
              <a:lnSpc>
                <a:spcPts val="2413"/>
              </a:lnSpc>
              <a:spcBef>
                <a:spcPts val="0"/>
              </a:spcBef>
              <a:spcAft>
                <a:spcPts val="0"/>
              </a:spcAft>
              <a:defRPr sz="1900" b="0">
                <a:solidFill>
                  <a:srgbClr val="CAEFA1"/>
                </a:solidFill>
                <a:latin typeface="DejaVu Sans"/>
              </a:defRPr>
            </a:pPr>
            <a:r>
              <a:t>Vending Bench · Harness Design Challenge</a:t>
            </a:r>
          </a:p>
        </p:txBody>
      </p:sp>
      <p:sp>
        <p:nvSpPr>
          <p:cNvPr id="7" name="TextBox 6"/>
          <p:cNvSpPr txBox="1"/>
          <p:nvPr/>
        </p:nvSpPr>
        <p:spPr>
          <a:xfrm>
            <a:off x="698500" y="4610100"/>
            <a:ext cx="6477000" cy="977900"/>
          </a:xfrm>
          <a:prstGeom prst="rect">
            <a:avLst/>
          </a:prstGeom>
          <a:noFill/>
        </p:spPr>
        <p:txBody>
          <a:bodyPr wrap="none" lIns="0" rIns="0" tIns="0" bIns="0">
            <a:spAutoFit/>
          </a:bodyPr>
          <a:lstStyle/>
          <a:p>
            <a:pPr>
              <a:lnSpc>
                <a:spcPts val="2940"/>
              </a:lnSpc>
              <a:spcBef>
                <a:spcPts val="0"/>
              </a:spcBef>
              <a:spcAft>
                <a:spcPts val="0"/>
              </a:spcAft>
              <a:defRPr sz="2100" b="0">
                <a:solidFill>
                  <a:srgbClr val="FFFFFF"/>
                </a:solidFill>
                <a:latin typeface="DejaVu Sans"/>
              </a:defRPr>
            </a:pPr>
            <a:r>
              <a:t>Your system will operate a vending machine in</a:t>
            </a:r>
          </a:p>
          <a:p>
            <a:pPr>
              <a:lnSpc>
                <a:spcPts val="2940"/>
              </a:lnSpc>
              <a:spcBef>
                <a:spcPts val="0"/>
              </a:spcBef>
              <a:spcAft>
                <a:spcPts val="0"/>
              </a:spcAft>
              <a:defRPr sz="2100" b="0">
                <a:solidFill>
                  <a:srgbClr val="FFFFFF"/>
                </a:solidFill>
                <a:latin typeface="DejaVu Sans"/>
              </a:defRPr>
            </a:pPr>
            <a:r>
              <a:t>an organizer-selected test environment.</a:t>
            </a:r>
          </a:p>
        </p:txBody>
      </p:sp>
      <p:sp>
        <p:nvSpPr>
          <p:cNvPr id="8" name="Rounded Rectangle 7"/>
          <p:cNvSpPr/>
          <p:nvPr/>
        </p:nvSpPr>
        <p:spPr>
          <a:xfrm>
            <a:off x="8559800" y="1117600"/>
            <a:ext cx="2768600" cy="4381500"/>
          </a:xfrm>
          <a:prstGeom prst="roundRect">
            <a:avLst>
              <a:gd name="adj" fmla="val 8256"/>
            </a:avLst>
          </a:prstGeom>
          <a:solidFill>
            <a:srgbClr val="193F45"/>
          </a:solidFill>
          <a:ln w="8890">
            <a:solidFill>
              <a:srgbClr val="3553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801100" y="1435100"/>
            <a:ext cx="2286000" cy="419100"/>
          </a:xfrm>
          <a:prstGeom prst="roundRect">
            <a:avLst>
              <a:gd name="adj" fmla="val 15000"/>
            </a:avLst>
          </a:prstGeom>
          <a:solidFill>
            <a:srgbClr val="CAEF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04300" y="1562100"/>
            <a:ext cx="2032000" cy="215900"/>
          </a:xfrm>
          <a:prstGeom prst="rect">
            <a:avLst/>
          </a:prstGeom>
          <a:noFill/>
        </p:spPr>
        <p:txBody>
          <a:bodyPr wrap="none" lIns="0" rIns="0" tIns="0" bIns="0">
            <a:spAutoFit/>
          </a:bodyPr>
          <a:lstStyle/>
          <a:p>
            <a:pPr>
              <a:lnSpc>
                <a:spcPts val="1524"/>
              </a:lnSpc>
              <a:spcBef>
                <a:spcPts val="0"/>
              </a:spcBef>
              <a:spcAft>
                <a:spcPts val="0"/>
              </a:spcAft>
              <a:defRPr sz="1200" b="1">
                <a:solidFill>
                  <a:srgbClr val="173A42"/>
                </a:solidFill>
                <a:latin typeface="DejaVu Sans"/>
              </a:defRPr>
            </a:pPr>
            <a:r>
              <a:t>YOUR AGENT</a:t>
            </a:r>
          </a:p>
        </p:txBody>
      </p:sp>
      <p:sp>
        <p:nvSpPr>
          <p:cNvPr id="11" name="Rounded Rectangle 10"/>
          <p:cNvSpPr/>
          <p:nvPr/>
        </p:nvSpPr>
        <p:spPr>
          <a:xfrm>
            <a:off x="8813800" y="2133600"/>
            <a:ext cx="609600" cy="457200"/>
          </a:xfrm>
          <a:prstGeom prst="roundRect">
            <a:avLst>
              <a:gd name="adj" fmla="val 13888"/>
            </a:avLst>
          </a:prstGeom>
          <a:solidFill>
            <a:srgbClr val="294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029700" y="2235200"/>
            <a:ext cx="190500" cy="279400"/>
          </a:xfrm>
          <a:prstGeom prst="roundRect">
            <a:avLst>
              <a:gd name="adj" fmla="val 15000"/>
            </a:avLst>
          </a:prstGeom>
          <a:solidFill>
            <a:srgbClr val="CAEF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575800" y="2133600"/>
            <a:ext cx="609600" cy="457200"/>
          </a:xfrm>
          <a:prstGeom prst="roundRect">
            <a:avLst>
              <a:gd name="adj" fmla="val 13888"/>
            </a:avLst>
          </a:prstGeom>
          <a:solidFill>
            <a:srgbClr val="294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791700" y="2235200"/>
            <a:ext cx="190500" cy="279400"/>
          </a:xfrm>
          <a:prstGeom prst="roundRect">
            <a:avLst>
              <a:gd name="adj" fmla="val 15000"/>
            </a:avLst>
          </a:prstGeom>
          <a:solidFill>
            <a:srgbClr val="71A9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337800" y="2133600"/>
            <a:ext cx="609600" cy="457200"/>
          </a:xfrm>
          <a:prstGeom prst="roundRect">
            <a:avLst>
              <a:gd name="adj" fmla="val 13888"/>
            </a:avLst>
          </a:prstGeom>
          <a:solidFill>
            <a:srgbClr val="294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553700" y="2235200"/>
            <a:ext cx="190500" cy="279400"/>
          </a:xfrm>
          <a:prstGeom prst="roundRect">
            <a:avLst>
              <a:gd name="adj" fmla="val 15000"/>
            </a:avLst>
          </a:prstGeom>
          <a:solidFill>
            <a:srgbClr val="71A9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813800" y="2730500"/>
            <a:ext cx="609600" cy="457200"/>
          </a:xfrm>
          <a:prstGeom prst="roundRect">
            <a:avLst>
              <a:gd name="adj" fmla="val 13888"/>
            </a:avLst>
          </a:prstGeom>
          <a:solidFill>
            <a:srgbClr val="294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29700" y="2832100"/>
            <a:ext cx="190500" cy="279400"/>
          </a:xfrm>
          <a:prstGeom prst="roundRect">
            <a:avLst>
              <a:gd name="adj" fmla="val 15000"/>
            </a:avLst>
          </a:prstGeom>
          <a:solidFill>
            <a:srgbClr val="71A9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575800" y="2730500"/>
            <a:ext cx="609600" cy="457200"/>
          </a:xfrm>
          <a:prstGeom prst="roundRect">
            <a:avLst>
              <a:gd name="adj" fmla="val 13888"/>
            </a:avLst>
          </a:prstGeom>
          <a:solidFill>
            <a:srgbClr val="294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791700" y="2832100"/>
            <a:ext cx="190500" cy="279400"/>
          </a:xfrm>
          <a:prstGeom prst="roundRect">
            <a:avLst>
              <a:gd name="adj" fmla="val 15000"/>
            </a:avLst>
          </a:prstGeom>
          <a:solidFill>
            <a:srgbClr val="71A9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337800" y="2730500"/>
            <a:ext cx="609600" cy="457200"/>
          </a:xfrm>
          <a:prstGeom prst="roundRect">
            <a:avLst>
              <a:gd name="adj" fmla="val 13888"/>
            </a:avLst>
          </a:prstGeom>
          <a:solidFill>
            <a:srgbClr val="294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553700" y="2832100"/>
            <a:ext cx="190500" cy="279400"/>
          </a:xfrm>
          <a:prstGeom prst="roundRect">
            <a:avLst>
              <a:gd name="adj" fmla="val 15000"/>
            </a:avLst>
          </a:prstGeom>
          <a:solidFill>
            <a:srgbClr val="CAEF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813800" y="3327400"/>
            <a:ext cx="609600" cy="457200"/>
          </a:xfrm>
          <a:prstGeom prst="roundRect">
            <a:avLst>
              <a:gd name="adj" fmla="val 13888"/>
            </a:avLst>
          </a:prstGeom>
          <a:solidFill>
            <a:srgbClr val="294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29700" y="3429000"/>
            <a:ext cx="190500" cy="279400"/>
          </a:xfrm>
          <a:prstGeom prst="roundRect">
            <a:avLst>
              <a:gd name="adj" fmla="val 15000"/>
            </a:avLst>
          </a:prstGeom>
          <a:solidFill>
            <a:srgbClr val="71A9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575800" y="3327400"/>
            <a:ext cx="609600" cy="457200"/>
          </a:xfrm>
          <a:prstGeom prst="roundRect">
            <a:avLst>
              <a:gd name="adj" fmla="val 13888"/>
            </a:avLst>
          </a:prstGeom>
          <a:solidFill>
            <a:srgbClr val="294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791700" y="3429000"/>
            <a:ext cx="190500" cy="279400"/>
          </a:xfrm>
          <a:prstGeom prst="roundRect">
            <a:avLst>
              <a:gd name="adj" fmla="val 15000"/>
            </a:avLst>
          </a:prstGeom>
          <a:solidFill>
            <a:srgbClr val="CAEF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337800" y="3327400"/>
            <a:ext cx="609600" cy="457200"/>
          </a:xfrm>
          <a:prstGeom prst="roundRect">
            <a:avLst>
              <a:gd name="adj" fmla="val 13888"/>
            </a:avLst>
          </a:prstGeom>
          <a:solidFill>
            <a:srgbClr val="294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553700" y="3429000"/>
            <a:ext cx="190500" cy="279400"/>
          </a:xfrm>
          <a:prstGeom prst="roundRect">
            <a:avLst>
              <a:gd name="adj" fmla="val 15000"/>
            </a:avLst>
          </a:prstGeom>
          <a:solidFill>
            <a:srgbClr val="71A9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813800" y="3924300"/>
            <a:ext cx="609600" cy="457200"/>
          </a:xfrm>
          <a:prstGeom prst="roundRect">
            <a:avLst>
              <a:gd name="adj" fmla="val 13888"/>
            </a:avLst>
          </a:prstGeom>
          <a:solidFill>
            <a:srgbClr val="294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029700" y="4025900"/>
            <a:ext cx="190500" cy="279400"/>
          </a:xfrm>
          <a:prstGeom prst="roundRect">
            <a:avLst>
              <a:gd name="adj" fmla="val 15000"/>
            </a:avLst>
          </a:prstGeom>
          <a:solidFill>
            <a:srgbClr val="CAEF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575800" y="3924300"/>
            <a:ext cx="609600" cy="457200"/>
          </a:xfrm>
          <a:prstGeom prst="roundRect">
            <a:avLst>
              <a:gd name="adj" fmla="val 13888"/>
            </a:avLst>
          </a:prstGeom>
          <a:solidFill>
            <a:srgbClr val="294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791700" y="4025900"/>
            <a:ext cx="190500" cy="279400"/>
          </a:xfrm>
          <a:prstGeom prst="roundRect">
            <a:avLst>
              <a:gd name="adj" fmla="val 15000"/>
            </a:avLst>
          </a:prstGeom>
          <a:solidFill>
            <a:srgbClr val="71A9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337800" y="3924300"/>
            <a:ext cx="609600" cy="457200"/>
          </a:xfrm>
          <a:prstGeom prst="roundRect">
            <a:avLst>
              <a:gd name="adj" fmla="val 13888"/>
            </a:avLst>
          </a:prstGeom>
          <a:solidFill>
            <a:srgbClr val="294E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0553700" y="4025900"/>
            <a:ext cx="190500" cy="279400"/>
          </a:xfrm>
          <a:prstGeom prst="roundRect">
            <a:avLst>
              <a:gd name="adj" fmla="val 15000"/>
            </a:avLst>
          </a:prstGeom>
          <a:solidFill>
            <a:srgbClr val="71A9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839200" y="4749800"/>
            <a:ext cx="1524000" cy="203200"/>
          </a:xfrm>
          <a:prstGeom prst="roundRect">
            <a:avLst>
              <a:gd name="adj" fmla="val 15000"/>
            </a:avLst>
          </a:prstGeom>
          <a:solidFill>
            <a:srgbClr val="102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0642600" y="4711700"/>
            <a:ext cx="254000" cy="2794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a:off x="660400" y="6565900"/>
            <a:ext cx="10871200" cy="0"/>
          </a:xfrm>
          <a:prstGeom prst="line">
            <a:avLst/>
          </a:prstGeom>
          <a:ln w="8255">
            <a:solidFill>
              <a:srgbClr val="32515A"/>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A6C1C6"/>
                </a:solidFill>
                <a:latin typeface="DejaVu Sans"/>
              </a:defRPr>
            </a:pPr>
            <a:r>
              <a:t>VENDING BENCH  /  PARTICIPANT BRIEFING</a:t>
            </a:r>
          </a:p>
        </p:txBody>
      </p:sp>
      <p:sp>
        <p:nvSpPr>
          <p:cNvPr id="39" name="TextBox 38"/>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CAEFA1"/>
                </a:solidFill>
                <a:latin typeface="DejaVu San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01 / THE ASSIGNMENT</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You design the harness. We define the</a:t>
            </a:r>
          </a:p>
          <a:p>
            <a:pPr>
              <a:lnSpc>
                <a:spcPts val="3596"/>
              </a:lnSpc>
              <a:spcBef>
                <a:spcPts val="0"/>
              </a:spcBef>
              <a:spcAft>
                <a:spcPts val="0"/>
              </a:spcAft>
              <a:defRPr sz="3100" b="1">
                <a:solidFill>
                  <a:srgbClr val="173A42"/>
                </a:solidFill>
                <a:latin typeface="DejaVu Sans"/>
              </a:defRPr>
            </a:pPr>
            <a:r>
              <a:t>environment.</a:t>
            </a:r>
          </a:p>
        </p:txBody>
      </p:sp>
      <p:sp>
        <p:nvSpPr>
          <p:cNvPr id="5" name="Rounded Rectangle 4"/>
          <p:cNvSpPr/>
          <p:nvPr/>
        </p:nvSpPr>
        <p:spPr>
          <a:xfrm>
            <a:off x="660400" y="2209800"/>
            <a:ext cx="5308600" cy="3352800"/>
          </a:xfrm>
          <a:prstGeom prst="roundRect">
            <a:avLst>
              <a:gd name="adj" fmla="val 378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60400" y="2209800"/>
            <a:ext cx="5308600" cy="50800"/>
          </a:xfrm>
          <a:prstGeom prst="rect">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9800" y="2489200"/>
            <a:ext cx="4749800" cy="4445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YOUR DESIGN SPACE</a:t>
            </a:r>
          </a:p>
        </p:txBody>
      </p:sp>
      <p:sp>
        <p:nvSpPr>
          <p:cNvPr id="8" name="Rounded Rectangle 7"/>
          <p:cNvSpPr/>
          <p:nvPr/>
        </p:nvSpPr>
        <p:spPr>
          <a:xfrm>
            <a:off x="939800" y="30734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68400" y="29972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Prompts and decision policy</a:t>
            </a:r>
          </a:p>
        </p:txBody>
      </p:sp>
      <p:sp>
        <p:nvSpPr>
          <p:cNvPr id="10" name="Rounded Rectangle 9"/>
          <p:cNvSpPr/>
          <p:nvPr/>
        </p:nvSpPr>
        <p:spPr>
          <a:xfrm>
            <a:off x="939800" y="34290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68400" y="33528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Context, memory, and planning</a:t>
            </a:r>
          </a:p>
        </p:txBody>
      </p:sp>
      <p:sp>
        <p:nvSpPr>
          <p:cNvPr id="12" name="Rounded Rectangle 11"/>
          <p:cNvSpPr/>
          <p:nvPr/>
        </p:nvSpPr>
        <p:spPr>
          <a:xfrm>
            <a:off x="939800" y="37846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68400" y="37084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Tool routing and validation</a:t>
            </a:r>
          </a:p>
        </p:txBody>
      </p:sp>
      <p:sp>
        <p:nvSpPr>
          <p:cNvPr id="14" name="Rounded Rectangle 13"/>
          <p:cNvSpPr/>
          <p:nvPr/>
        </p:nvSpPr>
        <p:spPr>
          <a:xfrm>
            <a:off x="939800" y="4140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68400" y="40640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Retries, budgets, and logging</a:t>
            </a:r>
          </a:p>
        </p:txBody>
      </p:sp>
      <p:sp>
        <p:nvSpPr>
          <p:cNvPr id="16" name="Rounded Rectangle 15"/>
          <p:cNvSpPr/>
          <p:nvPr/>
        </p:nvSpPr>
        <p:spPr>
          <a:xfrm>
            <a:off x="6223000" y="2209800"/>
            <a:ext cx="5308600" cy="3352800"/>
          </a:xfrm>
          <a:prstGeom prst="roundRect">
            <a:avLst>
              <a:gd name="adj" fmla="val 378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23000" y="2209800"/>
            <a:ext cx="5308600" cy="50800"/>
          </a:xfrm>
          <a:prstGeom prst="rect">
            <a:avLst/>
          </a:prstGeom>
          <a:solidFill>
            <a:srgbClr val="5E8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02400" y="2489200"/>
            <a:ext cx="4749800" cy="444500"/>
          </a:xfrm>
          <a:prstGeom prst="rect">
            <a:avLst/>
          </a:prstGeom>
          <a:noFill/>
        </p:spPr>
        <p:txBody>
          <a:bodyPr wrap="none" lIns="0" rIns="0" tIns="0" bIns="0">
            <a:spAutoFit/>
          </a:bodyPr>
          <a:lstStyle/>
          <a:p>
            <a:pPr>
              <a:lnSpc>
                <a:spcPts val="1524"/>
              </a:lnSpc>
              <a:spcBef>
                <a:spcPts val="0"/>
              </a:spcBef>
              <a:spcAft>
                <a:spcPts val="0"/>
              </a:spcAft>
              <a:defRPr sz="1200" b="1">
                <a:solidFill>
                  <a:srgbClr val="557079"/>
                </a:solidFill>
                <a:latin typeface="DejaVu Sans"/>
              </a:defRPr>
            </a:pPr>
            <a:r>
              <a:t>ORGANIZER-CONTROLLED TEST</a:t>
            </a:r>
          </a:p>
        </p:txBody>
      </p:sp>
      <p:sp>
        <p:nvSpPr>
          <p:cNvPr id="19" name="Rounded Rectangle 18"/>
          <p:cNvSpPr/>
          <p:nvPr/>
        </p:nvSpPr>
        <p:spPr>
          <a:xfrm>
            <a:off x="6502400" y="30734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31000" y="29972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Saved environment and seed</a:t>
            </a:r>
          </a:p>
        </p:txBody>
      </p:sp>
      <p:sp>
        <p:nvSpPr>
          <p:cNvPr id="21" name="Rounded Rectangle 20"/>
          <p:cNvSpPr/>
          <p:nvPr/>
        </p:nvSpPr>
        <p:spPr>
          <a:xfrm>
            <a:off x="6502400" y="34290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31000" y="33528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Products, suppliers, and economics</a:t>
            </a:r>
          </a:p>
        </p:txBody>
      </p:sp>
      <p:sp>
        <p:nvSpPr>
          <p:cNvPr id="23" name="Rounded Rectangle 22"/>
          <p:cNvSpPr/>
          <p:nvPr/>
        </p:nvSpPr>
        <p:spPr>
          <a:xfrm>
            <a:off x="6502400" y="37846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31000" y="37084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Machine rules and real-time deadline</a:t>
            </a:r>
          </a:p>
        </p:txBody>
      </p:sp>
      <p:sp>
        <p:nvSpPr>
          <p:cNvPr id="25" name="Rounded Rectangle 24"/>
          <p:cNvSpPr/>
          <p:nvPr/>
        </p:nvSpPr>
        <p:spPr>
          <a:xfrm>
            <a:off x="6502400" y="4140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31000" y="40640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Evaluation access and run conditions</a:t>
            </a:r>
          </a:p>
        </p:txBody>
      </p:sp>
      <p:sp>
        <p:nvSpPr>
          <p:cNvPr id="27" name="Rounded Rectangle 26"/>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Optimize final net assets using the public interaction interface.</a:t>
            </a:r>
          </a:p>
        </p:txBody>
      </p:sp>
      <p:cxnSp>
        <p:nvCxnSpPr>
          <p:cNvPr id="29" name="Connector 28"/>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31" name="TextBox 30"/>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01 / THE ASSIGNMENT</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One saved definition. A fresh episode each run.</a:t>
            </a:r>
          </a:p>
        </p:txBody>
      </p:sp>
      <p:sp>
        <p:nvSpPr>
          <p:cNvPr id="5" name="Rounded Rectangle 4"/>
          <p:cNvSpPr/>
          <p:nvPr/>
        </p:nvSpPr>
        <p:spPr>
          <a:xfrm>
            <a:off x="660400" y="2349500"/>
            <a:ext cx="2555875" cy="2971800"/>
          </a:xfrm>
          <a:prstGeom prst="roundRect">
            <a:avLst>
              <a:gd name="adj" fmla="val 4968"/>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9000" y="2603500"/>
            <a:ext cx="431800" cy="3810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7900" y="2692400"/>
            <a:ext cx="330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01</a:t>
            </a:r>
          </a:p>
        </p:txBody>
      </p:sp>
      <p:sp>
        <p:nvSpPr>
          <p:cNvPr id="8" name="TextBox 7"/>
          <p:cNvSpPr txBox="1"/>
          <p:nvPr/>
        </p:nvSpPr>
        <p:spPr>
          <a:xfrm>
            <a:off x="889000" y="3314700"/>
            <a:ext cx="2098675" cy="419100"/>
          </a:xfrm>
          <a:prstGeom prst="rect">
            <a:avLst/>
          </a:prstGeom>
          <a:noFill/>
        </p:spPr>
        <p:txBody>
          <a:bodyPr wrap="none" lIns="0" rIns="0" tIns="0" bIns="0">
            <a:spAutoFit/>
          </a:bodyPr>
          <a:lstStyle/>
          <a:p>
            <a:pPr>
              <a:lnSpc>
                <a:spcPts val="2794"/>
              </a:lnSpc>
              <a:spcBef>
                <a:spcPts val="0"/>
              </a:spcBef>
              <a:spcAft>
                <a:spcPts val="0"/>
              </a:spcAft>
              <a:defRPr sz="2200" b="1">
                <a:solidFill>
                  <a:srgbClr val="173A42"/>
                </a:solidFill>
                <a:latin typeface="DejaVu Sans"/>
              </a:defRPr>
            </a:pPr>
            <a:r>
              <a:t>Practice</a:t>
            </a:r>
          </a:p>
        </p:txBody>
      </p:sp>
      <p:sp>
        <p:nvSpPr>
          <p:cNvPr id="9" name="TextBox 8"/>
          <p:cNvSpPr txBox="1"/>
          <p:nvPr/>
        </p:nvSpPr>
        <p:spPr>
          <a:xfrm>
            <a:off x="889000" y="3873500"/>
            <a:ext cx="2098675" cy="1333500"/>
          </a:xfrm>
          <a:prstGeom prst="rect">
            <a:avLst/>
          </a:prstGeom>
          <a:noFill/>
        </p:spPr>
        <p:txBody>
          <a:bodyPr wrap="none" lIns="0" rIns="0" tIns="0" bIns="0">
            <a:spAutoFit/>
          </a:bodyPr>
          <a:lstStyle/>
          <a:p>
            <a:pPr>
              <a:lnSpc>
                <a:spcPts val="2261"/>
              </a:lnSpc>
              <a:spcBef>
                <a:spcPts val="0"/>
              </a:spcBef>
              <a:spcAft>
                <a:spcPts val="0"/>
              </a:spcAft>
              <a:defRPr sz="1700" b="0">
                <a:solidFill>
                  <a:srgbClr val="173A42"/>
                </a:solidFill>
                <a:latin typeface="DejaVu Sans"/>
              </a:defRPr>
            </a:pPr>
            <a:r>
              <a:t>Develop on the</a:t>
            </a:r>
          </a:p>
          <a:p>
            <a:pPr>
              <a:lnSpc>
                <a:spcPts val="2261"/>
              </a:lnSpc>
              <a:spcBef>
                <a:spcPts val="0"/>
              </a:spcBef>
              <a:spcAft>
                <a:spcPts val="0"/>
              </a:spcAft>
              <a:defRPr sz="1700" b="0">
                <a:solidFill>
                  <a:srgbClr val="173A42"/>
                </a:solidFill>
                <a:latin typeface="DejaVu Sans"/>
              </a:defRPr>
            </a:pPr>
            <a:r>
              <a:t>supplied practice</a:t>
            </a:r>
          </a:p>
          <a:p>
            <a:pPr>
              <a:lnSpc>
                <a:spcPts val="2261"/>
              </a:lnSpc>
              <a:spcBef>
                <a:spcPts val="0"/>
              </a:spcBef>
              <a:spcAft>
                <a:spcPts val="0"/>
              </a:spcAft>
              <a:defRPr sz="1700" b="0">
                <a:solidFill>
                  <a:srgbClr val="173A42"/>
                </a:solidFill>
                <a:latin typeface="DejaVu Sans"/>
              </a:defRPr>
            </a:pPr>
            <a:r>
              <a:t>environment.</a:t>
            </a:r>
          </a:p>
        </p:txBody>
      </p:sp>
      <p:sp>
        <p:nvSpPr>
          <p:cNvPr id="10" name="TextBox 9"/>
          <p:cNvSpPr txBox="1"/>
          <p:nvPr/>
        </p:nvSpPr>
        <p:spPr>
          <a:xfrm>
            <a:off x="3267075" y="3594100"/>
            <a:ext cx="177800" cy="381000"/>
          </a:xfrm>
          <a:prstGeom prst="rect">
            <a:avLst/>
          </a:prstGeom>
          <a:noFill/>
        </p:spPr>
        <p:txBody>
          <a:bodyPr wrap="none" lIns="0" rIns="0" tIns="0" bIns="0">
            <a:spAutoFit/>
          </a:bodyPr>
          <a:lstStyle/>
          <a:p>
            <a:pPr>
              <a:lnSpc>
                <a:spcPts val="3175"/>
              </a:lnSpc>
              <a:spcBef>
                <a:spcPts val="0"/>
              </a:spcBef>
              <a:spcAft>
                <a:spcPts val="0"/>
              </a:spcAft>
              <a:defRPr sz="2500" b="1">
                <a:solidFill>
                  <a:srgbClr val="008C7B"/>
                </a:solidFill>
                <a:latin typeface="DejaVu Sans"/>
              </a:defRPr>
            </a:pPr>
            <a:r>
              <a:t>›</a:t>
            </a:r>
          </a:p>
        </p:txBody>
      </p:sp>
      <p:sp>
        <p:nvSpPr>
          <p:cNvPr id="11" name="Rounded Rectangle 10"/>
          <p:cNvSpPr/>
          <p:nvPr/>
        </p:nvSpPr>
        <p:spPr>
          <a:xfrm>
            <a:off x="3432175" y="2349500"/>
            <a:ext cx="2555875" cy="2971800"/>
          </a:xfrm>
          <a:prstGeom prst="roundRect">
            <a:avLst>
              <a:gd name="adj" fmla="val 4968"/>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60775" y="2603500"/>
            <a:ext cx="431800" cy="3810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675" y="2692400"/>
            <a:ext cx="330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02</a:t>
            </a:r>
          </a:p>
        </p:txBody>
      </p:sp>
      <p:sp>
        <p:nvSpPr>
          <p:cNvPr id="14" name="TextBox 13"/>
          <p:cNvSpPr txBox="1"/>
          <p:nvPr/>
        </p:nvSpPr>
        <p:spPr>
          <a:xfrm>
            <a:off x="3660775" y="3314700"/>
            <a:ext cx="2098675" cy="419100"/>
          </a:xfrm>
          <a:prstGeom prst="rect">
            <a:avLst/>
          </a:prstGeom>
          <a:noFill/>
        </p:spPr>
        <p:txBody>
          <a:bodyPr wrap="none" lIns="0" rIns="0" tIns="0" bIns="0">
            <a:spAutoFit/>
          </a:bodyPr>
          <a:lstStyle/>
          <a:p>
            <a:pPr>
              <a:lnSpc>
                <a:spcPts val="2794"/>
              </a:lnSpc>
              <a:spcBef>
                <a:spcPts val="0"/>
              </a:spcBef>
              <a:spcAft>
                <a:spcPts val="0"/>
              </a:spcAft>
              <a:defRPr sz="2200" b="1">
                <a:solidFill>
                  <a:srgbClr val="173A42"/>
                </a:solidFill>
                <a:latin typeface="DejaVu Sans"/>
              </a:defRPr>
            </a:pPr>
            <a:r>
              <a:t>Freeze</a:t>
            </a:r>
          </a:p>
        </p:txBody>
      </p:sp>
      <p:sp>
        <p:nvSpPr>
          <p:cNvPr id="15" name="TextBox 14"/>
          <p:cNvSpPr txBox="1"/>
          <p:nvPr/>
        </p:nvSpPr>
        <p:spPr>
          <a:xfrm>
            <a:off x="3660775" y="3873500"/>
            <a:ext cx="2098675" cy="1333500"/>
          </a:xfrm>
          <a:prstGeom prst="rect">
            <a:avLst/>
          </a:prstGeom>
          <a:noFill/>
        </p:spPr>
        <p:txBody>
          <a:bodyPr wrap="none" lIns="0" rIns="0" tIns="0" bIns="0">
            <a:spAutoFit/>
          </a:bodyPr>
          <a:lstStyle/>
          <a:p>
            <a:pPr>
              <a:lnSpc>
                <a:spcPts val="2261"/>
              </a:lnSpc>
              <a:spcBef>
                <a:spcPts val="0"/>
              </a:spcBef>
              <a:spcAft>
                <a:spcPts val="0"/>
              </a:spcAft>
              <a:defRPr sz="1700" b="0">
                <a:solidFill>
                  <a:srgbClr val="173A42"/>
                </a:solidFill>
                <a:latin typeface="DejaVu Sans"/>
              </a:defRPr>
            </a:pPr>
            <a:r>
              <a:t>Package the</a:t>
            </a:r>
          </a:p>
          <a:p>
            <a:pPr>
              <a:lnSpc>
                <a:spcPts val="2261"/>
              </a:lnSpc>
              <a:spcBef>
                <a:spcPts val="0"/>
              </a:spcBef>
              <a:spcAft>
                <a:spcPts val="0"/>
              </a:spcAft>
              <a:defRPr sz="1700" b="0">
                <a:solidFill>
                  <a:srgbClr val="173A42"/>
                </a:solidFill>
                <a:latin typeface="DejaVu Sans"/>
              </a:defRPr>
            </a:pPr>
            <a:r>
              <a:t>harness and record</a:t>
            </a:r>
          </a:p>
          <a:p>
            <a:pPr>
              <a:lnSpc>
                <a:spcPts val="2261"/>
              </a:lnSpc>
              <a:spcBef>
                <a:spcPts val="0"/>
              </a:spcBef>
              <a:spcAft>
                <a:spcPts val="0"/>
              </a:spcAft>
              <a:defRPr sz="1700" b="0">
                <a:solidFill>
                  <a:srgbClr val="173A42"/>
                </a:solidFill>
                <a:latin typeface="DejaVu Sans"/>
              </a:defRPr>
            </a:pPr>
            <a:r>
              <a:t>its configuration.</a:t>
            </a:r>
          </a:p>
        </p:txBody>
      </p:sp>
      <p:sp>
        <p:nvSpPr>
          <p:cNvPr id="16" name="TextBox 15"/>
          <p:cNvSpPr txBox="1"/>
          <p:nvPr/>
        </p:nvSpPr>
        <p:spPr>
          <a:xfrm>
            <a:off x="6038850" y="3594100"/>
            <a:ext cx="177800" cy="381000"/>
          </a:xfrm>
          <a:prstGeom prst="rect">
            <a:avLst/>
          </a:prstGeom>
          <a:noFill/>
        </p:spPr>
        <p:txBody>
          <a:bodyPr wrap="none" lIns="0" rIns="0" tIns="0" bIns="0">
            <a:spAutoFit/>
          </a:bodyPr>
          <a:lstStyle/>
          <a:p>
            <a:pPr>
              <a:lnSpc>
                <a:spcPts val="3175"/>
              </a:lnSpc>
              <a:spcBef>
                <a:spcPts val="0"/>
              </a:spcBef>
              <a:spcAft>
                <a:spcPts val="0"/>
              </a:spcAft>
              <a:defRPr sz="2500" b="1">
                <a:solidFill>
                  <a:srgbClr val="008C7B"/>
                </a:solidFill>
                <a:latin typeface="DejaVu Sans"/>
              </a:defRPr>
            </a:pPr>
            <a:r>
              <a:t>›</a:t>
            </a:r>
          </a:p>
        </p:txBody>
      </p:sp>
      <p:sp>
        <p:nvSpPr>
          <p:cNvPr id="17" name="Rounded Rectangle 16"/>
          <p:cNvSpPr/>
          <p:nvPr/>
        </p:nvSpPr>
        <p:spPr>
          <a:xfrm>
            <a:off x="6203950" y="2349500"/>
            <a:ext cx="2555875" cy="2971800"/>
          </a:xfrm>
          <a:prstGeom prst="roundRect">
            <a:avLst>
              <a:gd name="adj" fmla="val 4968"/>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32550" y="2603500"/>
            <a:ext cx="431800" cy="3810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1450" y="2692400"/>
            <a:ext cx="330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03</a:t>
            </a:r>
          </a:p>
        </p:txBody>
      </p:sp>
      <p:sp>
        <p:nvSpPr>
          <p:cNvPr id="20" name="TextBox 19"/>
          <p:cNvSpPr txBox="1"/>
          <p:nvPr/>
        </p:nvSpPr>
        <p:spPr>
          <a:xfrm>
            <a:off x="6432550" y="3314700"/>
            <a:ext cx="2098675" cy="419100"/>
          </a:xfrm>
          <a:prstGeom prst="rect">
            <a:avLst/>
          </a:prstGeom>
          <a:noFill/>
        </p:spPr>
        <p:txBody>
          <a:bodyPr wrap="none" lIns="0" rIns="0" tIns="0" bIns="0">
            <a:spAutoFit/>
          </a:bodyPr>
          <a:lstStyle/>
          <a:p>
            <a:pPr>
              <a:lnSpc>
                <a:spcPts val="2794"/>
              </a:lnSpc>
              <a:spcBef>
                <a:spcPts val="0"/>
              </a:spcBef>
              <a:spcAft>
                <a:spcPts val="0"/>
              </a:spcAft>
              <a:defRPr sz="2200" b="1">
                <a:solidFill>
                  <a:srgbClr val="173A42"/>
                </a:solidFill>
                <a:latin typeface="DejaVu Sans"/>
              </a:defRPr>
            </a:pPr>
            <a:r>
              <a:t>Evaluate</a:t>
            </a:r>
          </a:p>
        </p:txBody>
      </p:sp>
      <p:sp>
        <p:nvSpPr>
          <p:cNvPr id="21" name="TextBox 20"/>
          <p:cNvSpPr txBox="1"/>
          <p:nvPr/>
        </p:nvSpPr>
        <p:spPr>
          <a:xfrm>
            <a:off x="6432550" y="3873500"/>
            <a:ext cx="2098675" cy="1333500"/>
          </a:xfrm>
          <a:prstGeom prst="rect">
            <a:avLst/>
          </a:prstGeom>
          <a:noFill/>
        </p:spPr>
        <p:txBody>
          <a:bodyPr wrap="none" lIns="0" rIns="0" tIns="0" bIns="0">
            <a:spAutoFit/>
          </a:bodyPr>
          <a:lstStyle/>
          <a:p>
            <a:pPr>
              <a:lnSpc>
                <a:spcPts val="2261"/>
              </a:lnSpc>
              <a:spcBef>
                <a:spcPts val="0"/>
              </a:spcBef>
              <a:spcAft>
                <a:spcPts val="0"/>
              </a:spcAft>
              <a:defRPr sz="1700" b="0">
                <a:solidFill>
                  <a:srgbClr val="173A42"/>
                </a:solidFill>
                <a:latin typeface="DejaVu Sans"/>
              </a:defRPr>
            </a:pPr>
            <a:r>
              <a:t>Run against the</a:t>
            </a:r>
          </a:p>
          <a:p>
            <a:pPr>
              <a:lnSpc>
                <a:spcPts val="2261"/>
              </a:lnSpc>
              <a:spcBef>
                <a:spcPts val="0"/>
              </a:spcBef>
              <a:spcAft>
                <a:spcPts val="0"/>
              </a:spcAft>
              <a:defRPr sz="1700" b="0">
                <a:solidFill>
                  <a:srgbClr val="173A42"/>
                </a:solidFill>
                <a:latin typeface="DejaVu Sans"/>
              </a:defRPr>
            </a:pPr>
            <a:r>
              <a:t>organizer-selected</a:t>
            </a:r>
          </a:p>
          <a:p>
            <a:pPr>
              <a:lnSpc>
                <a:spcPts val="2261"/>
              </a:lnSpc>
              <a:spcBef>
                <a:spcPts val="0"/>
              </a:spcBef>
              <a:spcAft>
                <a:spcPts val="0"/>
              </a:spcAft>
              <a:defRPr sz="1700" b="0">
                <a:solidFill>
                  <a:srgbClr val="173A42"/>
                </a:solidFill>
                <a:latin typeface="DejaVu Sans"/>
              </a:defRPr>
            </a:pPr>
            <a:r>
              <a:t>test definition.</a:t>
            </a:r>
          </a:p>
        </p:txBody>
      </p:sp>
      <p:sp>
        <p:nvSpPr>
          <p:cNvPr id="22" name="TextBox 21"/>
          <p:cNvSpPr txBox="1"/>
          <p:nvPr/>
        </p:nvSpPr>
        <p:spPr>
          <a:xfrm>
            <a:off x="8810625" y="3594100"/>
            <a:ext cx="177800" cy="381000"/>
          </a:xfrm>
          <a:prstGeom prst="rect">
            <a:avLst/>
          </a:prstGeom>
          <a:noFill/>
        </p:spPr>
        <p:txBody>
          <a:bodyPr wrap="none" lIns="0" rIns="0" tIns="0" bIns="0">
            <a:spAutoFit/>
          </a:bodyPr>
          <a:lstStyle/>
          <a:p>
            <a:pPr>
              <a:lnSpc>
                <a:spcPts val="3175"/>
              </a:lnSpc>
              <a:spcBef>
                <a:spcPts val="0"/>
              </a:spcBef>
              <a:spcAft>
                <a:spcPts val="0"/>
              </a:spcAft>
              <a:defRPr sz="2500" b="1">
                <a:solidFill>
                  <a:srgbClr val="008C7B"/>
                </a:solidFill>
                <a:latin typeface="DejaVu Sans"/>
              </a:defRPr>
            </a:pPr>
            <a:r>
              <a:t>›</a:t>
            </a:r>
          </a:p>
        </p:txBody>
      </p:sp>
      <p:sp>
        <p:nvSpPr>
          <p:cNvPr id="23" name="Rounded Rectangle 22"/>
          <p:cNvSpPr/>
          <p:nvPr/>
        </p:nvSpPr>
        <p:spPr>
          <a:xfrm>
            <a:off x="8975725" y="2349500"/>
            <a:ext cx="2555875" cy="2971800"/>
          </a:xfrm>
          <a:prstGeom prst="roundRect">
            <a:avLst>
              <a:gd name="adj" fmla="val 4968"/>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204325" y="2603500"/>
            <a:ext cx="431800" cy="3810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93225" y="2692400"/>
            <a:ext cx="330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04</a:t>
            </a:r>
          </a:p>
        </p:txBody>
      </p:sp>
      <p:sp>
        <p:nvSpPr>
          <p:cNvPr id="26" name="TextBox 25"/>
          <p:cNvSpPr txBox="1"/>
          <p:nvPr/>
        </p:nvSpPr>
        <p:spPr>
          <a:xfrm>
            <a:off x="9204325" y="3314700"/>
            <a:ext cx="2098675" cy="419100"/>
          </a:xfrm>
          <a:prstGeom prst="rect">
            <a:avLst/>
          </a:prstGeom>
          <a:noFill/>
        </p:spPr>
        <p:txBody>
          <a:bodyPr wrap="none" lIns="0" rIns="0" tIns="0" bIns="0">
            <a:spAutoFit/>
          </a:bodyPr>
          <a:lstStyle/>
          <a:p>
            <a:pPr>
              <a:lnSpc>
                <a:spcPts val="2794"/>
              </a:lnSpc>
              <a:spcBef>
                <a:spcPts val="0"/>
              </a:spcBef>
              <a:spcAft>
                <a:spcPts val="0"/>
              </a:spcAft>
              <a:defRPr sz="2200" b="1">
                <a:solidFill>
                  <a:srgbClr val="173A42"/>
                </a:solidFill>
                <a:latin typeface="DejaVu Sans"/>
              </a:defRPr>
            </a:pPr>
            <a:r>
              <a:t>Inspect</a:t>
            </a:r>
          </a:p>
        </p:txBody>
      </p:sp>
      <p:sp>
        <p:nvSpPr>
          <p:cNvPr id="27" name="TextBox 26"/>
          <p:cNvSpPr txBox="1"/>
          <p:nvPr/>
        </p:nvSpPr>
        <p:spPr>
          <a:xfrm>
            <a:off x="9204325" y="3873500"/>
            <a:ext cx="2098675" cy="1333500"/>
          </a:xfrm>
          <a:prstGeom prst="rect">
            <a:avLst/>
          </a:prstGeom>
          <a:noFill/>
        </p:spPr>
        <p:txBody>
          <a:bodyPr wrap="none" lIns="0" rIns="0" tIns="0" bIns="0">
            <a:spAutoFit/>
          </a:bodyPr>
          <a:lstStyle/>
          <a:p>
            <a:pPr>
              <a:lnSpc>
                <a:spcPts val="2261"/>
              </a:lnSpc>
              <a:spcBef>
                <a:spcPts val="0"/>
              </a:spcBef>
              <a:spcAft>
                <a:spcPts val="0"/>
              </a:spcAft>
              <a:defRPr sz="1700" b="0">
                <a:solidFill>
                  <a:srgbClr val="173A42"/>
                </a:solidFill>
                <a:latin typeface="DejaVu Sans"/>
              </a:defRPr>
            </a:pPr>
            <a:r>
              <a:t>Review the score,</a:t>
            </a:r>
          </a:p>
          <a:p>
            <a:pPr>
              <a:lnSpc>
                <a:spcPts val="2261"/>
              </a:lnSpc>
              <a:spcBef>
                <a:spcPts val="0"/>
              </a:spcBef>
              <a:spcAft>
                <a:spcPts val="0"/>
              </a:spcAft>
              <a:defRPr sz="1700" b="0">
                <a:solidFill>
                  <a:srgbClr val="173A42"/>
                </a:solidFill>
                <a:latin typeface="DejaVu Sans"/>
              </a:defRPr>
            </a:pPr>
            <a:r>
              <a:t>completion state,</a:t>
            </a:r>
          </a:p>
          <a:p>
            <a:pPr>
              <a:lnSpc>
                <a:spcPts val="2261"/>
              </a:lnSpc>
              <a:spcBef>
                <a:spcPts val="0"/>
              </a:spcBef>
              <a:spcAft>
                <a:spcPts val="0"/>
              </a:spcAft>
              <a:defRPr sz="1700" b="0">
                <a:solidFill>
                  <a:srgbClr val="173A42"/>
                </a:solidFill>
                <a:latin typeface="DejaVu Sans"/>
              </a:defRPr>
            </a:pPr>
            <a:r>
              <a:t>and action trace.</a:t>
            </a:r>
          </a:p>
        </p:txBody>
      </p:sp>
      <p:sp>
        <p:nvSpPr>
          <p:cNvPr id="28" name="Rounded Rectangle 27"/>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Reusing a definition resets cash, stock, simulated time, and the real-time deadline.</a:t>
            </a:r>
          </a:p>
        </p:txBody>
      </p:sp>
      <p:cxnSp>
        <p:nvCxnSpPr>
          <p:cNvPr id="30" name="Connector 29"/>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32" name="TextBox 31"/>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02 / THE ENVIRONMENT</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Learn from quotes and realized sales.</a:t>
            </a:r>
          </a:p>
        </p:txBody>
      </p:sp>
      <p:sp>
        <p:nvSpPr>
          <p:cNvPr id="5" name="Rounded Rectangle 4"/>
          <p:cNvSpPr/>
          <p:nvPr/>
        </p:nvSpPr>
        <p:spPr>
          <a:xfrm>
            <a:off x="660400" y="2209800"/>
            <a:ext cx="5308600" cy="3352800"/>
          </a:xfrm>
          <a:prstGeom prst="roundRect">
            <a:avLst>
              <a:gd name="adj" fmla="val 378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60400" y="2209800"/>
            <a:ext cx="5308600" cy="50800"/>
          </a:xfrm>
          <a:prstGeom prst="rect">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9800" y="2489200"/>
            <a:ext cx="4749800" cy="4445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AVAILABLE TO YOUR HARNESS</a:t>
            </a:r>
          </a:p>
        </p:txBody>
      </p:sp>
      <p:sp>
        <p:nvSpPr>
          <p:cNvPr id="8" name="Rounded Rectangle 7"/>
          <p:cNvSpPr/>
          <p:nvPr/>
        </p:nvSpPr>
        <p:spPr>
          <a:xfrm>
            <a:off x="939800" y="30734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68400" y="29972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Product names and reference prices</a:t>
            </a:r>
          </a:p>
        </p:txBody>
      </p:sp>
      <p:sp>
        <p:nvSpPr>
          <p:cNvPr id="10" name="Rounded Rectangle 9"/>
          <p:cNvSpPr/>
          <p:nvPr/>
        </p:nvSpPr>
        <p:spPr>
          <a:xfrm>
            <a:off x="939800" y="34290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68400" y="33528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Listed quotes and negotiation replies</a:t>
            </a:r>
          </a:p>
        </p:txBody>
      </p:sp>
      <p:sp>
        <p:nvSpPr>
          <p:cNvPr id="12" name="Rounded Rectangle 11"/>
          <p:cNvSpPr/>
          <p:nvPr/>
        </p:nvSpPr>
        <p:spPr>
          <a:xfrm>
            <a:off x="939800" y="37846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68400" y="37084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Balances, stock, and selling prices</a:t>
            </a:r>
          </a:p>
        </p:txBody>
      </p:sp>
      <p:sp>
        <p:nvSpPr>
          <p:cNvPr id="14" name="Rounded Rectangle 13"/>
          <p:cNvSpPr/>
          <p:nvPr/>
        </p:nvSpPr>
        <p:spPr>
          <a:xfrm>
            <a:off x="939800" y="4140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68400" y="40640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Realized sales, time costs, and rules</a:t>
            </a:r>
          </a:p>
        </p:txBody>
      </p:sp>
      <p:sp>
        <p:nvSpPr>
          <p:cNvPr id="16" name="Rounded Rectangle 15"/>
          <p:cNvSpPr/>
          <p:nvPr/>
        </p:nvSpPr>
        <p:spPr>
          <a:xfrm>
            <a:off x="6223000" y="2209800"/>
            <a:ext cx="5308600" cy="3352800"/>
          </a:xfrm>
          <a:prstGeom prst="roundRect">
            <a:avLst>
              <a:gd name="adj" fmla="val 378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23000" y="2209800"/>
            <a:ext cx="5308600" cy="50800"/>
          </a:xfrm>
          <a:prstGeom prst="rect">
            <a:avLst/>
          </a:prstGeom>
          <a:solidFill>
            <a:srgbClr val="5E8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02400" y="2489200"/>
            <a:ext cx="4749800" cy="444500"/>
          </a:xfrm>
          <a:prstGeom prst="rect">
            <a:avLst/>
          </a:prstGeom>
          <a:noFill/>
        </p:spPr>
        <p:txBody>
          <a:bodyPr wrap="none" lIns="0" rIns="0" tIns="0" bIns="0">
            <a:spAutoFit/>
          </a:bodyPr>
          <a:lstStyle/>
          <a:p>
            <a:pPr>
              <a:lnSpc>
                <a:spcPts val="1524"/>
              </a:lnSpc>
              <a:spcBef>
                <a:spcPts val="0"/>
              </a:spcBef>
              <a:spcAft>
                <a:spcPts val="0"/>
              </a:spcAft>
              <a:defRPr sz="1200" b="1">
                <a:solidFill>
                  <a:srgbClr val="557079"/>
                </a:solidFill>
                <a:latin typeface="DejaVu Sans"/>
              </a:defRPr>
            </a:pPr>
            <a:r>
              <a:t>KEPT WITH THE EVALUATOR</a:t>
            </a:r>
          </a:p>
        </p:txBody>
      </p:sp>
      <p:sp>
        <p:nvSpPr>
          <p:cNvPr id="19" name="Rounded Rectangle 18"/>
          <p:cNvSpPr/>
          <p:nvPr/>
        </p:nvSpPr>
        <p:spPr>
          <a:xfrm>
            <a:off x="6502400" y="30734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31000" y="29972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Supplier minimums and category labels</a:t>
            </a:r>
          </a:p>
        </p:txBody>
      </p:sp>
      <p:sp>
        <p:nvSpPr>
          <p:cNvPr id="21" name="Rounded Rectangle 20"/>
          <p:cNvSpPr/>
          <p:nvPr/>
        </p:nvSpPr>
        <p:spPr>
          <a:xfrm>
            <a:off x="6502400" y="34290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31000" y="33528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Latent demand and elasticity</a:t>
            </a:r>
          </a:p>
        </p:txBody>
      </p:sp>
      <p:sp>
        <p:nvSpPr>
          <p:cNvPr id="23" name="Rounded Rectangle 22"/>
          <p:cNvSpPr/>
          <p:nvPr/>
        </p:nvSpPr>
        <p:spPr>
          <a:xfrm>
            <a:off x="6502400" y="37846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31000" y="37084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Seed and future demand stream</a:t>
            </a:r>
          </a:p>
        </p:txBody>
      </p:sp>
      <p:sp>
        <p:nvSpPr>
          <p:cNvPr id="25" name="Rounded Rectangle 24"/>
          <p:cNvSpPr/>
          <p:nvPr/>
        </p:nvSpPr>
        <p:spPr>
          <a:xfrm>
            <a:off x="6502400" y="4140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31000" y="40640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Private test definition and service logs</a:t>
            </a:r>
          </a:p>
        </p:txBody>
      </p:sp>
      <p:sp>
        <p:nvSpPr>
          <p:cNvPr id="27" name="Rounded Rectangle 26"/>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Treat the public API as the information boundary for the test.</a:t>
            </a:r>
          </a:p>
        </p:txBody>
      </p:sp>
      <p:cxnSp>
        <p:nvCxnSpPr>
          <p:cNvPr id="29" name="Connector 28"/>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31" name="TextBox 30"/>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02 / THE ENVIRONMENT</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A small business with tight operating</a:t>
            </a:r>
          </a:p>
          <a:p>
            <a:pPr>
              <a:lnSpc>
                <a:spcPts val="3596"/>
              </a:lnSpc>
              <a:spcBef>
                <a:spcPts val="0"/>
              </a:spcBef>
              <a:spcAft>
                <a:spcPts val="0"/>
              </a:spcAft>
              <a:defRPr sz="3100" b="1">
                <a:solidFill>
                  <a:srgbClr val="173A42"/>
                </a:solidFill>
                <a:latin typeface="DejaVu Sans"/>
              </a:defRPr>
            </a:pPr>
            <a:r>
              <a:t>constraints.</a:t>
            </a:r>
          </a:p>
        </p:txBody>
      </p:sp>
      <p:sp>
        <p:nvSpPr>
          <p:cNvPr id="5" name="Rounded Rectangle 4"/>
          <p:cNvSpPr/>
          <p:nvPr/>
        </p:nvSpPr>
        <p:spPr>
          <a:xfrm>
            <a:off x="660400" y="2247900"/>
            <a:ext cx="2565400" cy="15875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6300" y="2451100"/>
            <a:ext cx="2133600" cy="622300"/>
          </a:xfrm>
          <a:prstGeom prst="rect">
            <a:avLst/>
          </a:prstGeom>
          <a:noFill/>
        </p:spPr>
        <p:txBody>
          <a:bodyPr wrap="none" lIns="0" rIns="0" tIns="0" bIns="0">
            <a:spAutoFit/>
          </a:bodyPr>
          <a:lstStyle/>
          <a:p>
            <a:pPr>
              <a:lnSpc>
                <a:spcPts val="3429"/>
              </a:lnSpc>
              <a:spcBef>
                <a:spcPts val="0"/>
              </a:spcBef>
              <a:spcAft>
                <a:spcPts val="0"/>
              </a:spcAft>
              <a:defRPr sz="2700" b="1">
                <a:solidFill>
                  <a:srgbClr val="008C7B"/>
                </a:solidFill>
                <a:latin typeface="DejaVu Sans"/>
              </a:defRPr>
            </a:pPr>
            <a:r>
              <a:t>$500</a:t>
            </a:r>
          </a:p>
        </p:txBody>
      </p:sp>
      <p:sp>
        <p:nvSpPr>
          <p:cNvPr id="7" name="TextBox 6"/>
          <p:cNvSpPr txBox="1"/>
          <p:nvPr/>
        </p:nvSpPr>
        <p:spPr>
          <a:xfrm>
            <a:off x="876300" y="3187700"/>
            <a:ext cx="2133600" cy="546100"/>
          </a:xfrm>
          <a:prstGeom prst="rect">
            <a:avLst/>
          </a:prstGeom>
          <a:noFill/>
        </p:spPr>
        <p:txBody>
          <a:bodyPr wrap="none" lIns="0" rIns="0" tIns="0" bIns="0">
            <a:spAutoFit/>
          </a:bodyPr>
          <a:lstStyle/>
          <a:p>
            <a:pPr>
              <a:lnSpc>
                <a:spcPts val="1714"/>
              </a:lnSpc>
              <a:spcBef>
                <a:spcPts val="0"/>
              </a:spcBef>
              <a:spcAft>
                <a:spcPts val="0"/>
              </a:spcAft>
              <a:defRPr sz="1350" b="0">
                <a:solidFill>
                  <a:srgbClr val="557079"/>
                </a:solidFill>
                <a:latin typeface="DejaVu Sans"/>
              </a:defRPr>
            </a:pPr>
            <a:r>
              <a:t>Starting spendable cash</a:t>
            </a:r>
          </a:p>
        </p:txBody>
      </p:sp>
      <p:sp>
        <p:nvSpPr>
          <p:cNvPr id="8" name="Rounded Rectangle 7"/>
          <p:cNvSpPr/>
          <p:nvPr/>
        </p:nvSpPr>
        <p:spPr>
          <a:xfrm>
            <a:off x="3429000" y="2247900"/>
            <a:ext cx="2565400" cy="15875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44900" y="2451100"/>
            <a:ext cx="2133600" cy="622300"/>
          </a:xfrm>
          <a:prstGeom prst="rect">
            <a:avLst/>
          </a:prstGeom>
          <a:noFill/>
        </p:spPr>
        <p:txBody>
          <a:bodyPr wrap="none" lIns="0" rIns="0" tIns="0" bIns="0">
            <a:spAutoFit/>
          </a:bodyPr>
          <a:lstStyle/>
          <a:p>
            <a:pPr>
              <a:lnSpc>
                <a:spcPts val="3429"/>
              </a:lnSpc>
              <a:spcBef>
                <a:spcPts val="0"/>
              </a:spcBef>
              <a:spcAft>
                <a:spcPts val="0"/>
              </a:spcAft>
              <a:defRPr sz="2700" b="1">
                <a:solidFill>
                  <a:srgbClr val="008C7B"/>
                </a:solidFill>
                <a:latin typeface="DejaVu Sans"/>
              </a:defRPr>
            </a:pPr>
            <a:r>
              <a:t>$2 / day</a:t>
            </a:r>
          </a:p>
        </p:txBody>
      </p:sp>
      <p:sp>
        <p:nvSpPr>
          <p:cNvPr id="10" name="TextBox 9"/>
          <p:cNvSpPr txBox="1"/>
          <p:nvPr/>
        </p:nvSpPr>
        <p:spPr>
          <a:xfrm>
            <a:off x="3644900" y="3187700"/>
            <a:ext cx="2133600" cy="546100"/>
          </a:xfrm>
          <a:prstGeom prst="rect">
            <a:avLst/>
          </a:prstGeom>
          <a:noFill/>
        </p:spPr>
        <p:txBody>
          <a:bodyPr wrap="none" lIns="0" rIns="0" tIns="0" bIns="0">
            <a:spAutoFit/>
          </a:bodyPr>
          <a:lstStyle/>
          <a:p>
            <a:pPr>
              <a:lnSpc>
                <a:spcPts val="1714"/>
              </a:lnSpc>
              <a:spcBef>
                <a:spcPts val="0"/>
              </a:spcBef>
              <a:spcAft>
                <a:spcPts val="0"/>
              </a:spcAft>
              <a:defRPr sz="1350" b="0">
                <a:solidFill>
                  <a:srgbClr val="557079"/>
                </a:solidFill>
                <a:latin typeface="DejaVu Sans"/>
              </a:defRPr>
            </a:pPr>
            <a:r>
              <a:t>Fee paid from</a:t>
            </a:r>
          </a:p>
          <a:p>
            <a:pPr>
              <a:lnSpc>
                <a:spcPts val="1714"/>
              </a:lnSpc>
              <a:spcBef>
                <a:spcPts val="0"/>
              </a:spcBef>
              <a:spcAft>
                <a:spcPts val="0"/>
              </a:spcAft>
              <a:defRPr sz="1350" b="0">
                <a:solidFill>
                  <a:srgbClr val="557079"/>
                </a:solidFill>
                <a:latin typeface="DejaVu Sans"/>
              </a:defRPr>
            </a:pPr>
            <a:r>
              <a:t>spendable cash</a:t>
            </a:r>
          </a:p>
        </p:txBody>
      </p:sp>
      <p:sp>
        <p:nvSpPr>
          <p:cNvPr id="11" name="Rounded Rectangle 10"/>
          <p:cNvSpPr/>
          <p:nvPr/>
        </p:nvSpPr>
        <p:spPr>
          <a:xfrm>
            <a:off x="6197600" y="2247900"/>
            <a:ext cx="2565400" cy="15875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3500" y="2451100"/>
            <a:ext cx="2133600" cy="622300"/>
          </a:xfrm>
          <a:prstGeom prst="rect">
            <a:avLst/>
          </a:prstGeom>
          <a:noFill/>
        </p:spPr>
        <p:txBody>
          <a:bodyPr wrap="none" lIns="0" rIns="0" tIns="0" bIns="0">
            <a:spAutoFit/>
          </a:bodyPr>
          <a:lstStyle/>
          <a:p>
            <a:pPr>
              <a:lnSpc>
                <a:spcPts val="3429"/>
              </a:lnSpc>
              <a:spcBef>
                <a:spcPts val="0"/>
              </a:spcBef>
              <a:spcAft>
                <a:spcPts val="0"/>
              </a:spcAft>
              <a:defRPr sz="2700" b="1">
                <a:solidFill>
                  <a:srgbClr val="008C7B"/>
                </a:solidFill>
                <a:latin typeface="DejaVu Sans"/>
              </a:defRPr>
            </a:pPr>
            <a:r>
              <a:t>120 units</a:t>
            </a:r>
          </a:p>
        </p:txBody>
      </p:sp>
      <p:sp>
        <p:nvSpPr>
          <p:cNvPr id="13" name="TextBox 12"/>
          <p:cNvSpPr txBox="1"/>
          <p:nvPr/>
        </p:nvSpPr>
        <p:spPr>
          <a:xfrm>
            <a:off x="6413500" y="3187700"/>
            <a:ext cx="2133600" cy="546100"/>
          </a:xfrm>
          <a:prstGeom prst="rect">
            <a:avLst/>
          </a:prstGeom>
          <a:noFill/>
        </p:spPr>
        <p:txBody>
          <a:bodyPr wrap="none" lIns="0" rIns="0" tIns="0" bIns="0">
            <a:spAutoFit/>
          </a:bodyPr>
          <a:lstStyle/>
          <a:p>
            <a:pPr>
              <a:lnSpc>
                <a:spcPts val="1714"/>
              </a:lnSpc>
              <a:spcBef>
                <a:spcPts val="0"/>
              </a:spcBef>
              <a:spcAft>
                <a:spcPts val="0"/>
              </a:spcAft>
              <a:defRPr sz="1350" b="0">
                <a:solidFill>
                  <a:srgbClr val="557079"/>
                </a:solidFill>
                <a:latin typeface="DejaVu Sans"/>
              </a:defRPr>
            </a:pPr>
            <a:r>
              <a:t>4 rows × 3 slots × 10</a:t>
            </a:r>
          </a:p>
          <a:p>
            <a:pPr>
              <a:lnSpc>
                <a:spcPts val="1714"/>
              </a:lnSpc>
              <a:spcBef>
                <a:spcPts val="0"/>
              </a:spcBef>
              <a:spcAft>
                <a:spcPts val="0"/>
              </a:spcAft>
              <a:defRPr sz="1350" b="0">
                <a:solidFill>
                  <a:srgbClr val="557079"/>
                </a:solidFill>
                <a:latin typeface="DejaVu Sans"/>
              </a:defRPr>
            </a:pPr>
            <a:r>
              <a:t>units</a:t>
            </a:r>
          </a:p>
        </p:txBody>
      </p:sp>
      <p:sp>
        <p:nvSpPr>
          <p:cNvPr id="14" name="Rounded Rectangle 13"/>
          <p:cNvSpPr/>
          <p:nvPr/>
        </p:nvSpPr>
        <p:spPr>
          <a:xfrm>
            <a:off x="8966200" y="2247900"/>
            <a:ext cx="2565400" cy="15875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82100" y="2451100"/>
            <a:ext cx="2133600" cy="622300"/>
          </a:xfrm>
          <a:prstGeom prst="rect">
            <a:avLst/>
          </a:prstGeom>
          <a:noFill/>
        </p:spPr>
        <p:txBody>
          <a:bodyPr wrap="none" lIns="0" rIns="0" tIns="0" bIns="0">
            <a:spAutoFit/>
          </a:bodyPr>
          <a:lstStyle/>
          <a:p>
            <a:pPr>
              <a:lnSpc>
                <a:spcPts val="3429"/>
              </a:lnSpc>
              <a:spcBef>
                <a:spcPts val="0"/>
              </a:spcBef>
              <a:spcAft>
                <a:spcPts val="0"/>
              </a:spcAft>
              <a:defRPr sz="2700" b="1">
                <a:solidFill>
                  <a:srgbClr val="008C7B"/>
                </a:solidFill>
                <a:latin typeface="DejaVu Sans"/>
              </a:defRPr>
            </a:pPr>
            <a:r>
              <a:t>10 + 10</a:t>
            </a:r>
          </a:p>
        </p:txBody>
      </p:sp>
      <p:sp>
        <p:nvSpPr>
          <p:cNvPr id="16" name="TextBox 15"/>
          <p:cNvSpPr txBox="1"/>
          <p:nvPr/>
        </p:nvSpPr>
        <p:spPr>
          <a:xfrm>
            <a:off x="9182100" y="3187700"/>
            <a:ext cx="2133600" cy="546100"/>
          </a:xfrm>
          <a:prstGeom prst="rect">
            <a:avLst/>
          </a:prstGeom>
          <a:noFill/>
        </p:spPr>
        <p:txBody>
          <a:bodyPr wrap="none" lIns="0" rIns="0" tIns="0" bIns="0">
            <a:spAutoFit/>
          </a:bodyPr>
          <a:lstStyle/>
          <a:p>
            <a:pPr>
              <a:lnSpc>
                <a:spcPts val="1714"/>
              </a:lnSpc>
              <a:spcBef>
                <a:spcPts val="0"/>
              </a:spcBef>
              <a:spcAft>
                <a:spcPts val="0"/>
              </a:spcAft>
              <a:defRPr sz="1350" b="0">
                <a:solidFill>
                  <a:srgbClr val="557079"/>
                </a:solidFill>
                <a:latin typeface="DejaVu Sans"/>
              </a:defRPr>
            </a:pPr>
            <a:r>
              <a:t>Products and suppliers</a:t>
            </a:r>
          </a:p>
        </p:txBody>
      </p:sp>
      <p:sp>
        <p:nvSpPr>
          <p:cNvPr id="17" name="Rounded Rectangle 16"/>
          <p:cNvSpPr/>
          <p:nvPr/>
        </p:nvSpPr>
        <p:spPr>
          <a:xfrm>
            <a:off x="736600" y="42037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5200" y="4127500"/>
            <a:ext cx="10464800" cy="1397000"/>
          </a:xfrm>
          <a:prstGeom prst="rect">
            <a:avLst/>
          </a:prstGeom>
          <a:noFill/>
        </p:spPr>
        <p:txBody>
          <a:bodyPr wrap="none" lIns="0" rIns="0" tIns="0" bIns="0">
            <a:spAutoFit/>
          </a:bodyPr>
          <a:lstStyle/>
          <a:p>
            <a:pPr>
              <a:lnSpc>
                <a:spcPts val="2295"/>
              </a:lnSpc>
              <a:spcBef>
                <a:spcPts val="0"/>
              </a:spcBef>
              <a:spcAft>
                <a:spcPts val="0"/>
              </a:spcAft>
              <a:defRPr sz="1700" b="0">
                <a:solidFill>
                  <a:srgbClr val="173A42"/>
                </a:solidFill>
                <a:latin typeface="DejaVu Sans"/>
              </a:defRPr>
            </a:pPr>
            <a:r>
              <a:t>One product per slot; several slots may hold the same product.</a:t>
            </a:r>
          </a:p>
        </p:txBody>
      </p:sp>
      <p:sp>
        <p:nvSpPr>
          <p:cNvPr id="19" name="Rounded Rectangle 18"/>
          <p:cNvSpPr/>
          <p:nvPr/>
        </p:nvSpPr>
        <p:spPr>
          <a:xfrm>
            <a:off x="736600" y="4648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5200" y="4572000"/>
            <a:ext cx="10464800" cy="1397000"/>
          </a:xfrm>
          <a:prstGeom prst="rect">
            <a:avLst/>
          </a:prstGeom>
          <a:noFill/>
        </p:spPr>
        <p:txBody>
          <a:bodyPr wrap="none" lIns="0" rIns="0" tIns="0" bIns="0">
            <a:spAutoFit/>
          </a:bodyPr>
          <a:lstStyle/>
          <a:p>
            <a:pPr>
              <a:lnSpc>
                <a:spcPts val="2295"/>
              </a:lnSpc>
              <a:spcBef>
                <a:spcPts val="0"/>
              </a:spcBef>
              <a:spcAft>
                <a:spcPts val="0"/>
              </a:spcAft>
              <a:defRPr sz="1700" b="0">
                <a:solidFill>
                  <a:srgbClr val="173A42"/>
                </a:solidFill>
                <a:latin typeface="DejaVu Sans"/>
              </a:defRPr>
            </a:pPr>
            <a:r>
              <a:t>Storage is unlimited. Delivery is immediate. Products do not spoil.</a:t>
            </a:r>
          </a:p>
        </p:txBody>
      </p:sp>
      <p:sp>
        <p:nvSpPr>
          <p:cNvPr id="21" name="Rounded Rectangle 20"/>
          <p:cNvSpPr/>
          <p:nvPr/>
        </p:nvSpPr>
        <p:spPr>
          <a:xfrm>
            <a:off x="736600" y="50927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5200" y="5016500"/>
            <a:ext cx="10464800" cy="1397000"/>
          </a:xfrm>
          <a:prstGeom prst="rect">
            <a:avLst/>
          </a:prstGeom>
          <a:noFill/>
        </p:spPr>
        <p:txBody>
          <a:bodyPr wrap="none" lIns="0" rIns="0" tIns="0" bIns="0">
            <a:spAutoFit/>
          </a:bodyPr>
          <a:lstStyle/>
          <a:p>
            <a:pPr>
              <a:lnSpc>
                <a:spcPts val="2295"/>
              </a:lnSpc>
              <a:spcBef>
                <a:spcPts val="0"/>
              </a:spcBef>
              <a:spcAft>
                <a:spcPts val="0"/>
              </a:spcAft>
              <a:defRPr sz="1700" b="0">
                <a:solidFill>
                  <a:srgbClr val="173A42"/>
                </a:solidFill>
                <a:latin typeface="DejaVu Sans"/>
              </a:defRPr>
            </a:pPr>
            <a:r>
              <a:t>Collect machine cash to make it spendable.</a:t>
            </a:r>
          </a:p>
        </p:txBody>
      </p:sp>
      <p:sp>
        <p:nvSpPr>
          <p:cNvPr id="23" name="Rounded Rectangle 22"/>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Current practice configuration shown. Read the selected environment’s public rules at startup.</a:t>
            </a:r>
          </a:p>
        </p:txBody>
      </p:sp>
      <p:cxnSp>
        <p:nvCxnSpPr>
          <p:cNvPr id="25" name="Connector 24"/>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27" name="TextBox 26"/>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02 / THE ENVIRONMENT</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There are two clocks to manage.</a:t>
            </a:r>
          </a:p>
        </p:txBody>
      </p:sp>
      <p:sp>
        <p:nvSpPr>
          <p:cNvPr id="5" name="Rounded Rectangle 4"/>
          <p:cNvSpPr/>
          <p:nvPr/>
        </p:nvSpPr>
        <p:spPr>
          <a:xfrm>
            <a:off x="660400" y="2209800"/>
            <a:ext cx="5308600" cy="3352800"/>
          </a:xfrm>
          <a:prstGeom prst="roundRect">
            <a:avLst>
              <a:gd name="adj" fmla="val 378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60400" y="2209800"/>
            <a:ext cx="5308600" cy="50800"/>
          </a:xfrm>
          <a:prstGeom prst="rect">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9800" y="2489200"/>
            <a:ext cx="4749800" cy="4445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REAL TIME</a:t>
            </a:r>
          </a:p>
        </p:txBody>
      </p:sp>
      <p:sp>
        <p:nvSpPr>
          <p:cNvPr id="8" name="Rounded Rectangle 7"/>
          <p:cNvSpPr/>
          <p:nvPr/>
        </p:nvSpPr>
        <p:spPr>
          <a:xfrm>
            <a:off x="939800" y="30734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68400" y="29972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Practice config: 1 hour from creation</a:t>
            </a:r>
          </a:p>
        </p:txBody>
      </p:sp>
      <p:sp>
        <p:nvSpPr>
          <p:cNvPr id="10" name="Rounded Rectangle 9"/>
          <p:cNvSpPr/>
          <p:nvPr/>
        </p:nvSpPr>
        <p:spPr>
          <a:xfrm>
            <a:off x="939800" y="34290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68400" y="33528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Thinking and network latency use this time</a:t>
            </a:r>
          </a:p>
        </p:txBody>
      </p:sp>
      <p:sp>
        <p:nvSpPr>
          <p:cNvPr id="12" name="Rounded Rectangle 11"/>
          <p:cNvSpPr/>
          <p:nvPr/>
        </p:nvSpPr>
        <p:spPr>
          <a:xfrm>
            <a:off x="939800" y="37846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68400" y="37084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After expiry, business actions are rejected</a:t>
            </a:r>
          </a:p>
        </p:txBody>
      </p:sp>
      <p:sp>
        <p:nvSpPr>
          <p:cNvPr id="14" name="Rounded Rectangle 13"/>
          <p:cNvSpPr/>
          <p:nvPr/>
        </p:nvSpPr>
        <p:spPr>
          <a:xfrm>
            <a:off x="939800" y="4140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68400" y="40640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Unplayed days are not simulated</a:t>
            </a:r>
          </a:p>
        </p:txBody>
      </p:sp>
      <p:sp>
        <p:nvSpPr>
          <p:cNvPr id="16" name="Rounded Rectangle 15"/>
          <p:cNvSpPr/>
          <p:nvPr/>
        </p:nvSpPr>
        <p:spPr>
          <a:xfrm>
            <a:off x="6223000" y="2209800"/>
            <a:ext cx="5308600" cy="3352800"/>
          </a:xfrm>
          <a:prstGeom prst="roundRect">
            <a:avLst>
              <a:gd name="adj" fmla="val 378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23000" y="2209800"/>
            <a:ext cx="5308600" cy="50800"/>
          </a:xfrm>
          <a:prstGeom prst="rect">
            <a:avLst/>
          </a:prstGeom>
          <a:solidFill>
            <a:srgbClr val="5E8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02400" y="2489200"/>
            <a:ext cx="4749800" cy="444500"/>
          </a:xfrm>
          <a:prstGeom prst="rect">
            <a:avLst/>
          </a:prstGeom>
          <a:noFill/>
        </p:spPr>
        <p:txBody>
          <a:bodyPr wrap="none" lIns="0" rIns="0" tIns="0" bIns="0">
            <a:spAutoFit/>
          </a:bodyPr>
          <a:lstStyle/>
          <a:p>
            <a:pPr>
              <a:lnSpc>
                <a:spcPts val="1524"/>
              </a:lnSpc>
              <a:spcBef>
                <a:spcPts val="0"/>
              </a:spcBef>
              <a:spcAft>
                <a:spcPts val="0"/>
              </a:spcAft>
              <a:defRPr sz="1200" b="1">
                <a:solidFill>
                  <a:srgbClr val="557079"/>
                </a:solidFill>
                <a:latin typeface="DejaVu Sans"/>
              </a:defRPr>
            </a:pPr>
            <a:r>
              <a:t>SIMULATED TIME</a:t>
            </a:r>
          </a:p>
        </p:txBody>
      </p:sp>
      <p:sp>
        <p:nvSpPr>
          <p:cNvPr id="19" name="Rounded Rectangle 18"/>
          <p:cNvSpPr/>
          <p:nvPr/>
        </p:nvSpPr>
        <p:spPr>
          <a:xfrm>
            <a:off x="6502400" y="30734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31000" y="29972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Advances through business actions</a:t>
            </a:r>
          </a:p>
        </p:txBody>
      </p:sp>
      <p:sp>
        <p:nvSpPr>
          <p:cNvPr id="21" name="Rounded Rectangle 20"/>
          <p:cNvSpPr/>
          <p:nvPr/>
        </p:nvSpPr>
        <p:spPr>
          <a:xfrm>
            <a:off x="6502400" y="34290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31000" y="33528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Sales and fees settle at midnight</a:t>
            </a:r>
          </a:p>
        </p:txBody>
      </p:sp>
      <p:sp>
        <p:nvSpPr>
          <p:cNvPr id="23" name="Rounded Rectangle 22"/>
          <p:cNvSpPr/>
          <p:nvPr/>
        </p:nvSpPr>
        <p:spPr>
          <a:xfrm>
            <a:off x="6502400" y="37846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31000" y="37084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end_day advances to the next midnight</a:t>
            </a:r>
          </a:p>
        </p:txBody>
      </p:sp>
      <p:sp>
        <p:nvSpPr>
          <p:cNvPr id="25" name="Rounded Rectangle 24"/>
          <p:cNvSpPr/>
          <p:nvPr/>
        </p:nvSpPr>
        <p:spPr>
          <a:xfrm>
            <a:off x="6502400" y="4140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31000" y="40640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Practice config: a 365-day cap</a:t>
            </a:r>
          </a:p>
        </p:txBody>
      </p:sp>
      <p:sp>
        <p:nvSpPr>
          <p:cNvPr id="27" name="Rounded Rectangle 26"/>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The first real-time, simulated-day, or fee-failure limit ends the episode.</a:t>
            </a:r>
          </a:p>
        </p:txBody>
      </p:sp>
      <p:cxnSp>
        <p:nvCxnSpPr>
          <p:cNvPr id="29" name="Connector 28"/>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31" name="TextBox 30"/>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02 / THE ENVIRONMENT</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Keep the operating loop moving.</a:t>
            </a:r>
          </a:p>
        </p:txBody>
      </p:sp>
      <p:sp>
        <p:nvSpPr>
          <p:cNvPr id="5" name="Rounded Rectangle 4"/>
          <p:cNvSpPr/>
          <p:nvPr/>
        </p:nvSpPr>
        <p:spPr>
          <a:xfrm>
            <a:off x="660400" y="2349500"/>
            <a:ext cx="2555875" cy="2971800"/>
          </a:xfrm>
          <a:prstGeom prst="roundRect">
            <a:avLst>
              <a:gd name="adj" fmla="val 4968"/>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9000" y="2603500"/>
            <a:ext cx="431800" cy="3810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7900" y="2692400"/>
            <a:ext cx="330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01</a:t>
            </a:r>
          </a:p>
        </p:txBody>
      </p:sp>
      <p:sp>
        <p:nvSpPr>
          <p:cNvPr id="8" name="TextBox 7"/>
          <p:cNvSpPr txBox="1"/>
          <p:nvPr/>
        </p:nvSpPr>
        <p:spPr>
          <a:xfrm>
            <a:off x="889000" y="3314700"/>
            <a:ext cx="2098675" cy="419100"/>
          </a:xfrm>
          <a:prstGeom prst="rect">
            <a:avLst/>
          </a:prstGeom>
          <a:noFill/>
        </p:spPr>
        <p:txBody>
          <a:bodyPr wrap="none" lIns="0" rIns="0" tIns="0" bIns="0">
            <a:spAutoFit/>
          </a:bodyPr>
          <a:lstStyle/>
          <a:p>
            <a:pPr>
              <a:lnSpc>
                <a:spcPts val="2794"/>
              </a:lnSpc>
              <a:spcBef>
                <a:spcPts val="0"/>
              </a:spcBef>
              <a:spcAft>
                <a:spcPts val="0"/>
              </a:spcAft>
              <a:defRPr sz="2200" b="1">
                <a:solidFill>
                  <a:srgbClr val="173A42"/>
                </a:solidFill>
                <a:latin typeface="DejaVu Sans"/>
              </a:defRPr>
            </a:pPr>
            <a:r>
              <a:t>Source</a:t>
            </a:r>
          </a:p>
        </p:txBody>
      </p:sp>
      <p:sp>
        <p:nvSpPr>
          <p:cNvPr id="9" name="TextBox 8"/>
          <p:cNvSpPr txBox="1"/>
          <p:nvPr/>
        </p:nvSpPr>
        <p:spPr>
          <a:xfrm>
            <a:off x="889000" y="3873500"/>
            <a:ext cx="2098675" cy="1333500"/>
          </a:xfrm>
          <a:prstGeom prst="rect">
            <a:avLst/>
          </a:prstGeom>
          <a:noFill/>
        </p:spPr>
        <p:txBody>
          <a:bodyPr wrap="none" lIns="0" rIns="0" tIns="0" bIns="0">
            <a:spAutoFit/>
          </a:bodyPr>
          <a:lstStyle/>
          <a:p>
            <a:pPr>
              <a:lnSpc>
                <a:spcPts val="2261"/>
              </a:lnSpc>
              <a:spcBef>
                <a:spcPts val="0"/>
              </a:spcBef>
              <a:spcAft>
                <a:spcPts val="0"/>
              </a:spcAft>
              <a:defRPr sz="1700" b="0">
                <a:solidFill>
                  <a:srgbClr val="173A42"/>
                </a:solidFill>
                <a:latin typeface="DejaVu Sans"/>
              </a:defRPr>
            </a:pPr>
            <a:r>
              <a:t>Check existing</a:t>
            </a:r>
          </a:p>
          <a:p>
            <a:pPr>
              <a:lnSpc>
                <a:spcPts val="2261"/>
              </a:lnSpc>
              <a:spcBef>
                <a:spcPts val="0"/>
              </a:spcBef>
              <a:spcAft>
                <a:spcPts val="0"/>
              </a:spcAft>
              <a:defRPr sz="1700" b="0">
                <a:solidFill>
                  <a:srgbClr val="173A42"/>
                </a:solidFill>
                <a:latin typeface="DejaVu Sans"/>
              </a:defRPr>
            </a:pPr>
            <a:r>
              <a:t>stock, then buy</a:t>
            </a:r>
          </a:p>
          <a:p>
            <a:pPr>
              <a:lnSpc>
                <a:spcPts val="2261"/>
              </a:lnSpc>
              <a:spcBef>
                <a:spcPts val="0"/>
              </a:spcBef>
              <a:spcAft>
                <a:spcPts val="0"/>
              </a:spcAft>
              <a:defRPr sz="1700" b="0">
                <a:solidFill>
                  <a:srgbClr val="173A42"/>
                </a:solidFill>
                <a:latin typeface="DejaVu Sans"/>
              </a:defRPr>
            </a:pPr>
            <a:r>
              <a:t>any shortfall.</a:t>
            </a:r>
          </a:p>
        </p:txBody>
      </p:sp>
      <p:sp>
        <p:nvSpPr>
          <p:cNvPr id="10" name="TextBox 9"/>
          <p:cNvSpPr txBox="1"/>
          <p:nvPr/>
        </p:nvSpPr>
        <p:spPr>
          <a:xfrm>
            <a:off x="3267075" y="3594100"/>
            <a:ext cx="177800" cy="381000"/>
          </a:xfrm>
          <a:prstGeom prst="rect">
            <a:avLst/>
          </a:prstGeom>
          <a:noFill/>
        </p:spPr>
        <p:txBody>
          <a:bodyPr wrap="none" lIns="0" rIns="0" tIns="0" bIns="0">
            <a:spAutoFit/>
          </a:bodyPr>
          <a:lstStyle/>
          <a:p>
            <a:pPr>
              <a:lnSpc>
                <a:spcPts val="3175"/>
              </a:lnSpc>
              <a:spcBef>
                <a:spcPts val="0"/>
              </a:spcBef>
              <a:spcAft>
                <a:spcPts val="0"/>
              </a:spcAft>
              <a:defRPr sz="2500" b="1">
                <a:solidFill>
                  <a:srgbClr val="008C7B"/>
                </a:solidFill>
                <a:latin typeface="DejaVu Sans"/>
              </a:defRPr>
            </a:pPr>
            <a:r>
              <a:t>›</a:t>
            </a:r>
          </a:p>
        </p:txBody>
      </p:sp>
      <p:sp>
        <p:nvSpPr>
          <p:cNvPr id="11" name="Rounded Rectangle 10"/>
          <p:cNvSpPr/>
          <p:nvPr/>
        </p:nvSpPr>
        <p:spPr>
          <a:xfrm>
            <a:off x="3432175" y="2349500"/>
            <a:ext cx="2555875" cy="2971800"/>
          </a:xfrm>
          <a:prstGeom prst="roundRect">
            <a:avLst>
              <a:gd name="adj" fmla="val 4968"/>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660775" y="2603500"/>
            <a:ext cx="431800" cy="3810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675" y="2692400"/>
            <a:ext cx="330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02</a:t>
            </a:r>
          </a:p>
        </p:txBody>
      </p:sp>
      <p:sp>
        <p:nvSpPr>
          <p:cNvPr id="14" name="TextBox 13"/>
          <p:cNvSpPr txBox="1"/>
          <p:nvPr/>
        </p:nvSpPr>
        <p:spPr>
          <a:xfrm>
            <a:off x="3660775" y="3314700"/>
            <a:ext cx="2098675" cy="419100"/>
          </a:xfrm>
          <a:prstGeom prst="rect">
            <a:avLst/>
          </a:prstGeom>
          <a:noFill/>
        </p:spPr>
        <p:txBody>
          <a:bodyPr wrap="none" lIns="0" rIns="0" tIns="0" bIns="0">
            <a:spAutoFit/>
          </a:bodyPr>
          <a:lstStyle/>
          <a:p>
            <a:pPr>
              <a:lnSpc>
                <a:spcPts val="2794"/>
              </a:lnSpc>
              <a:spcBef>
                <a:spcPts val="0"/>
              </a:spcBef>
              <a:spcAft>
                <a:spcPts val="0"/>
              </a:spcAft>
              <a:defRPr sz="2200" b="1">
                <a:solidFill>
                  <a:srgbClr val="173A42"/>
                </a:solidFill>
                <a:latin typeface="DejaVu Sans"/>
              </a:defRPr>
            </a:pPr>
            <a:r>
              <a:t>Prepare</a:t>
            </a:r>
          </a:p>
        </p:txBody>
      </p:sp>
      <p:sp>
        <p:nvSpPr>
          <p:cNvPr id="15" name="TextBox 14"/>
          <p:cNvSpPr txBox="1"/>
          <p:nvPr/>
        </p:nvSpPr>
        <p:spPr>
          <a:xfrm>
            <a:off x="3660775" y="3873500"/>
            <a:ext cx="2098675" cy="1333500"/>
          </a:xfrm>
          <a:prstGeom prst="rect">
            <a:avLst/>
          </a:prstGeom>
          <a:noFill/>
        </p:spPr>
        <p:txBody>
          <a:bodyPr wrap="none" lIns="0" rIns="0" tIns="0" bIns="0">
            <a:spAutoFit/>
          </a:bodyPr>
          <a:lstStyle/>
          <a:p>
            <a:pPr>
              <a:lnSpc>
                <a:spcPts val="2261"/>
              </a:lnSpc>
              <a:spcBef>
                <a:spcPts val="0"/>
              </a:spcBef>
              <a:spcAft>
                <a:spcPts val="0"/>
              </a:spcAft>
              <a:defRPr sz="1700" b="0">
                <a:solidFill>
                  <a:srgbClr val="173A42"/>
                </a:solidFill>
                <a:latin typeface="DejaVu Sans"/>
              </a:defRPr>
            </a:pPr>
            <a:r>
              <a:t>Set prices and</a:t>
            </a:r>
          </a:p>
          <a:p>
            <a:pPr>
              <a:lnSpc>
                <a:spcPts val="2261"/>
              </a:lnSpc>
              <a:spcBef>
                <a:spcPts val="0"/>
              </a:spcBef>
              <a:spcAft>
                <a:spcPts val="0"/>
              </a:spcAft>
              <a:defRPr sz="1700" b="0">
                <a:solidFill>
                  <a:srgbClr val="173A42"/>
                </a:solidFill>
                <a:latin typeface="DejaVu Sans"/>
              </a:defRPr>
            </a:pPr>
            <a:r>
              <a:t>move stock into</a:t>
            </a:r>
          </a:p>
          <a:p>
            <a:pPr>
              <a:lnSpc>
                <a:spcPts val="2261"/>
              </a:lnSpc>
              <a:spcBef>
                <a:spcPts val="0"/>
              </a:spcBef>
              <a:spcAft>
                <a:spcPts val="0"/>
              </a:spcAft>
              <a:defRPr sz="1700" b="0">
                <a:solidFill>
                  <a:srgbClr val="173A42"/>
                </a:solidFill>
                <a:latin typeface="DejaVu Sans"/>
              </a:defRPr>
            </a:pPr>
            <a:r>
              <a:t>slots.</a:t>
            </a:r>
          </a:p>
        </p:txBody>
      </p:sp>
      <p:sp>
        <p:nvSpPr>
          <p:cNvPr id="16" name="TextBox 15"/>
          <p:cNvSpPr txBox="1"/>
          <p:nvPr/>
        </p:nvSpPr>
        <p:spPr>
          <a:xfrm>
            <a:off x="6038850" y="3594100"/>
            <a:ext cx="177800" cy="381000"/>
          </a:xfrm>
          <a:prstGeom prst="rect">
            <a:avLst/>
          </a:prstGeom>
          <a:noFill/>
        </p:spPr>
        <p:txBody>
          <a:bodyPr wrap="none" lIns="0" rIns="0" tIns="0" bIns="0">
            <a:spAutoFit/>
          </a:bodyPr>
          <a:lstStyle/>
          <a:p>
            <a:pPr>
              <a:lnSpc>
                <a:spcPts val="3175"/>
              </a:lnSpc>
              <a:spcBef>
                <a:spcPts val="0"/>
              </a:spcBef>
              <a:spcAft>
                <a:spcPts val="0"/>
              </a:spcAft>
              <a:defRPr sz="2500" b="1">
                <a:solidFill>
                  <a:srgbClr val="008C7B"/>
                </a:solidFill>
                <a:latin typeface="DejaVu Sans"/>
              </a:defRPr>
            </a:pPr>
            <a:r>
              <a:t>›</a:t>
            </a:r>
          </a:p>
        </p:txBody>
      </p:sp>
      <p:sp>
        <p:nvSpPr>
          <p:cNvPr id="17" name="Rounded Rectangle 16"/>
          <p:cNvSpPr/>
          <p:nvPr/>
        </p:nvSpPr>
        <p:spPr>
          <a:xfrm>
            <a:off x="6203950" y="2349500"/>
            <a:ext cx="2555875" cy="2971800"/>
          </a:xfrm>
          <a:prstGeom prst="roundRect">
            <a:avLst>
              <a:gd name="adj" fmla="val 4968"/>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32550" y="2603500"/>
            <a:ext cx="431800" cy="3810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1450" y="2692400"/>
            <a:ext cx="330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03</a:t>
            </a:r>
          </a:p>
        </p:txBody>
      </p:sp>
      <p:sp>
        <p:nvSpPr>
          <p:cNvPr id="20" name="TextBox 19"/>
          <p:cNvSpPr txBox="1"/>
          <p:nvPr/>
        </p:nvSpPr>
        <p:spPr>
          <a:xfrm>
            <a:off x="6432550" y="3314700"/>
            <a:ext cx="2098675" cy="419100"/>
          </a:xfrm>
          <a:prstGeom prst="rect">
            <a:avLst/>
          </a:prstGeom>
          <a:noFill/>
        </p:spPr>
        <p:txBody>
          <a:bodyPr wrap="none" lIns="0" rIns="0" tIns="0" bIns="0">
            <a:spAutoFit/>
          </a:bodyPr>
          <a:lstStyle/>
          <a:p>
            <a:pPr>
              <a:lnSpc>
                <a:spcPts val="2794"/>
              </a:lnSpc>
              <a:spcBef>
                <a:spcPts val="0"/>
              </a:spcBef>
              <a:spcAft>
                <a:spcPts val="0"/>
              </a:spcAft>
              <a:defRPr sz="2200" b="1">
                <a:solidFill>
                  <a:srgbClr val="173A42"/>
                </a:solidFill>
                <a:latin typeface="DejaVu Sans"/>
              </a:defRPr>
            </a:pPr>
            <a:r>
              <a:t>Sell</a:t>
            </a:r>
          </a:p>
        </p:txBody>
      </p:sp>
      <p:sp>
        <p:nvSpPr>
          <p:cNvPr id="21" name="TextBox 20"/>
          <p:cNvSpPr txBox="1"/>
          <p:nvPr/>
        </p:nvSpPr>
        <p:spPr>
          <a:xfrm>
            <a:off x="6432550" y="3873500"/>
            <a:ext cx="2098675" cy="1333500"/>
          </a:xfrm>
          <a:prstGeom prst="rect">
            <a:avLst/>
          </a:prstGeom>
          <a:noFill/>
        </p:spPr>
        <p:txBody>
          <a:bodyPr wrap="none" lIns="0" rIns="0" tIns="0" bIns="0">
            <a:spAutoFit/>
          </a:bodyPr>
          <a:lstStyle/>
          <a:p>
            <a:pPr>
              <a:lnSpc>
                <a:spcPts val="2261"/>
              </a:lnSpc>
              <a:spcBef>
                <a:spcPts val="0"/>
              </a:spcBef>
              <a:spcAft>
                <a:spcPts val="0"/>
              </a:spcAft>
              <a:defRPr sz="1700" b="0">
                <a:solidFill>
                  <a:srgbClr val="173A42"/>
                </a:solidFill>
                <a:latin typeface="DejaVu Sans"/>
              </a:defRPr>
            </a:pPr>
            <a:r>
              <a:t>Advance time and</a:t>
            </a:r>
          </a:p>
          <a:p>
            <a:pPr>
              <a:lnSpc>
                <a:spcPts val="2261"/>
              </a:lnSpc>
              <a:spcBef>
                <a:spcPts val="0"/>
              </a:spcBef>
              <a:spcAft>
                <a:spcPts val="0"/>
              </a:spcAft>
              <a:defRPr sz="1700" b="0">
                <a:solidFill>
                  <a:srgbClr val="173A42"/>
                </a:solidFill>
                <a:latin typeface="DejaVu Sans"/>
              </a:defRPr>
            </a:pPr>
            <a:r>
              <a:t>observe realized</a:t>
            </a:r>
          </a:p>
          <a:p>
            <a:pPr>
              <a:lnSpc>
                <a:spcPts val="2261"/>
              </a:lnSpc>
              <a:spcBef>
                <a:spcPts val="0"/>
              </a:spcBef>
              <a:spcAft>
                <a:spcPts val="0"/>
              </a:spcAft>
              <a:defRPr sz="1700" b="0">
                <a:solidFill>
                  <a:srgbClr val="173A42"/>
                </a:solidFill>
                <a:latin typeface="DejaVu Sans"/>
              </a:defRPr>
            </a:pPr>
            <a:r>
              <a:t>sales.</a:t>
            </a:r>
          </a:p>
        </p:txBody>
      </p:sp>
      <p:sp>
        <p:nvSpPr>
          <p:cNvPr id="22" name="TextBox 21"/>
          <p:cNvSpPr txBox="1"/>
          <p:nvPr/>
        </p:nvSpPr>
        <p:spPr>
          <a:xfrm>
            <a:off x="8810625" y="3594100"/>
            <a:ext cx="177800" cy="381000"/>
          </a:xfrm>
          <a:prstGeom prst="rect">
            <a:avLst/>
          </a:prstGeom>
          <a:noFill/>
        </p:spPr>
        <p:txBody>
          <a:bodyPr wrap="none" lIns="0" rIns="0" tIns="0" bIns="0">
            <a:spAutoFit/>
          </a:bodyPr>
          <a:lstStyle/>
          <a:p>
            <a:pPr>
              <a:lnSpc>
                <a:spcPts val="3175"/>
              </a:lnSpc>
              <a:spcBef>
                <a:spcPts val="0"/>
              </a:spcBef>
              <a:spcAft>
                <a:spcPts val="0"/>
              </a:spcAft>
              <a:defRPr sz="2500" b="1">
                <a:solidFill>
                  <a:srgbClr val="008C7B"/>
                </a:solidFill>
                <a:latin typeface="DejaVu Sans"/>
              </a:defRPr>
            </a:pPr>
            <a:r>
              <a:t>›</a:t>
            </a:r>
          </a:p>
        </p:txBody>
      </p:sp>
      <p:sp>
        <p:nvSpPr>
          <p:cNvPr id="23" name="Rounded Rectangle 22"/>
          <p:cNvSpPr/>
          <p:nvPr/>
        </p:nvSpPr>
        <p:spPr>
          <a:xfrm>
            <a:off x="8975725" y="2349500"/>
            <a:ext cx="2555875" cy="2971800"/>
          </a:xfrm>
          <a:prstGeom prst="roundRect">
            <a:avLst>
              <a:gd name="adj" fmla="val 4968"/>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204325" y="2603500"/>
            <a:ext cx="431800" cy="3810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93225" y="2692400"/>
            <a:ext cx="330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04</a:t>
            </a:r>
          </a:p>
        </p:txBody>
      </p:sp>
      <p:sp>
        <p:nvSpPr>
          <p:cNvPr id="26" name="TextBox 25"/>
          <p:cNvSpPr txBox="1"/>
          <p:nvPr/>
        </p:nvSpPr>
        <p:spPr>
          <a:xfrm>
            <a:off x="9204325" y="3314700"/>
            <a:ext cx="2098675" cy="419100"/>
          </a:xfrm>
          <a:prstGeom prst="rect">
            <a:avLst/>
          </a:prstGeom>
          <a:noFill/>
        </p:spPr>
        <p:txBody>
          <a:bodyPr wrap="none" lIns="0" rIns="0" tIns="0" bIns="0">
            <a:spAutoFit/>
          </a:bodyPr>
          <a:lstStyle/>
          <a:p>
            <a:pPr>
              <a:lnSpc>
                <a:spcPts val="2794"/>
              </a:lnSpc>
              <a:spcBef>
                <a:spcPts val="0"/>
              </a:spcBef>
              <a:spcAft>
                <a:spcPts val="0"/>
              </a:spcAft>
              <a:defRPr sz="2200" b="1">
                <a:solidFill>
                  <a:srgbClr val="173A42"/>
                </a:solidFill>
                <a:latin typeface="DejaVu Sans"/>
              </a:defRPr>
            </a:pPr>
            <a:r>
              <a:t>Reinvest</a:t>
            </a:r>
          </a:p>
        </p:txBody>
      </p:sp>
      <p:sp>
        <p:nvSpPr>
          <p:cNvPr id="27" name="TextBox 26"/>
          <p:cNvSpPr txBox="1"/>
          <p:nvPr/>
        </p:nvSpPr>
        <p:spPr>
          <a:xfrm>
            <a:off x="9204325" y="3873500"/>
            <a:ext cx="2098675" cy="1333500"/>
          </a:xfrm>
          <a:prstGeom prst="rect">
            <a:avLst/>
          </a:prstGeom>
          <a:noFill/>
        </p:spPr>
        <p:txBody>
          <a:bodyPr wrap="none" lIns="0" rIns="0" tIns="0" bIns="0">
            <a:spAutoFit/>
          </a:bodyPr>
          <a:lstStyle/>
          <a:p>
            <a:pPr>
              <a:lnSpc>
                <a:spcPts val="2261"/>
              </a:lnSpc>
              <a:spcBef>
                <a:spcPts val="0"/>
              </a:spcBef>
              <a:spcAft>
                <a:spcPts val="0"/>
              </a:spcAft>
              <a:defRPr sz="1700" b="0">
                <a:solidFill>
                  <a:srgbClr val="173A42"/>
                </a:solidFill>
                <a:latin typeface="DejaVu Sans"/>
              </a:defRPr>
            </a:pPr>
            <a:r>
              <a:t>Collect cash,</a:t>
            </a:r>
          </a:p>
          <a:p>
            <a:pPr>
              <a:lnSpc>
                <a:spcPts val="2261"/>
              </a:lnSpc>
              <a:spcBef>
                <a:spcPts val="0"/>
              </a:spcBef>
              <a:spcAft>
                <a:spcPts val="0"/>
              </a:spcAft>
              <a:defRPr sz="1700" b="0">
                <a:solidFill>
                  <a:srgbClr val="173A42"/>
                </a:solidFill>
                <a:latin typeface="DejaVu Sans"/>
              </a:defRPr>
            </a:pPr>
            <a:r>
              <a:t>reserve fees, and</a:t>
            </a:r>
          </a:p>
          <a:p>
            <a:pPr>
              <a:lnSpc>
                <a:spcPts val="2261"/>
              </a:lnSpc>
              <a:spcBef>
                <a:spcPts val="0"/>
              </a:spcBef>
              <a:spcAft>
                <a:spcPts val="0"/>
              </a:spcAft>
              <a:defRPr sz="1700" b="0">
                <a:solidFill>
                  <a:srgbClr val="173A42"/>
                </a:solidFill>
                <a:latin typeface="DejaVu Sans"/>
              </a:defRPr>
            </a:pPr>
            <a:r>
              <a:t>replenish.</a:t>
            </a:r>
          </a:p>
        </p:txBody>
      </p:sp>
      <p:sp>
        <p:nvSpPr>
          <p:cNvPr id="28" name="Rounded Rectangle 27"/>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At the default limit, 10 consecutive incomplete daily-fee payments end the episode.</a:t>
            </a:r>
          </a:p>
        </p:txBody>
      </p:sp>
      <p:cxnSp>
        <p:nvCxnSpPr>
          <p:cNvPr id="30" name="Connector 29"/>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32" name="TextBox 31"/>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02 / THE ENVIRONMENT</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Negotiation produces structured outcomes.</a:t>
            </a:r>
          </a:p>
        </p:txBody>
      </p:sp>
      <p:sp>
        <p:nvSpPr>
          <p:cNvPr id="5" name="Rounded Rectangle 4"/>
          <p:cNvSpPr/>
          <p:nvPr/>
        </p:nvSpPr>
        <p:spPr>
          <a:xfrm>
            <a:off x="660400" y="2120900"/>
            <a:ext cx="10871200" cy="431800"/>
          </a:xfrm>
          <a:prstGeom prst="roundRect">
            <a:avLst>
              <a:gd name="adj" fmla="val 14705"/>
            </a:avLst>
          </a:prstGeom>
          <a:solidFill>
            <a:srgbClr val="173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500" y="2247900"/>
            <a:ext cx="21590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OUTCOME</a:t>
            </a:r>
          </a:p>
        </p:txBody>
      </p:sp>
      <p:sp>
        <p:nvSpPr>
          <p:cNvPr id="7" name="TextBox 6"/>
          <p:cNvSpPr txBox="1"/>
          <p:nvPr/>
        </p:nvSpPr>
        <p:spPr>
          <a:xfrm>
            <a:off x="3302000" y="2247900"/>
            <a:ext cx="37465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MEANING</a:t>
            </a:r>
          </a:p>
        </p:txBody>
      </p:sp>
      <p:sp>
        <p:nvSpPr>
          <p:cNvPr id="8" name="TextBox 7"/>
          <p:cNvSpPr txBox="1"/>
          <p:nvPr/>
        </p:nvSpPr>
        <p:spPr>
          <a:xfrm>
            <a:off x="7366000" y="2247900"/>
            <a:ext cx="4013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BUSINESS EFFECT</a:t>
            </a:r>
          </a:p>
        </p:txBody>
      </p:sp>
      <p:sp>
        <p:nvSpPr>
          <p:cNvPr id="9" name="Rectangle 8"/>
          <p:cNvSpPr/>
          <p:nvPr/>
        </p:nvSpPr>
        <p:spPr>
          <a:xfrm>
            <a:off x="660400" y="2552700"/>
            <a:ext cx="10871200" cy="7683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5500" y="2705100"/>
            <a:ext cx="2159000" cy="59055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accepted</a:t>
            </a:r>
          </a:p>
        </p:txBody>
      </p:sp>
      <p:sp>
        <p:nvSpPr>
          <p:cNvPr id="11" name="TextBox 10"/>
          <p:cNvSpPr txBox="1"/>
          <p:nvPr/>
        </p:nvSpPr>
        <p:spPr>
          <a:xfrm>
            <a:off x="3302000" y="2705100"/>
            <a:ext cx="3746500" cy="59055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Offer accepted and funded</a:t>
            </a:r>
          </a:p>
        </p:txBody>
      </p:sp>
      <p:sp>
        <p:nvSpPr>
          <p:cNvPr id="12" name="TextBox 11"/>
          <p:cNvSpPr txBox="1"/>
          <p:nvPr/>
        </p:nvSpPr>
        <p:spPr>
          <a:xfrm>
            <a:off x="7366000" y="2705100"/>
            <a:ext cx="4013200" cy="59055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Cash debited; stock delivered</a:t>
            </a:r>
          </a:p>
        </p:txBody>
      </p:sp>
      <p:sp>
        <p:nvSpPr>
          <p:cNvPr id="13" name="Rectangle 12"/>
          <p:cNvSpPr/>
          <p:nvPr/>
        </p:nvSpPr>
        <p:spPr>
          <a:xfrm>
            <a:off x="660400" y="3321050"/>
            <a:ext cx="10871200" cy="768350"/>
          </a:xfrm>
          <a:prstGeom prst="rect">
            <a:avLst/>
          </a:prstGeom>
          <a:solidFill>
            <a:srgbClr val="ED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500" y="3473450"/>
            <a:ext cx="2159000" cy="59055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counteroffer</a:t>
            </a:r>
          </a:p>
        </p:txBody>
      </p:sp>
      <p:sp>
        <p:nvSpPr>
          <p:cNvPr id="15" name="TextBox 14"/>
          <p:cNvSpPr txBox="1"/>
          <p:nvPr/>
        </p:nvSpPr>
        <p:spPr>
          <a:xfrm>
            <a:off x="3302000" y="3473450"/>
            <a:ext cx="3746500" cy="59055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Different price proposed</a:t>
            </a:r>
          </a:p>
        </p:txBody>
      </p:sp>
      <p:sp>
        <p:nvSpPr>
          <p:cNvPr id="16" name="TextBox 15"/>
          <p:cNvSpPr txBox="1"/>
          <p:nvPr/>
        </p:nvSpPr>
        <p:spPr>
          <a:xfrm>
            <a:off x="7366000" y="3473450"/>
            <a:ext cx="4013200" cy="59055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No purchase; submit a new offer</a:t>
            </a:r>
          </a:p>
        </p:txBody>
      </p:sp>
      <p:sp>
        <p:nvSpPr>
          <p:cNvPr id="17" name="Rectangle 16"/>
          <p:cNvSpPr/>
          <p:nvPr/>
        </p:nvSpPr>
        <p:spPr>
          <a:xfrm>
            <a:off x="660400" y="4089400"/>
            <a:ext cx="10871200" cy="7683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500" y="4241800"/>
            <a:ext cx="2159000" cy="59055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no_reply</a:t>
            </a:r>
          </a:p>
        </p:txBody>
      </p:sp>
      <p:sp>
        <p:nvSpPr>
          <p:cNvPr id="19" name="TextBox 18"/>
          <p:cNvSpPr txBox="1"/>
          <p:nvPr/>
        </p:nvSpPr>
        <p:spPr>
          <a:xfrm>
            <a:off x="3302000" y="4241800"/>
            <a:ext cx="3746500" cy="59055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Supplier declines to engage</a:t>
            </a:r>
          </a:p>
        </p:txBody>
      </p:sp>
      <p:sp>
        <p:nvSpPr>
          <p:cNvPr id="20" name="TextBox 19"/>
          <p:cNvSpPr txBox="1"/>
          <p:nvPr/>
        </p:nvSpPr>
        <p:spPr>
          <a:xfrm>
            <a:off x="7366000" y="4241800"/>
            <a:ext cx="4013200" cy="59055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Normal result; action time is spent</a:t>
            </a:r>
          </a:p>
        </p:txBody>
      </p:sp>
      <p:sp>
        <p:nvSpPr>
          <p:cNvPr id="21" name="Rectangle 20"/>
          <p:cNvSpPr/>
          <p:nvPr/>
        </p:nvSpPr>
        <p:spPr>
          <a:xfrm>
            <a:off x="660400" y="4857750"/>
            <a:ext cx="10871200" cy="768350"/>
          </a:xfrm>
          <a:prstGeom prst="rect">
            <a:avLst/>
          </a:prstGeom>
          <a:solidFill>
            <a:srgbClr val="ED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00" y="5010150"/>
            <a:ext cx="2159000" cy="59055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insufficient_funds</a:t>
            </a:r>
          </a:p>
        </p:txBody>
      </p:sp>
      <p:sp>
        <p:nvSpPr>
          <p:cNvPr id="23" name="TextBox 22"/>
          <p:cNvSpPr txBox="1"/>
          <p:nvPr/>
        </p:nvSpPr>
        <p:spPr>
          <a:xfrm>
            <a:off x="3302000" y="5010150"/>
            <a:ext cx="3746500" cy="59055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Accepted terms exceed cash</a:t>
            </a:r>
          </a:p>
        </p:txBody>
      </p:sp>
      <p:sp>
        <p:nvSpPr>
          <p:cNvPr id="24" name="TextBox 23"/>
          <p:cNvSpPr txBox="1"/>
          <p:nvPr/>
        </p:nvSpPr>
        <p:spPr>
          <a:xfrm>
            <a:off x="7366000" y="5010150"/>
            <a:ext cx="4013200" cy="59055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No partial purchase</a:t>
            </a:r>
          </a:p>
        </p:txBody>
      </p:sp>
      <p:sp>
        <p:nvSpPr>
          <p:cNvPr id="25" name="Rounded Rectangle 24"/>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Supplier-product pairs reshuffle every 30 days in the practice configuration.</a:t>
            </a:r>
          </a:p>
        </p:txBody>
      </p:sp>
      <p:cxnSp>
        <p:nvCxnSpPr>
          <p:cNvPr id="27" name="Connector 26"/>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29" name="TextBox 28"/>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02 / THE ENVIRONMENT</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Pricing trades margin against demand.</a:t>
            </a:r>
          </a:p>
        </p:txBody>
      </p:sp>
      <p:sp>
        <p:nvSpPr>
          <p:cNvPr id="5" name="Rounded Rectangle 4"/>
          <p:cNvSpPr/>
          <p:nvPr/>
        </p:nvSpPr>
        <p:spPr>
          <a:xfrm>
            <a:off x="660400" y="2159000"/>
            <a:ext cx="4737100" cy="3327400"/>
          </a:xfrm>
          <a:prstGeom prst="roundRect">
            <a:avLst>
              <a:gd name="adj" fmla="val 3816"/>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362200"/>
            <a:ext cx="4178300" cy="279400"/>
          </a:xfrm>
          <a:prstGeom prst="rect">
            <a:avLst/>
          </a:prstGeom>
          <a:noFill/>
        </p:spPr>
        <p:txBody>
          <a:bodyPr wrap="none" lIns="0" rIns="0" tIns="0" bIns="0">
            <a:spAutoFit/>
          </a:bodyPr>
          <a:lstStyle/>
          <a:p>
            <a:pPr>
              <a:lnSpc>
                <a:spcPts val="1270"/>
              </a:lnSpc>
              <a:spcBef>
                <a:spcPts val="0"/>
              </a:spcBef>
              <a:spcAft>
                <a:spcPts val="0"/>
              </a:spcAft>
              <a:defRPr sz="1000" b="1">
                <a:solidFill>
                  <a:srgbClr val="557079"/>
                </a:solidFill>
                <a:latin typeface="DejaVu Sans"/>
              </a:defRPr>
            </a:pPr>
            <a:r>
              <a:t>QUALITATIVE RELATIONSHIP</a:t>
            </a:r>
          </a:p>
        </p:txBody>
      </p:sp>
      <p:cxnSp>
        <p:nvCxnSpPr>
          <p:cNvPr id="7" name="Connector 6"/>
          <p:cNvCxnSpPr/>
          <p:nvPr/>
        </p:nvCxnSpPr>
        <p:spPr>
          <a:xfrm>
            <a:off x="1333500" y="4889500"/>
            <a:ext cx="3657600" cy="0"/>
          </a:xfrm>
          <a:prstGeom prst="line">
            <a:avLst/>
          </a:prstGeom>
          <a:ln w="12700">
            <a:solidFill>
              <a:srgbClr val="557079"/>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333500" y="2882900"/>
            <a:ext cx="0" cy="2006600"/>
          </a:xfrm>
          <a:prstGeom prst="line">
            <a:avLst/>
          </a:prstGeom>
          <a:ln w="12700">
            <a:solidFill>
              <a:srgbClr val="55707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27100" y="2705100"/>
            <a:ext cx="3492500" cy="292100"/>
          </a:xfrm>
          <a:prstGeom prst="rect">
            <a:avLst/>
          </a:prstGeom>
          <a:noFill/>
        </p:spPr>
        <p:txBody>
          <a:bodyPr wrap="none" lIns="0" rIns="0" tIns="0" bIns="0">
            <a:spAutoFit/>
          </a:bodyPr>
          <a:lstStyle/>
          <a:p>
            <a:pPr>
              <a:lnSpc>
                <a:spcPts val="1524"/>
              </a:lnSpc>
              <a:spcBef>
                <a:spcPts val="0"/>
              </a:spcBef>
              <a:spcAft>
                <a:spcPts val="0"/>
              </a:spcAft>
              <a:defRPr sz="1200" b="0">
                <a:solidFill>
                  <a:srgbClr val="008C7B"/>
                </a:solidFill>
                <a:latin typeface="DejaVu Sans"/>
              </a:defRPr>
            </a:pPr>
            <a:r>
              <a:t>Expected demand</a:t>
            </a:r>
          </a:p>
        </p:txBody>
      </p:sp>
      <p:sp>
        <p:nvSpPr>
          <p:cNvPr id="10" name="TextBox 9"/>
          <p:cNvSpPr txBox="1"/>
          <p:nvPr/>
        </p:nvSpPr>
        <p:spPr>
          <a:xfrm>
            <a:off x="2552700" y="5080000"/>
            <a:ext cx="2463800" cy="279400"/>
          </a:xfrm>
          <a:prstGeom prst="rect">
            <a:avLst/>
          </a:prstGeom>
          <a:noFill/>
        </p:spPr>
        <p:txBody>
          <a:bodyPr wrap="none" lIns="0" rIns="0" tIns="0" bIns="0">
            <a:spAutoFit/>
          </a:bodyPr>
          <a:lstStyle/>
          <a:p>
            <a:pPr>
              <a:lnSpc>
                <a:spcPts val="1524"/>
              </a:lnSpc>
              <a:spcBef>
                <a:spcPts val="0"/>
              </a:spcBef>
              <a:spcAft>
                <a:spcPts val="0"/>
              </a:spcAft>
              <a:defRPr sz="1200" b="0">
                <a:solidFill>
                  <a:srgbClr val="557079"/>
                </a:solidFill>
                <a:latin typeface="DejaVu Sans"/>
              </a:defRPr>
            </a:pPr>
            <a:r>
              <a:t>Selling price →</a:t>
            </a:r>
          </a:p>
        </p:txBody>
      </p:sp>
      <p:cxnSp>
        <p:nvCxnSpPr>
          <p:cNvPr id="11" name="Connector 10"/>
          <p:cNvCxnSpPr/>
          <p:nvPr/>
        </p:nvCxnSpPr>
        <p:spPr>
          <a:xfrm>
            <a:off x="1447800" y="3111500"/>
            <a:ext cx="127000" cy="185043"/>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74800" y="3296543"/>
            <a:ext cx="127000" cy="163301"/>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701800" y="3459844"/>
            <a:ext cx="127000" cy="144112"/>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28800" y="3603956"/>
            <a:ext cx="127000" cy="127179"/>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955800" y="3731135"/>
            <a:ext cx="127000" cy="112235"/>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82800" y="3843370"/>
            <a:ext cx="127000" cy="99047"/>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209800" y="3942417"/>
            <a:ext cx="127000" cy="87408"/>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336800" y="4029825"/>
            <a:ext cx="127000" cy="77138"/>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463800" y="4106963"/>
            <a:ext cx="127000" cy="68074"/>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590800" y="4175037"/>
            <a:ext cx="127000" cy="60075"/>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717800" y="4235112"/>
            <a:ext cx="127000" cy="53016"/>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844800" y="4288128"/>
            <a:ext cx="127000" cy="46786"/>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971800" y="4334914"/>
            <a:ext cx="127000" cy="41289"/>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098800" y="4376203"/>
            <a:ext cx="127000" cy="36437"/>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225800" y="4412640"/>
            <a:ext cx="127000" cy="32156"/>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352800" y="4444796"/>
            <a:ext cx="127000" cy="28377"/>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479800" y="4473173"/>
            <a:ext cx="127000" cy="25043"/>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06800" y="4498216"/>
            <a:ext cx="127000" cy="22101"/>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733800" y="4520317"/>
            <a:ext cx="127000" cy="19503"/>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860800" y="4539820"/>
            <a:ext cx="127000" cy="17212"/>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987800" y="4557032"/>
            <a:ext cx="127000" cy="15189"/>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114800" y="4572221"/>
            <a:ext cx="127000" cy="13405"/>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241800" y="4585626"/>
            <a:ext cx="127000" cy="11829"/>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368800" y="4597455"/>
            <a:ext cx="127000" cy="10440"/>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495800" y="4607895"/>
            <a:ext cx="127000" cy="9213"/>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622800" y="4617108"/>
            <a:ext cx="127000" cy="8130"/>
          </a:xfrm>
          <a:prstGeom prst="line">
            <a:avLst/>
          </a:prstGeom>
          <a:ln w="38100">
            <a:solidFill>
              <a:srgbClr val="008C7B"/>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5816600" y="22733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045200" y="2197100"/>
            <a:ext cx="5486400" cy="1397000"/>
          </a:xfrm>
          <a:prstGeom prst="rect">
            <a:avLst/>
          </a:prstGeom>
          <a:noFill/>
        </p:spPr>
        <p:txBody>
          <a:bodyPr wrap="none" lIns="0" rIns="0" tIns="0" bIns="0">
            <a:spAutoFit/>
          </a:bodyPr>
          <a:lstStyle/>
          <a:p>
            <a:pPr>
              <a:lnSpc>
                <a:spcPts val="2295"/>
              </a:lnSpc>
              <a:spcBef>
                <a:spcPts val="0"/>
              </a:spcBef>
              <a:spcAft>
                <a:spcPts val="0"/>
              </a:spcAft>
              <a:defRPr sz="1700" b="0">
                <a:solidFill>
                  <a:srgbClr val="173A42"/>
                </a:solidFill>
                <a:latin typeface="DejaVu Sans"/>
              </a:defRPr>
            </a:pPr>
            <a:r>
              <a:t>Demand is stochastic and price-sensitive.</a:t>
            </a:r>
          </a:p>
        </p:txBody>
      </p:sp>
      <p:sp>
        <p:nvSpPr>
          <p:cNvPr id="39" name="Rounded Rectangle 38"/>
          <p:cNvSpPr/>
          <p:nvPr/>
        </p:nvSpPr>
        <p:spPr>
          <a:xfrm>
            <a:off x="5816600" y="27178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045200" y="2641600"/>
            <a:ext cx="5486400" cy="1397000"/>
          </a:xfrm>
          <a:prstGeom prst="rect">
            <a:avLst/>
          </a:prstGeom>
          <a:noFill/>
        </p:spPr>
        <p:txBody>
          <a:bodyPr wrap="none" lIns="0" rIns="0" tIns="0" bIns="0">
            <a:spAutoFit/>
          </a:bodyPr>
          <a:lstStyle/>
          <a:p>
            <a:pPr>
              <a:lnSpc>
                <a:spcPts val="2295"/>
              </a:lnSpc>
              <a:spcBef>
                <a:spcPts val="0"/>
              </a:spcBef>
              <a:spcAft>
                <a:spcPts val="0"/>
              </a:spcAft>
              <a:defRPr sz="1700" b="0">
                <a:solidFill>
                  <a:srgbClr val="173A42"/>
                </a:solidFill>
                <a:latin typeface="DejaVu Sans"/>
              </a:defRPr>
            </a:pPr>
            <a:r>
              <a:t>Higher prices reduce expected demand; one day's</a:t>
            </a:r>
          </a:p>
          <a:p>
            <a:pPr>
              <a:lnSpc>
                <a:spcPts val="2295"/>
              </a:lnSpc>
              <a:spcBef>
                <a:spcPts val="0"/>
              </a:spcBef>
              <a:spcAft>
                <a:spcPts val="0"/>
              </a:spcAft>
              <a:defRPr sz="1700" b="0">
                <a:solidFill>
                  <a:srgbClr val="173A42"/>
                </a:solidFill>
                <a:latin typeface="DejaVu Sans"/>
              </a:defRPr>
            </a:pPr>
            <a:r>
              <a:t>sales can be noisy.</a:t>
            </a:r>
          </a:p>
        </p:txBody>
      </p:sp>
      <p:sp>
        <p:nvSpPr>
          <p:cNvPr id="41" name="Rounded Rectangle 40"/>
          <p:cNvSpPr/>
          <p:nvPr/>
        </p:nvSpPr>
        <p:spPr>
          <a:xfrm>
            <a:off x="5816600" y="3453765"/>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45200" y="3377565"/>
            <a:ext cx="5486400" cy="1397000"/>
          </a:xfrm>
          <a:prstGeom prst="rect">
            <a:avLst/>
          </a:prstGeom>
          <a:noFill/>
        </p:spPr>
        <p:txBody>
          <a:bodyPr wrap="none" lIns="0" rIns="0" tIns="0" bIns="0">
            <a:spAutoFit/>
          </a:bodyPr>
          <a:lstStyle/>
          <a:p>
            <a:pPr>
              <a:lnSpc>
                <a:spcPts val="2295"/>
              </a:lnSpc>
              <a:spcBef>
                <a:spcPts val="0"/>
              </a:spcBef>
              <a:spcAft>
                <a:spcPts val="0"/>
              </a:spcAft>
              <a:defRPr sz="1700" b="0">
                <a:solidFill>
                  <a:srgbClr val="173A42"/>
                </a:solidFill>
                <a:latin typeface="DejaVu Sans"/>
              </a:defRPr>
            </a:pPr>
            <a:r>
              <a:t>Stockouts lose sales. Extra slots provide stock, not</a:t>
            </a:r>
          </a:p>
          <a:p>
            <a:pPr>
              <a:lnSpc>
                <a:spcPts val="2295"/>
              </a:lnSpc>
              <a:spcBef>
                <a:spcPts val="0"/>
              </a:spcBef>
              <a:spcAft>
                <a:spcPts val="0"/>
              </a:spcAft>
              <a:defRPr sz="1700" b="0">
                <a:solidFill>
                  <a:srgbClr val="173A42"/>
                </a:solidFill>
                <a:latin typeface="DejaVu Sans"/>
              </a:defRPr>
            </a:pPr>
            <a:r>
              <a:t>extra demand.</a:t>
            </a:r>
          </a:p>
        </p:txBody>
      </p:sp>
      <p:sp>
        <p:nvSpPr>
          <p:cNvPr id="43" name="Rounded Rectangle 42"/>
          <p:cNvSpPr/>
          <p:nvPr/>
        </p:nvSpPr>
        <p:spPr>
          <a:xfrm>
            <a:off x="5816600" y="4189729"/>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045200" y="4113529"/>
            <a:ext cx="5486400" cy="1397000"/>
          </a:xfrm>
          <a:prstGeom prst="rect">
            <a:avLst/>
          </a:prstGeom>
          <a:noFill/>
        </p:spPr>
        <p:txBody>
          <a:bodyPr wrap="none" lIns="0" rIns="0" tIns="0" bIns="0">
            <a:spAutoFit/>
          </a:bodyPr>
          <a:lstStyle/>
          <a:p>
            <a:pPr>
              <a:lnSpc>
                <a:spcPts val="2295"/>
              </a:lnSpc>
              <a:spcBef>
                <a:spcPts val="0"/>
              </a:spcBef>
              <a:spcAft>
                <a:spcPts val="0"/>
              </a:spcAft>
              <a:defRPr sz="1700" b="0">
                <a:solidFill>
                  <a:srgbClr val="173A42"/>
                </a:solidFill>
                <a:latin typeface="DejaVu Sans"/>
              </a:defRPr>
            </a:pPr>
            <a:r>
              <a:t>Each product has one selling price across all its</a:t>
            </a:r>
          </a:p>
          <a:p>
            <a:pPr>
              <a:lnSpc>
                <a:spcPts val="2295"/>
              </a:lnSpc>
              <a:spcBef>
                <a:spcPts val="0"/>
              </a:spcBef>
              <a:spcAft>
                <a:spcPts val="0"/>
              </a:spcAft>
              <a:defRPr sz="1700" b="0">
                <a:solidFill>
                  <a:srgbClr val="173A42"/>
                </a:solidFill>
                <a:latin typeface="DejaVu Sans"/>
              </a:defRPr>
            </a:pPr>
            <a:r>
              <a:t>slots.</a:t>
            </a:r>
          </a:p>
        </p:txBody>
      </p:sp>
      <p:sp>
        <p:nvSpPr>
          <p:cNvPr id="45" name="Rounded Rectangle 44"/>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Use small experiments and observed sales to choose an assortment and price policy.</a:t>
            </a:r>
          </a:p>
        </p:txBody>
      </p:sp>
      <p:cxnSp>
        <p:nvCxnSpPr>
          <p:cNvPr id="47" name="Connector 46"/>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49" name="TextBox 48"/>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CAEFA1"/>
                </a:solidFill>
                <a:latin typeface="DejaVu Sans"/>
              </a:defRPr>
            </a:pPr>
            <a:r>
              <a:t>03 / SCORING</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FFFFFF"/>
                </a:solidFill>
                <a:latin typeface="DejaVu Sans"/>
              </a:defRPr>
            </a:pPr>
            <a:r>
              <a:t>Grow net assets, not just revenue.</a:t>
            </a:r>
          </a:p>
        </p:txBody>
      </p:sp>
      <p:sp>
        <p:nvSpPr>
          <p:cNvPr id="5" name="TextBox 4"/>
          <p:cNvSpPr txBox="1"/>
          <p:nvPr/>
        </p:nvSpPr>
        <p:spPr>
          <a:xfrm>
            <a:off x="698500" y="2146300"/>
            <a:ext cx="10160000" cy="241300"/>
          </a:xfrm>
          <a:prstGeom prst="rect">
            <a:avLst/>
          </a:prstGeom>
          <a:noFill/>
        </p:spPr>
        <p:txBody>
          <a:bodyPr wrap="none" lIns="0" rIns="0" tIns="0" bIns="0">
            <a:spAutoFit/>
          </a:bodyPr>
          <a:lstStyle/>
          <a:p>
            <a:pPr>
              <a:lnSpc>
                <a:spcPts val="1397"/>
              </a:lnSpc>
              <a:spcBef>
                <a:spcPts val="0"/>
              </a:spcBef>
              <a:spcAft>
                <a:spcPts val="0"/>
              </a:spcAft>
              <a:defRPr sz="1100" b="1">
                <a:solidFill>
                  <a:srgbClr val="CAEFA1"/>
                </a:solidFill>
                <a:latin typeface="DejaVu Sans"/>
              </a:defRPr>
            </a:pPr>
            <a:r>
              <a:t>FINAL SCORE</a:t>
            </a:r>
          </a:p>
        </p:txBody>
      </p:sp>
      <p:sp>
        <p:nvSpPr>
          <p:cNvPr id="6" name="TextBox 5"/>
          <p:cNvSpPr txBox="1"/>
          <p:nvPr/>
        </p:nvSpPr>
        <p:spPr>
          <a:xfrm>
            <a:off x="698500" y="2603500"/>
            <a:ext cx="10731500" cy="1003300"/>
          </a:xfrm>
          <a:prstGeom prst="rect">
            <a:avLst/>
          </a:prstGeom>
          <a:noFill/>
        </p:spPr>
        <p:txBody>
          <a:bodyPr wrap="none" lIns="0" rIns="0" tIns="0" bIns="0">
            <a:spAutoFit/>
          </a:bodyPr>
          <a:lstStyle/>
          <a:p>
            <a:pPr>
              <a:lnSpc>
                <a:spcPts val="3375"/>
              </a:lnSpc>
              <a:spcBef>
                <a:spcPts val="0"/>
              </a:spcBef>
              <a:spcAft>
                <a:spcPts val="0"/>
              </a:spcAft>
              <a:defRPr sz="2500" b="1">
                <a:solidFill>
                  <a:srgbClr val="FFFFFF"/>
                </a:solidFill>
                <a:latin typeface="DejaVu Sans"/>
              </a:defRPr>
            </a:pPr>
            <a:r>
              <a:t>Spendable cash + machine cash</a:t>
            </a:r>
          </a:p>
          <a:p>
            <a:pPr>
              <a:lnSpc>
                <a:spcPts val="3375"/>
              </a:lnSpc>
              <a:spcBef>
                <a:spcPts val="0"/>
              </a:spcBef>
              <a:spcAft>
                <a:spcPts val="0"/>
              </a:spcAft>
              <a:defRPr sz="2500" b="1">
                <a:solidFill>
                  <a:srgbClr val="FFFFFF"/>
                </a:solidFill>
                <a:latin typeface="DejaVu Sans"/>
              </a:defRPr>
            </a:pPr>
            <a:r>
              <a:t>+ inventory at acquisition cost − fee debt</a:t>
            </a:r>
          </a:p>
        </p:txBody>
      </p:sp>
      <p:sp>
        <p:nvSpPr>
          <p:cNvPr id="7" name="Rounded Rectangle 6"/>
          <p:cNvSpPr/>
          <p:nvPr/>
        </p:nvSpPr>
        <p:spPr>
          <a:xfrm>
            <a:off x="660400" y="4140200"/>
            <a:ext cx="2032000" cy="1244600"/>
          </a:xfrm>
          <a:prstGeom prst="roundRect">
            <a:avLst>
              <a:gd name="adj" fmla="val 9183"/>
            </a:avLst>
          </a:prstGeom>
          <a:solidFill>
            <a:srgbClr val="2246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900" y="4343400"/>
            <a:ext cx="1727200" cy="508000"/>
          </a:xfrm>
          <a:prstGeom prst="rect">
            <a:avLst/>
          </a:prstGeom>
          <a:noFill/>
        </p:spPr>
        <p:txBody>
          <a:bodyPr wrap="none" lIns="0" rIns="0" tIns="0" bIns="0">
            <a:spAutoFit/>
          </a:bodyPr>
          <a:lstStyle/>
          <a:p>
            <a:pPr>
              <a:lnSpc>
                <a:spcPts val="3429"/>
              </a:lnSpc>
              <a:spcBef>
                <a:spcPts val="0"/>
              </a:spcBef>
              <a:spcAft>
                <a:spcPts val="0"/>
              </a:spcAft>
              <a:defRPr sz="2700" b="1">
                <a:solidFill>
                  <a:srgbClr val="FFFFFF"/>
                </a:solidFill>
                <a:latin typeface="DejaVu Sans"/>
              </a:defRPr>
            </a:pPr>
            <a:r>
              <a:t>$350</a:t>
            </a:r>
          </a:p>
        </p:txBody>
      </p:sp>
      <p:sp>
        <p:nvSpPr>
          <p:cNvPr id="9" name="TextBox 8"/>
          <p:cNvSpPr txBox="1"/>
          <p:nvPr/>
        </p:nvSpPr>
        <p:spPr>
          <a:xfrm>
            <a:off x="850900" y="4965700"/>
            <a:ext cx="1727200" cy="254000"/>
          </a:xfrm>
          <a:prstGeom prst="rect">
            <a:avLst/>
          </a:prstGeom>
          <a:noFill/>
        </p:spPr>
        <p:txBody>
          <a:bodyPr wrap="none" lIns="0" rIns="0" tIns="0" bIns="0">
            <a:spAutoFit/>
          </a:bodyPr>
          <a:lstStyle/>
          <a:p>
            <a:pPr>
              <a:lnSpc>
                <a:spcPts val="1651"/>
              </a:lnSpc>
              <a:spcBef>
                <a:spcPts val="0"/>
              </a:spcBef>
              <a:spcAft>
                <a:spcPts val="0"/>
              </a:spcAft>
              <a:defRPr sz="1300" b="0">
                <a:solidFill>
                  <a:srgbClr val="A6C1C6"/>
                </a:solidFill>
                <a:latin typeface="DejaVu Sans"/>
              </a:defRPr>
            </a:pPr>
            <a:r>
              <a:t>cash</a:t>
            </a:r>
          </a:p>
        </p:txBody>
      </p:sp>
      <p:sp>
        <p:nvSpPr>
          <p:cNvPr id="10" name="Rounded Rectangle 9"/>
          <p:cNvSpPr/>
          <p:nvPr/>
        </p:nvSpPr>
        <p:spPr>
          <a:xfrm>
            <a:off x="2870200" y="4140200"/>
            <a:ext cx="2032000" cy="1244600"/>
          </a:xfrm>
          <a:prstGeom prst="roundRect">
            <a:avLst>
              <a:gd name="adj" fmla="val 9183"/>
            </a:avLst>
          </a:prstGeom>
          <a:solidFill>
            <a:srgbClr val="2246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60700" y="4343400"/>
            <a:ext cx="1727200" cy="508000"/>
          </a:xfrm>
          <a:prstGeom prst="rect">
            <a:avLst/>
          </a:prstGeom>
          <a:noFill/>
        </p:spPr>
        <p:txBody>
          <a:bodyPr wrap="none" lIns="0" rIns="0" tIns="0" bIns="0">
            <a:spAutoFit/>
          </a:bodyPr>
          <a:lstStyle/>
          <a:p>
            <a:pPr>
              <a:lnSpc>
                <a:spcPts val="3429"/>
              </a:lnSpc>
              <a:spcBef>
                <a:spcPts val="0"/>
              </a:spcBef>
              <a:spcAft>
                <a:spcPts val="0"/>
              </a:spcAft>
              <a:defRPr sz="2700" b="1">
                <a:solidFill>
                  <a:srgbClr val="FFFFFF"/>
                </a:solidFill>
                <a:latin typeface="DejaVu Sans"/>
              </a:defRPr>
            </a:pPr>
            <a:r>
              <a:t>+ $80</a:t>
            </a:r>
          </a:p>
        </p:txBody>
      </p:sp>
      <p:sp>
        <p:nvSpPr>
          <p:cNvPr id="12" name="TextBox 11"/>
          <p:cNvSpPr txBox="1"/>
          <p:nvPr/>
        </p:nvSpPr>
        <p:spPr>
          <a:xfrm>
            <a:off x="3060700" y="4965700"/>
            <a:ext cx="1727200" cy="254000"/>
          </a:xfrm>
          <a:prstGeom prst="rect">
            <a:avLst/>
          </a:prstGeom>
          <a:noFill/>
        </p:spPr>
        <p:txBody>
          <a:bodyPr wrap="none" lIns="0" rIns="0" tIns="0" bIns="0">
            <a:spAutoFit/>
          </a:bodyPr>
          <a:lstStyle/>
          <a:p>
            <a:pPr>
              <a:lnSpc>
                <a:spcPts val="1651"/>
              </a:lnSpc>
              <a:spcBef>
                <a:spcPts val="0"/>
              </a:spcBef>
              <a:spcAft>
                <a:spcPts val="0"/>
              </a:spcAft>
              <a:defRPr sz="1300" b="0">
                <a:solidFill>
                  <a:srgbClr val="A6C1C6"/>
                </a:solidFill>
                <a:latin typeface="DejaVu Sans"/>
              </a:defRPr>
            </a:pPr>
            <a:r>
              <a:t>machine</a:t>
            </a:r>
          </a:p>
        </p:txBody>
      </p:sp>
      <p:sp>
        <p:nvSpPr>
          <p:cNvPr id="13" name="Rounded Rectangle 12"/>
          <p:cNvSpPr/>
          <p:nvPr/>
        </p:nvSpPr>
        <p:spPr>
          <a:xfrm>
            <a:off x="5080000" y="4140200"/>
            <a:ext cx="2032000" cy="1244600"/>
          </a:xfrm>
          <a:prstGeom prst="roundRect">
            <a:avLst>
              <a:gd name="adj" fmla="val 9183"/>
            </a:avLst>
          </a:prstGeom>
          <a:solidFill>
            <a:srgbClr val="2246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70500" y="4343400"/>
            <a:ext cx="1727200" cy="508000"/>
          </a:xfrm>
          <a:prstGeom prst="rect">
            <a:avLst/>
          </a:prstGeom>
          <a:noFill/>
        </p:spPr>
        <p:txBody>
          <a:bodyPr wrap="none" lIns="0" rIns="0" tIns="0" bIns="0">
            <a:spAutoFit/>
          </a:bodyPr>
          <a:lstStyle/>
          <a:p>
            <a:pPr>
              <a:lnSpc>
                <a:spcPts val="3429"/>
              </a:lnSpc>
              <a:spcBef>
                <a:spcPts val="0"/>
              </a:spcBef>
              <a:spcAft>
                <a:spcPts val="0"/>
              </a:spcAft>
              <a:defRPr sz="2700" b="1">
                <a:solidFill>
                  <a:srgbClr val="FFFFFF"/>
                </a:solidFill>
                <a:latin typeface="DejaVu Sans"/>
              </a:defRPr>
            </a:pPr>
            <a:r>
              <a:t>+ $130</a:t>
            </a:r>
          </a:p>
        </p:txBody>
      </p:sp>
      <p:sp>
        <p:nvSpPr>
          <p:cNvPr id="15" name="TextBox 14"/>
          <p:cNvSpPr txBox="1"/>
          <p:nvPr/>
        </p:nvSpPr>
        <p:spPr>
          <a:xfrm>
            <a:off x="5270500" y="4965700"/>
            <a:ext cx="1727200" cy="254000"/>
          </a:xfrm>
          <a:prstGeom prst="rect">
            <a:avLst/>
          </a:prstGeom>
          <a:noFill/>
        </p:spPr>
        <p:txBody>
          <a:bodyPr wrap="none" lIns="0" rIns="0" tIns="0" bIns="0">
            <a:spAutoFit/>
          </a:bodyPr>
          <a:lstStyle/>
          <a:p>
            <a:pPr>
              <a:lnSpc>
                <a:spcPts val="1651"/>
              </a:lnSpc>
              <a:spcBef>
                <a:spcPts val="0"/>
              </a:spcBef>
              <a:spcAft>
                <a:spcPts val="0"/>
              </a:spcAft>
              <a:defRPr sz="1300" b="0">
                <a:solidFill>
                  <a:srgbClr val="A6C1C6"/>
                </a:solidFill>
                <a:latin typeface="DejaVu Sans"/>
              </a:defRPr>
            </a:pPr>
            <a:r>
              <a:t>inventory</a:t>
            </a:r>
          </a:p>
        </p:txBody>
      </p:sp>
      <p:sp>
        <p:nvSpPr>
          <p:cNvPr id="16" name="Rounded Rectangle 15"/>
          <p:cNvSpPr/>
          <p:nvPr/>
        </p:nvSpPr>
        <p:spPr>
          <a:xfrm>
            <a:off x="7289800" y="4140200"/>
            <a:ext cx="2032000" cy="1244600"/>
          </a:xfrm>
          <a:prstGeom prst="roundRect">
            <a:avLst>
              <a:gd name="adj" fmla="val 9183"/>
            </a:avLst>
          </a:prstGeom>
          <a:solidFill>
            <a:srgbClr val="2246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80300" y="4343400"/>
            <a:ext cx="1727200" cy="508000"/>
          </a:xfrm>
          <a:prstGeom prst="rect">
            <a:avLst/>
          </a:prstGeom>
          <a:noFill/>
        </p:spPr>
        <p:txBody>
          <a:bodyPr wrap="none" lIns="0" rIns="0" tIns="0" bIns="0">
            <a:spAutoFit/>
          </a:bodyPr>
          <a:lstStyle/>
          <a:p>
            <a:pPr>
              <a:lnSpc>
                <a:spcPts val="3429"/>
              </a:lnSpc>
              <a:spcBef>
                <a:spcPts val="0"/>
              </a:spcBef>
              <a:spcAft>
                <a:spcPts val="0"/>
              </a:spcAft>
              <a:defRPr sz="2700" b="1">
                <a:solidFill>
                  <a:srgbClr val="FFFFFF"/>
                </a:solidFill>
                <a:latin typeface="DejaVu Sans"/>
              </a:defRPr>
            </a:pPr>
            <a:r>
              <a:t>− $10</a:t>
            </a:r>
          </a:p>
        </p:txBody>
      </p:sp>
      <p:sp>
        <p:nvSpPr>
          <p:cNvPr id="18" name="TextBox 17"/>
          <p:cNvSpPr txBox="1"/>
          <p:nvPr/>
        </p:nvSpPr>
        <p:spPr>
          <a:xfrm>
            <a:off x="7480300" y="4965700"/>
            <a:ext cx="1727200" cy="254000"/>
          </a:xfrm>
          <a:prstGeom prst="rect">
            <a:avLst/>
          </a:prstGeom>
          <a:noFill/>
        </p:spPr>
        <p:txBody>
          <a:bodyPr wrap="none" lIns="0" rIns="0" tIns="0" bIns="0">
            <a:spAutoFit/>
          </a:bodyPr>
          <a:lstStyle/>
          <a:p>
            <a:pPr>
              <a:lnSpc>
                <a:spcPts val="1651"/>
              </a:lnSpc>
              <a:spcBef>
                <a:spcPts val="0"/>
              </a:spcBef>
              <a:spcAft>
                <a:spcPts val="0"/>
              </a:spcAft>
              <a:defRPr sz="1300" b="0">
                <a:solidFill>
                  <a:srgbClr val="A6C1C6"/>
                </a:solidFill>
                <a:latin typeface="DejaVu Sans"/>
              </a:defRPr>
            </a:pPr>
            <a:r>
              <a:t>debt</a:t>
            </a:r>
          </a:p>
        </p:txBody>
      </p:sp>
      <p:sp>
        <p:nvSpPr>
          <p:cNvPr id="19" name="Rounded Rectangle 18"/>
          <p:cNvSpPr/>
          <p:nvPr/>
        </p:nvSpPr>
        <p:spPr>
          <a:xfrm>
            <a:off x="9499600" y="4140200"/>
            <a:ext cx="2032000" cy="1244600"/>
          </a:xfrm>
          <a:prstGeom prst="roundRect">
            <a:avLst>
              <a:gd name="adj" fmla="val 9183"/>
            </a:avLst>
          </a:prstGeom>
          <a:solidFill>
            <a:srgbClr val="CAEF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0100" y="4343400"/>
            <a:ext cx="1727200" cy="508000"/>
          </a:xfrm>
          <a:prstGeom prst="rect">
            <a:avLst/>
          </a:prstGeom>
          <a:noFill/>
        </p:spPr>
        <p:txBody>
          <a:bodyPr wrap="none" lIns="0" rIns="0" tIns="0" bIns="0">
            <a:spAutoFit/>
          </a:bodyPr>
          <a:lstStyle/>
          <a:p>
            <a:pPr>
              <a:lnSpc>
                <a:spcPts val="3429"/>
              </a:lnSpc>
              <a:spcBef>
                <a:spcPts val="0"/>
              </a:spcBef>
              <a:spcAft>
                <a:spcPts val="0"/>
              </a:spcAft>
              <a:defRPr sz="2700" b="1">
                <a:solidFill>
                  <a:srgbClr val="173A42"/>
                </a:solidFill>
                <a:latin typeface="DejaVu Sans"/>
              </a:defRPr>
            </a:pPr>
            <a:r>
              <a:t>= $550</a:t>
            </a:r>
          </a:p>
        </p:txBody>
      </p:sp>
      <p:sp>
        <p:nvSpPr>
          <p:cNvPr id="21" name="TextBox 20"/>
          <p:cNvSpPr txBox="1"/>
          <p:nvPr/>
        </p:nvSpPr>
        <p:spPr>
          <a:xfrm>
            <a:off x="9690100" y="4965700"/>
            <a:ext cx="1727200" cy="254000"/>
          </a:xfrm>
          <a:prstGeom prst="rect">
            <a:avLst/>
          </a:prstGeom>
          <a:noFill/>
        </p:spPr>
        <p:txBody>
          <a:bodyPr wrap="none" lIns="0" rIns="0" tIns="0" bIns="0">
            <a:spAutoFit/>
          </a:bodyPr>
          <a:lstStyle/>
          <a:p>
            <a:pPr>
              <a:lnSpc>
                <a:spcPts val="1651"/>
              </a:lnSpc>
              <a:spcBef>
                <a:spcPts val="0"/>
              </a:spcBef>
              <a:spcAft>
                <a:spcPts val="0"/>
              </a:spcAft>
              <a:defRPr sz="1300" b="0">
                <a:solidFill>
                  <a:srgbClr val="173A42"/>
                </a:solidFill>
                <a:latin typeface="DejaVu Sans"/>
              </a:defRPr>
            </a:pPr>
            <a:r>
              <a:t>score</a:t>
            </a:r>
          </a:p>
        </p:txBody>
      </p:sp>
      <p:sp>
        <p:nvSpPr>
          <p:cNvPr id="22" name="Rounded Rectangle 21"/>
          <p:cNvSpPr/>
          <p:nvPr/>
        </p:nvSpPr>
        <p:spPr>
          <a:xfrm>
            <a:off x="660400" y="5842000"/>
            <a:ext cx="10871200" cy="546100"/>
          </a:xfrm>
          <a:prstGeom prst="roundRect">
            <a:avLst>
              <a:gd name="adj" fmla="val 15000"/>
            </a:avLst>
          </a:prstGeom>
          <a:solidFill>
            <a:srgbClr val="193F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CAEFA1"/>
                </a:solidFill>
                <a:latin typeface="DejaVu Sans"/>
              </a:defRPr>
            </a:pPr>
            <a:r>
              <a:t>With $500 starting cash, this illustrative result is $50 net profit.</a:t>
            </a:r>
          </a:p>
        </p:txBody>
      </p:sp>
      <p:cxnSp>
        <p:nvCxnSpPr>
          <p:cNvPr id="24" name="Connector 23"/>
          <p:cNvCxnSpPr/>
          <p:nvPr/>
        </p:nvCxnSpPr>
        <p:spPr>
          <a:xfrm>
            <a:off x="660400" y="6565900"/>
            <a:ext cx="10871200" cy="0"/>
          </a:xfrm>
          <a:prstGeom prst="line">
            <a:avLst/>
          </a:prstGeom>
          <a:ln w="8255">
            <a:solidFill>
              <a:srgbClr val="32515A"/>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A6C1C6"/>
                </a:solidFill>
                <a:latin typeface="DejaVu Sans"/>
              </a:defRPr>
            </a:pPr>
            <a:r>
              <a:t>VENDING BENCH  /  PARTICIPANT BRIEFING</a:t>
            </a:r>
          </a:p>
        </p:txBody>
      </p:sp>
      <p:sp>
        <p:nvSpPr>
          <p:cNvPr id="26" name="TextBox 25"/>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CAEFA1"/>
                </a:solidFill>
                <a:latin typeface="DejaVu San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04 / HARNESS DESIGN</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Business actions advance simulated time.</a:t>
            </a:r>
          </a:p>
        </p:txBody>
      </p:sp>
      <p:sp>
        <p:nvSpPr>
          <p:cNvPr id="5" name="Rounded Rectangle 4"/>
          <p:cNvSpPr/>
          <p:nvPr/>
        </p:nvSpPr>
        <p:spPr>
          <a:xfrm>
            <a:off x="660400" y="2120900"/>
            <a:ext cx="10871200" cy="431800"/>
          </a:xfrm>
          <a:prstGeom prst="roundRect">
            <a:avLst>
              <a:gd name="adj" fmla="val 14705"/>
            </a:avLst>
          </a:prstGeom>
          <a:solidFill>
            <a:srgbClr val="173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500" y="2247900"/>
            <a:ext cx="17780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DEFAULT TIME</a:t>
            </a:r>
          </a:p>
        </p:txBody>
      </p:sp>
      <p:sp>
        <p:nvSpPr>
          <p:cNvPr id="7" name="TextBox 6"/>
          <p:cNvSpPr txBox="1"/>
          <p:nvPr/>
        </p:nvSpPr>
        <p:spPr>
          <a:xfrm>
            <a:off x="2921000" y="2247900"/>
            <a:ext cx="5029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ACTIONS</a:t>
            </a:r>
          </a:p>
        </p:txBody>
      </p:sp>
      <p:sp>
        <p:nvSpPr>
          <p:cNvPr id="8" name="TextBox 7"/>
          <p:cNvSpPr txBox="1"/>
          <p:nvPr/>
        </p:nvSpPr>
        <p:spPr>
          <a:xfrm>
            <a:off x="8267700" y="2247900"/>
            <a:ext cx="31115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USE</a:t>
            </a:r>
          </a:p>
        </p:txBody>
      </p:sp>
      <p:sp>
        <p:nvSpPr>
          <p:cNvPr id="9" name="Rectangle 8"/>
          <p:cNvSpPr/>
          <p:nvPr/>
        </p:nvSpPr>
        <p:spPr>
          <a:xfrm>
            <a:off x="660400" y="2552700"/>
            <a:ext cx="10871200" cy="61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5500" y="2705100"/>
            <a:ext cx="1778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5 minutes</a:t>
            </a:r>
          </a:p>
        </p:txBody>
      </p:sp>
      <p:sp>
        <p:nvSpPr>
          <p:cNvPr id="11" name="TextBox 10"/>
          <p:cNvSpPr txBox="1"/>
          <p:nvPr/>
        </p:nvSpPr>
        <p:spPr>
          <a:xfrm>
            <a:off x="2921000" y="2705100"/>
            <a:ext cx="5029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observe · get_inventory · get_balance</a:t>
            </a:r>
          </a:p>
          <a:p>
            <a:pPr>
              <a:lnSpc>
                <a:spcPts val="1844"/>
              </a:lnSpc>
              <a:spcBef>
                <a:spcPts val="0"/>
              </a:spcBef>
              <a:spcAft>
                <a:spcPts val="0"/>
              </a:spcAft>
              <a:defRPr sz="1550" b="0">
                <a:solidFill>
                  <a:srgbClr val="173A42"/>
                </a:solidFill>
                <a:latin typeface="DejaVu Sans"/>
              </a:defRPr>
            </a:pPr>
            <a:r>
              <a:t>get_machine · collect_cash</a:t>
            </a:r>
          </a:p>
        </p:txBody>
      </p:sp>
      <p:sp>
        <p:nvSpPr>
          <p:cNvPr id="12" name="TextBox 11"/>
          <p:cNvSpPr txBox="1"/>
          <p:nvPr/>
        </p:nvSpPr>
        <p:spPr>
          <a:xfrm>
            <a:off x="8267700" y="2705100"/>
            <a:ext cx="3111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Read state or collect revenue</a:t>
            </a:r>
          </a:p>
        </p:txBody>
      </p:sp>
      <p:sp>
        <p:nvSpPr>
          <p:cNvPr id="13" name="Rectangle 12"/>
          <p:cNvSpPr/>
          <p:nvPr/>
        </p:nvSpPr>
        <p:spPr>
          <a:xfrm>
            <a:off x="660400" y="3167380"/>
            <a:ext cx="10871200" cy="614680"/>
          </a:xfrm>
          <a:prstGeom prst="rect">
            <a:avLst/>
          </a:prstGeom>
          <a:solidFill>
            <a:srgbClr val="ED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500" y="3319779"/>
            <a:ext cx="1778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25 minutes</a:t>
            </a:r>
          </a:p>
        </p:txBody>
      </p:sp>
      <p:sp>
        <p:nvSpPr>
          <p:cNvPr id="15" name="TextBox 14"/>
          <p:cNvSpPr txBox="1"/>
          <p:nvPr/>
        </p:nvSpPr>
        <p:spPr>
          <a:xfrm>
            <a:off x="2921000" y="3319779"/>
            <a:ext cx="5029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search_products · set_price</a:t>
            </a:r>
          </a:p>
        </p:txBody>
      </p:sp>
      <p:sp>
        <p:nvSpPr>
          <p:cNvPr id="16" name="TextBox 15"/>
          <p:cNvSpPr txBox="1"/>
          <p:nvPr/>
        </p:nvSpPr>
        <p:spPr>
          <a:xfrm>
            <a:off x="8267700" y="3319779"/>
            <a:ext cx="3111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Research or change pricing</a:t>
            </a:r>
          </a:p>
        </p:txBody>
      </p:sp>
      <p:sp>
        <p:nvSpPr>
          <p:cNvPr id="17" name="Rectangle 16"/>
          <p:cNvSpPr/>
          <p:nvPr/>
        </p:nvSpPr>
        <p:spPr>
          <a:xfrm>
            <a:off x="660400" y="3782060"/>
            <a:ext cx="10871200" cy="61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500" y="3934460"/>
            <a:ext cx="1778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75 minutes</a:t>
            </a:r>
          </a:p>
        </p:txBody>
      </p:sp>
      <p:sp>
        <p:nvSpPr>
          <p:cNvPr id="19" name="TextBox 18"/>
          <p:cNvSpPr txBox="1"/>
          <p:nvPr/>
        </p:nvSpPr>
        <p:spPr>
          <a:xfrm>
            <a:off x="2921000" y="3934460"/>
            <a:ext cx="5029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make_offer · stock_items · unstock_items</a:t>
            </a:r>
          </a:p>
        </p:txBody>
      </p:sp>
      <p:sp>
        <p:nvSpPr>
          <p:cNvPr id="20" name="TextBox 19"/>
          <p:cNvSpPr txBox="1"/>
          <p:nvPr/>
        </p:nvSpPr>
        <p:spPr>
          <a:xfrm>
            <a:off x="8267700" y="3934460"/>
            <a:ext cx="3111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Source or move inventory</a:t>
            </a:r>
          </a:p>
        </p:txBody>
      </p:sp>
      <p:sp>
        <p:nvSpPr>
          <p:cNvPr id="21" name="Rectangle 20"/>
          <p:cNvSpPr/>
          <p:nvPr/>
        </p:nvSpPr>
        <p:spPr>
          <a:xfrm>
            <a:off x="660400" y="4396740"/>
            <a:ext cx="10871200" cy="614680"/>
          </a:xfrm>
          <a:prstGeom prst="rect">
            <a:avLst/>
          </a:prstGeom>
          <a:solidFill>
            <a:srgbClr val="ED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00" y="4549140"/>
            <a:ext cx="1778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300 minutes</a:t>
            </a:r>
          </a:p>
        </p:txBody>
      </p:sp>
      <p:sp>
        <p:nvSpPr>
          <p:cNvPr id="23" name="TextBox 22"/>
          <p:cNvSpPr txBox="1"/>
          <p:nvPr/>
        </p:nvSpPr>
        <p:spPr>
          <a:xfrm>
            <a:off x="2921000" y="4549140"/>
            <a:ext cx="5029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wait</a:t>
            </a:r>
          </a:p>
        </p:txBody>
      </p:sp>
      <p:sp>
        <p:nvSpPr>
          <p:cNvPr id="24" name="TextBox 23"/>
          <p:cNvSpPr txBox="1"/>
          <p:nvPr/>
        </p:nvSpPr>
        <p:spPr>
          <a:xfrm>
            <a:off x="8267700" y="4549140"/>
            <a:ext cx="3111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Advance five simulated hours</a:t>
            </a:r>
          </a:p>
        </p:txBody>
      </p:sp>
      <p:sp>
        <p:nvSpPr>
          <p:cNvPr id="25" name="Rectangle 24"/>
          <p:cNvSpPr/>
          <p:nvPr/>
        </p:nvSpPr>
        <p:spPr>
          <a:xfrm>
            <a:off x="660400" y="5011420"/>
            <a:ext cx="10871200" cy="61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00" y="5163820"/>
            <a:ext cx="1778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To midnight</a:t>
            </a:r>
          </a:p>
        </p:txBody>
      </p:sp>
      <p:sp>
        <p:nvSpPr>
          <p:cNvPr id="27" name="TextBox 26"/>
          <p:cNvSpPr txBox="1"/>
          <p:nvPr/>
        </p:nvSpPr>
        <p:spPr>
          <a:xfrm>
            <a:off x="2921000" y="5163820"/>
            <a:ext cx="5029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end_day</a:t>
            </a:r>
          </a:p>
        </p:txBody>
      </p:sp>
      <p:sp>
        <p:nvSpPr>
          <p:cNvPr id="28" name="TextBox 27"/>
          <p:cNvSpPr txBox="1"/>
          <p:nvPr/>
        </p:nvSpPr>
        <p:spPr>
          <a:xfrm>
            <a:off x="8267700" y="5163820"/>
            <a:ext cx="3111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Finish the current day</a:t>
            </a:r>
          </a:p>
        </p:txBody>
      </p:sp>
      <p:sp>
        <p:nvSpPr>
          <p:cNvPr id="29" name="Rounded Rectangle 28"/>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Service-level business refusals consume time. Controller blocks and schema errors do not.</a:t>
            </a:r>
          </a:p>
        </p:txBody>
      </p:sp>
      <p:cxnSp>
        <p:nvCxnSpPr>
          <p:cNvPr id="31" name="Connector 30"/>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33" name="TextBox 32"/>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04 / HARNESS DESIGN</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Replenish from stock. Adapt from evidence.</a:t>
            </a:r>
          </a:p>
        </p:txBody>
      </p:sp>
      <p:sp>
        <p:nvSpPr>
          <p:cNvPr id="5" name="Rounded Rectangle 4"/>
          <p:cNvSpPr/>
          <p:nvPr/>
        </p:nvSpPr>
        <p:spPr>
          <a:xfrm>
            <a:off x="660400" y="2209800"/>
            <a:ext cx="5308600" cy="3352800"/>
          </a:xfrm>
          <a:prstGeom prst="roundRect">
            <a:avLst>
              <a:gd name="adj" fmla="val 378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60400" y="2209800"/>
            <a:ext cx="5308600" cy="50800"/>
          </a:xfrm>
          <a:prstGeom prst="rect">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9800" y="2489200"/>
            <a:ext cx="4749800" cy="4445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STOCK AND CASH</a:t>
            </a:r>
          </a:p>
        </p:txBody>
      </p:sp>
      <p:sp>
        <p:nvSpPr>
          <p:cNvPr id="8" name="Rounded Rectangle 7"/>
          <p:cNvSpPr/>
          <p:nvPr/>
        </p:nvSpPr>
        <p:spPr>
          <a:xfrm>
            <a:off x="939800" y="30734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68400" y="29972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Start with up to four products, one slot each</a:t>
            </a:r>
          </a:p>
        </p:txBody>
      </p:sp>
      <p:sp>
        <p:nvSpPr>
          <p:cNvPr id="10" name="Rounded Rectangle 9"/>
          <p:cNvSpPr/>
          <p:nvPr/>
        </p:nvSpPr>
        <p:spPr>
          <a:xfrm>
            <a:off x="939800" y="34290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68400" y="33528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Use three days of sales at the current price</a:t>
            </a:r>
          </a:p>
        </p:txBody>
      </p:sp>
      <p:sp>
        <p:nvSpPr>
          <p:cNvPr id="12" name="Rounded Rectangle 11"/>
          <p:cNvSpPr/>
          <p:nvPr/>
        </p:nvSpPr>
        <p:spPr>
          <a:xfrm>
            <a:off x="939800" y="37846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68400" y="37084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Machine target: 1.5 days; reserve: 1 day</a:t>
            </a:r>
          </a:p>
        </p:txBody>
      </p:sp>
      <p:sp>
        <p:nvSpPr>
          <p:cNvPr id="14" name="Rounded Rectangle 13"/>
          <p:cNvSpPr/>
          <p:nvPr/>
        </p:nvSpPr>
        <p:spPr>
          <a:xfrm>
            <a:off x="939800" y="4140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68400" y="40640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Subtract all stock; reserve debt + three</a:t>
            </a:r>
          </a:p>
          <a:p>
            <a:pPr>
              <a:lnSpc>
                <a:spcPts val="2160"/>
              </a:lnSpc>
              <a:spcBef>
                <a:spcPts val="0"/>
              </a:spcBef>
              <a:spcAft>
                <a:spcPts val="0"/>
              </a:spcAft>
              <a:defRPr sz="1600" b="0">
                <a:solidFill>
                  <a:srgbClr val="173A42"/>
                </a:solidFill>
                <a:latin typeface="DejaVu Sans"/>
              </a:defRPr>
            </a:pPr>
            <a:r>
              <a:t>fees</a:t>
            </a:r>
          </a:p>
        </p:txBody>
      </p:sp>
      <p:sp>
        <p:nvSpPr>
          <p:cNvPr id="16" name="Rounded Rectangle 15"/>
          <p:cNvSpPr/>
          <p:nvPr/>
        </p:nvSpPr>
        <p:spPr>
          <a:xfrm>
            <a:off x="6223000" y="2209800"/>
            <a:ext cx="5308600" cy="3352800"/>
          </a:xfrm>
          <a:prstGeom prst="roundRect">
            <a:avLst>
              <a:gd name="adj" fmla="val 378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23000" y="2209800"/>
            <a:ext cx="5308600" cy="50800"/>
          </a:xfrm>
          <a:prstGeom prst="rect">
            <a:avLst/>
          </a:prstGeom>
          <a:solidFill>
            <a:srgbClr val="5E8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02400" y="2489200"/>
            <a:ext cx="4749800" cy="444500"/>
          </a:xfrm>
          <a:prstGeom prst="rect">
            <a:avLst/>
          </a:prstGeom>
          <a:noFill/>
        </p:spPr>
        <p:txBody>
          <a:bodyPr wrap="none" lIns="0" rIns="0" tIns="0" bIns="0">
            <a:spAutoFit/>
          </a:bodyPr>
          <a:lstStyle/>
          <a:p>
            <a:pPr>
              <a:lnSpc>
                <a:spcPts val="1524"/>
              </a:lnSpc>
              <a:spcBef>
                <a:spcPts val="0"/>
              </a:spcBef>
              <a:spcAft>
                <a:spcPts val="0"/>
              </a:spcAft>
              <a:defRPr sz="1200" b="1">
                <a:solidFill>
                  <a:srgbClr val="557079"/>
                </a:solidFill>
                <a:latin typeface="DejaVu Sans"/>
              </a:defRPr>
            </a:pPr>
            <a:r>
              <a:t>PRICES AND CAPACITY</a:t>
            </a:r>
          </a:p>
        </p:txBody>
      </p:sp>
      <p:sp>
        <p:nvSpPr>
          <p:cNvPr id="19" name="Rounded Rectangle 18"/>
          <p:cNvSpPr/>
          <p:nvPr/>
        </p:nvSpPr>
        <p:spPr>
          <a:xfrm>
            <a:off x="6502400" y="30734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31000" y="29972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Start at 150% of reference, above cost</a:t>
            </a:r>
          </a:p>
        </p:txBody>
      </p:sp>
      <p:sp>
        <p:nvSpPr>
          <p:cNvPr id="21" name="Rounded Rectangle 20"/>
          <p:cNvSpPr/>
          <p:nvPr/>
        </p:nvSpPr>
        <p:spPr>
          <a:xfrm>
            <a:off x="6502400" y="34290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31000" y="33528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Test one price at a time, within ±10%</a:t>
            </a:r>
          </a:p>
        </p:txBody>
      </p:sp>
      <p:sp>
        <p:nvSpPr>
          <p:cNvPr id="23" name="Rounded Rectangle 22"/>
          <p:cNvSpPr/>
          <p:nvPr/>
        </p:nvSpPr>
        <p:spPr>
          <a:xfrm>
            <a:off x="6502400" y="37846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31000" y="37084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Compare three fully stocked days</a:t>
            </a:r>
          </a:p>
        </p:txBody>
      </p:sp>
      <p:sp>
        <p:nvSpPr>
          <p:cNvPr id="25" name="Rounded Rectangle 24"/>
          <p:cNvSpPr/>
          <p:nvPr/>
        </p:nvSpPr>
        <p:spPr>
          <a:xfrm>
            <a:off x="6502400" y="4140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31000" y="40640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Two consecutive sellouts permit another</a:t>
            </a:r>
          </a:p>
          <a:p>
            <a:pPr>
              <a:lnSpc>
                <a:spcPts val="2160"/>
              </a:lnSpc>
              <a:spcBef>
                <a:spcPts val="0"/>
              </a:spcBef>
              <a:spcAft>
                <a:spcPts val="0"/>
              </a:spcAft>
              <a:defRPr sz="1600" b="0">
                <a:solidFill>
                  <a:srgbClr val="173A42"/>
                </a:solidFill>
                <a:latin typeface="DejaVu Sans"/>
              </a:defRPr>
            </a:pPr>
            <a:r>
              <a:t>slot</a:t>
            </a:r>
          </a:p>
        </p:txBody>
      </p:sp>
      <p:sp>
        <p:nvSpPr>
          <p:cNvPr id="27" name="Rounded Rectangle 26"/>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These are bounded starter heuristics. Profitability gains remain unproven.</a:t>
            </a:r>
          </a:p>
        </p:txBody>
      </p:sp>
      <p:cxnSp>
        <p:nvCxnSpPr>
          <p:cNvPr id="29" name="Connector 28"/>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31" name="TextBox 30"/>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04 / HARNESS DESIGN</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One tool. A controlled daily loop.</a:t>
            </a:r>
          </a:p>
        </p:txBody>
      </p:sp>
      <p:sp>
        <p:nvSpPr>
          <p:cNvPr id="5" name="Rounded Rectangle 4"/>
          <p:cNvSpPr/>
          <p:nvPr/>
        </p:nvSpPr>
        <p:spPr>
          <a:xfrm>
            <a:off x="660400" y="2159000"/>
            <a:ext cx="7772400" cy="3378200"/>
          </a:xfrm>
          <a:prstGeom prst="roundRect">
            <a:avLst>
              <a:gd name="adj" fmla="val 3759"/>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0" y="2159000"/>
            <a:ext cx="2844800" cy="3378200"/>
          </a:xfrm>
          <a:prstGeom prst="roundRect">
            <a:avLst>
              <a:gd name="adj" fmla="val 4464"/>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387600"/>
            <a:ext cx="7264400" cy="279400"/>
          </a:xfrm>
          <a:prstGeom prst="rect">
            <a:avLst/>
          </a:prstGeom>
          <a:noFill/>
        </p:spPr>
        <p:txBody>
          <a:bodyPr wrap="none" lIns="0" rIns="0" tIns="0" bIns="0">
            <a:spAutoFit/>
          </a:bodyPr>
          <a:lstStyle/>
          <a:p>
            <a:pPr>
              <a:lnSpc>
                <a:spcPts val="1333"/>
              </a:lnSpc>
              <a:spcBef>
                <a:spcPts val="0"/>
              </a:spcBef>
              <a:spcAft>
                <a:spcPts val="0"/>
              </a:spcAft>
              <a:defRPr sz="1050" b="1">
                <a:solidFill>
                  <a:srgbClr val="557079"/>
                </a:solidFill>
                <a:latin typeface="DejaVu Sans"/>
              </a:defRPr>
            </a:pPr>
            <a:r>
              <a:t>Structured vending tool · *refresh when required</a:t>
            </a:r>
          </a:p>
        </p:txBody>
      </p:sp>
      <p:sp>
        <p:nvSpPr>
          <p:cNvPr id="8" name="TextBox 7"/>
          <p:cNvSpPr txBox="1"/>
          <p:nvPr/>
        </p:nvSpPr>
        <p:spPr>
          <a:xfrm>
            <a:off x="8915400" y="2387600"/>
            <a:ext cx="2413000" cy="279400"/>
          </a:xfrm>
          <a:prstGeom prst="rect">
            <a:avLst/>
          </a:prstGeom>
          <a:noFill/>
        </p:spPr>
        <p:txBody>
          <a:bodyPr wrap="none" lIns="0" rIns="0" tIns="0" bIns="0">
            <a:spAutoFit/>
          </a:bodyPr>
          <a:lstStyle/>
          <a:p>
            <a:pPr>
              <a:lnSpc>
                <a:spcPts val="1333"/>
              </a:lnSpc>
              <a:spcBef>
                <a:spcPts val="0"/>
              </a:spcBef>
              <a:spcAft>
                <a:spcPts val="0"/>
              </a:spcAft>
              <a:defRPr sz="1050" b="1">
                <a:solidFill>
                  <a:srgbClr val="008C7B"/>
                </a:solidFill>
                <a:latin typeface="DejaVu Sans"/>
              </a:defRPr>
            </a:pPr>
            <a:r>
              <a:t>Enforced by the extension</a:t>
            </a:r>
          </a:p>
        </p:txBody>
      </p:sp>
      <p:cxnSp>
        <p:nvCxnSpPr>
          <p:cNvPr id="9" name="Connector 8"/>
          <p:cNvCxnSpPr/>
          <p:nvPr/>
        </p:nvCxnSpPr>
        <p:spPr>
          <a:xfrm>
            <a:off x="2565400" y="3175000"/>
            <a:ext cx="203200" cy="0"/>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2701728" y="3175000"/>
            <a:ext cx="66872" cy="36532"/>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flipV="1">
            <a:off x="2701728" y="3138467"/>
            <a:ext cx="66872" cy="36533"/>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445000" y="3175000"/>
            <a:ext cx="203200" cy="0"/>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4581328" y="3175000"/>
            <a:ext cx="66872" cy="36532"/>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flipV="1">
            <a:off x="4581328" y="3138467"/>
            <a:ext cx="66872" cy="36533"/>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324600" y="3175000"/>
            <a:ext cx="203200" cy="0"/>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6460928" y="3175000"/>
            <a:ext cx="66872" cy="36532"/>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flipV="1">
            <a:off x="6460928" y="3138467"/>
            <a:ext cx="66872" cy="36533"/>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366000" y="3556000"/>
            <a:ext cx="0" cy="457200"/>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flipV="1">
            <a:off x="7329467" y="3946328"/>
            <a:ext cx="36533" cy="66872"/>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366000" y="3946328"/>
            <a:ext cx="36532" cy="66872"/>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6324600" y="4394200"/>
            <a:ext cx="203200" cy="0"/>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6324600" y="4357667"/>
            <a:ext cx="66871" cy="36533"/>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324600" y="4394200"/>
            <a:ext cx="66871" cy="36532"/>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4445000" y="4394200"/>
            <a:ext cx="203200" cy="0"/>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4445000" y="4357667"/>
            <a:ext cx="66871" cy="36533"/>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445000" y="4394200"/>
            <a:ext cx="66871" cy="36532"/>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2565400" y="4394200"/>
            <a:ext cx="203200" cy="0"/>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565400" y="4357667"/>
            <a:ext cx="66871" cy="36533"/>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565400" y="4394200"/>
            <a:ext cx="66871" cy="36532"/>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1727200" y="3784600"/>
            <a:ext cx="0" cy="228600"/>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727200" y="3784600"/>
            <a:ext cx="3759200" cy="0"/>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486400" y="3556000"/>
            <a:ext cx="0" cy="228600"/>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486400" y="3556000"/>
            <a:ext cx="36532" cy="66871"/>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449867" y="3556000"/>
            <a:ext cx="36533" cy="66871"/>
          </a:xfrm>
          <a:prstGeom prst="line">
            <a:avLst/>
          </a:prstGeom>
          <a:ln w="19050">
            <a:solidFill>
              <a:srgbClr val="008C7B"/>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89000" y="2794000"/>
            <a:ext cx="1676400" cy="762000"/>
          </a:xfrm>
          <a:prstGeom prst="roundRect">
            <a:avLst>
              <a:gd name="adj" fmla="val 13333"/>
            </a:avLst>
          </a:prstGeom>
          <a:solidFill>
            <a:srgbClr val="E8F3ED"/>
          </a:solidFill>
          <a:ln w="8890">
            <a:solidFill>
              <a:srgbClr val="DC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6000" y="2921000"/>
            <a:ext cx="1422400" cy="533400"/>
          </a:xfrm>
          <a:prstGeom prst="rect">
            <a:avLst/>
          </a:prstGeom>
          <a:noFill/>
        </p:spPr>
        <p:txBody>
          <a:bodyPr wrap="none" lIns="0" rIns="0" tIns="0" bIns="0">
            <a:spAutoFit/>
          </a:bodyPr>
          <a:lstStyle/>
          <a:p>
            <a:pPr>
              <a:lnSpc>
                <a:spcPts val="1296"/>
              </a:lnSpc>
              <a:spcBef>
                <a:spcPts val="0"/>
              </a:spcBef>
              <a:spcAft>
                <a:spcPts val="0"/>
              </a:spcAft>
              <a:defRPr sz="1200" b="1">
                <a:solidFill>
                  <a:srgbClr val="173A42"/>
                </a:solidFill>
                <a:latin typeface="DejaVu Sans"/>
              </a:defRPr>
            </a:pPr>
            <a:r>
              <a:t>Create /</a:t>
            </a:r>
          </a:p>
          <a:p>
            <a:pPr>
              <a:lnSpc>
                <a:spcPts val="1296"/>
              </a:lnSpc>
              <a:spcBef>
                <a:spcPts val="0"/>
              </a:spcBef>
              <a:spcAft>
                <a:spcPts val="0"/>
              </a:spcAft>
              <a:defRPr sz="1200" b="1">
                <a:solidFill>
                  <a:srgbClr val="173A42"/>
                </a:solidFill>
                <a:latin typeface="DejaVu Sans"/>
              </a:defRPr>
            </a:pPr>
            <a:r>
              <a:t>observe</a:t>
            </a:r>
          </a:p>
        </p:txBody>
      </p:sp>
      <p:sp>
        <p:nvSpPr>
          <p:cNvPr id="37" name="Rounded Rectangle 36"/>
          <p:cNvSpPr/>
          <p:nvPr/>
        </p:nvSpPr>
        <p:spPr>
          <a:xfrm>
            <a:off x="2768600" y="2794000"/>
            <a:ext cx="1676400" cy="762000"/>
          </a:xfrm>
          <a:prstGeom prst="roundRect">
            <a:avLst>
              <a:gd name="adj" fmla="val 13333"/>
            </a:avLst>
          </a:prstGeom>
          <a:solidFill>
            <a:srgbClr val="E8F3ED"/>
          </a:solidFill>
          <a:ln w="8890">
            <a:solidFill>
              <a:srgbClr val="DC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95600" y="2921000"/>
            <a:ext cx="1422400" cy="533400"/>
          </a:xfrm>
          <a:prstGeom prst="rect">
            <a:avLst/>
          </a:prstGeom>
          <a:noFill/>
        </p:spPr>
        <p:txBody>
          <a:bodyPr wrap="none" lIns="0" rIns="0" tIns="0" bIns="0">
            <a:spAutoFit/>
          </a:bodyPr>
          <a:lstStyle/>
          <a:p>
            <a:pPr>
              <a:lnSpc>
                <a:spcPts val="1296"/>
              </a:lnSpc>
              <a:spcBef>
                <a:spcPts val="0"/>
              </a:spcBef>
              <a:spcAft>
                <a:spcPts val="0"/>
              </a:spcAft>
              <a:defRPr sz="1200" b="1">
                <a:solidFill>
                  <a:srgbClr val="173A42"/>
                </a:solidFill>
                <a:latin typeface="DejaVu Sans"/>
              </a:defRPr>
            </a:pPr>
            <a:r>
              <a:t>Select ≤4</a:t>
            </a:r>
          </a:p>
          <a:p>
            <a:pPr>
              <a:lnSpc>
                <a:spcPts val="1296"/>
              </a:lnSpc>
              <a:spcBef>
                <a:spcPts val="0"/>
              </a:spcBef>
              <a:spcAft>
                <a:spcPts val="0"/>
              </a:spcAft>
              <a:defRPr sz="1200" b="1">
                <a:solidFill>
                  <a:srgbClr val="173A42"/>
                </a:solidFill>
                <a:latin typeface="DejaVu Sans"/>
              </a:defRPr>
            </a:pPr>
            <a:r>
              <a:t>products</a:t>
            </a:r>
          </a:p>
        </p:txBody>
      </p:sp>
      <p:sp>
        <p:nvSpPr>
          <p:cNvPr id="39" name="Rounded Rectangle 38"/>
          <p:cNvSpPr/>
          <p:nvPr/>
        </p:nvSpPr>
        <p:spPr>
          <a:xfrm>
            <a:off x="4648200" y="2794000"/>
            <a:ext cx="1676400" cy="762000"/>
          </a:xfrm>
          <a:prstGeom prst="roundRect">
            <a:avLst>
              <a:gd name="adj" fmla="val 13333"/>
            </a:avLst>
          </a:prstGeom>
          <a:solidFill>
            <a:srgbClr val="FFFFFF"/>
          </a:solidFill>
          <a:ln w="8890">
            <a:solidFill>
              <a:srgbClr val="DC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775200" y="2921000"/>
            <a:ext cx="1422400" cy="533400"/>
          </a:xfrm>
          <a:prstGeom prst="rect">
            <a:avLst/>
          </a:prstGeom>
          <a:noFill/>
        </p:spPr>
        <p:txBody>
          <a:bodyPr wrap="none" lIns="0" rIns="0" tIns="0" bIns="0">
            <a:spAutoFit/>
          </a:bodyPr>
          <a:lstStyle/>
          <a:p>
            <a:pPr>
              <a:lnSpc>
                <a:spcPts val="1296"/>
              </a:lnSpc>
              <a:spcBef>
                <a:spcPts val="0"/>
              </a:spcBef>
              <a:spcAft>
                <a:spcPts val="0"/>
              </a:spcAft>
              <a:defRPr sz="1200" b="1">
                <a:solidFill>
                  <a:srgbClr val="173A42"/>
                </a:solidFill>
                <a:latin typeface="DejaVu Sans"/>
              </a:defRPr>
            </a:pPr>
            <a:r>
              <a:t>Buy /</a:t>
            </a:r>
          </a:p>
          <a:p>
            <a:pPr>
              <a:lnSpc>
                <a:spcPts val="1296"/>
              </a:lnSpc>
              <a:spcBef>
                <a:spcPts val="0"/>
              </a:spcBef>
              <a:spcAft>
                <a:spcPts val="0"/>
              </a:spcAft>
              <a:defRPr sz="1200" b="1">
                <a:solidFill>
                  <a:srgbClr val="173A42"/>
                </a:solidFill>
                <a:latin typeface="DejaVu Sans"/>
              </a:defRPr>
            </a:pPr>
            <a:r>
              <a:t>stock</a:t>
            </a:r>
          </a:p>
        </p:txBody>
      </p:sp>
      <p:sp>
        <p:nvSpPr>
          <p:cNvPr id="41" name="Rounded Rectangle 40"/>
          <p:cNvSpPr/>
          <p:nvPr/>
        </p:nvSpPr>
        <p:spPr>
          <a:xfrm>
            <a:off x="6527800" y="2794000"/>
            <a:ext cx="1676400" cy="762000"/>
          </a:xfrm>
          <a:prstGeom prst="roundRect">
            <a:avLst>
              <a:gd name="adj" fmla="val 13333"/>
            </a:avLst>
          </a:prstGeom>
          <a:solidFill>
            <a:srgbClr val="FFFFFF"/>
          </a:solidFill>
          <a:ln w="8890">
            <a:solidFill>
              <a:srgbClr val="DC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654800" y="2921000"/>
            <a:ext cx="1422400" cy="533400"/>
          </a:xfrm>
          <a:prstGeom prst="rect">
            <a:avLst/>
          </a:prstGeom>
          <a:noFill/>
        </p:spPr>
        <p:txBody>
          <a:bodyPr wrap="none" lIns="0" rIns="0" tIns="0" bIns="0">
            <a:spAutoFit/>
          </a:bodyPr>
          <a:lstStyle/>
          <a:p>
            <a:pPr>
              <a:lnSpc>
                <a:spcPts val="1296"/>
              </a:lnSpc>
              <a:spcBef>
                <a:spcPts val="0"/>
              </a:spcBef>
              <a:spcAft>
                <a:spcPts val="0"/>
              </a:spcAft>
              <a:defRPr sz="1200" b="1">
                <a:solidFill>
                  <a:srgbClr val="173A42"/>
                </a:solidFill>
                <a:latin typeface="DejaVu Sans"/>
              </a:defRPr>
            </a:pPr>
            <a:r>
              <a:t>end_day</a:t>
            </a:r>
          </a:p>
        </p:txBody>
      </p:sp>
      <p:sp>
        <p:nvSpPr>
          <p:cNvPr id="43" name="Rounded Rectangle 42"/>
          <p:cNvSpPr/>
          <p:nvPr/>
        </p:nvSpPr>
        <p:spPr>
          <a:xfrm>
            <a:off x="6527800" y="4013200"/>
            <a:ext cx="1676400" cy="762000"/>
          </a:xfrm>
          <a:prstGeom prst="roundRect">
            <a:avLst>
              <a:gd name="adj" fmla="val 13333"/>
            </a:avLst>
          </a:prstGeom>
          <a:solidFill>
            <a:srgbClr val="FFFFFF"/>
          </a:solidFill>
          <a:ln w="8890">
            <a:solidFill>
              <a:srgbClr val="DC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54800" y="4140200"/>
            <a:ext cx="1422400" cy="533400"/>
          </a:xfrm>
          <a:prstGeom prst="rect">
            <a:avLst/>
          </a:prstGeom>
          <a:noFill/>
        </p:spPr>
        <p:txBody>
          <a:bodyPr wrap="none" lIns="0" rIns="0" tIns="0" bIns="0">
            <a:spAutoFit/>
          </a:bodyPr>
          <a:lstStyle/>
          <a:p>
            <a:pPr>
              <a:lnSpc>
                <a:spcPts val="1296"/>
              </a:lnSpc>
              <a:spcBef>
                <a:spcPts val="0"/>
              </a:spcBef>
              <a:spcAft>
                <a:spcPts val="0"/>
              </a:spcAft>
              <a:defRPr sz="1200" b="1">
                <a:solidFill>
                  <a:srgbClr val="173A42"/>
                </a:solidFill>
                <a:latin typeface="DejaVu Sans"/>
              </a:defRPr>
            </a:pPr>
            <a:r>
              <a:t>Collect cash</a:t>
            </a:r>
          </a:p>
          <a:p>
            <a:pPr>
              <a:lnSpc>
                <a:spcPts val="1296"/>
              </a:lnSpc>
              <a:spcBef>
                <a:spcPts val="0"/>
              </a:spcBef>
              <a:spcAft>
                <a:spcPts val="0"/>
              </a:spcAft>
              <a:defRPr sz="1200" b="1">
                <a:solidFill>
                  <a:srgbClr val="173A42"/>
                </a:solidFill>
                <a:latin typeface="DejaVu Sans"/>
              </a:defRPr>
            </a:pPr>
            <a:r>
              <a:t>if positive</a:t>
            </a:r>
          </a:p>
        </p:txBody>
      </p:sp>
      <p:sp>
        <p:nvSpPr>
          <p:cNvPr id="45" name="Rounded Rectangle 44"/>
          <p:cNvSpPr/>
          <p:nvPr/>
        </p:nvSpPr>
        <p:spPr>
          <a:xfrm>
            <a:off x="4648200" y="4013200"/>
            <a:ext cx="1676400" cy="762000"/>
          </a:xfrm>
          <a:prstGeom prst="roundRect">
            <a:avLst>
              <a:gd name="adj" fmla="val 13333"/>
            </a:avLst>
          </a:prstGeom>
          <a:solidFill>
            <a:srgbClr val="FFFFFF"/>
          </a:solidFill>
          <a:ln w="8890">
            <a:solidFill>
              <a:srgbClr val="DC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75200" y="4140200"/>
            <a:ext cx="1422400" cy="533400"/>
          </a:xfrm>
          <a:prstGeom prst="rect">
            <a:avLst/>
          </a:prstGeom>
          <a:noFill/>
        </p:spPr>
        <p:txBody>
          <a:bodyPr wrap="none" lIns="0" rIns="0" tIns="0" bIns="0">
            <a:spAutoFit/>
          </a:bodyPr>
          <a:lstStyle/>
          <a:p>
            <a:pPr>
              <a:lnSpc>
                <a:spcPts val="1296"/>
              </a:lnSpc>
              <a:spcBef>
                <a:spcPts val="0"/>
              </a:spcBef>
              <a:spcAft>
                <a:spcPts val="0"/>
              </a:spcAft>
              <a:defRPr sz="1200" b="1">
                <a:solidFill>
                  <a:srgbClr val="173A42"/>
                </a:solidFill>
                <a:latin typeface="DejaVu Sans"/>
              </a:defRPr>
            </a:pPr>
            <a:r>
              <a:t>Machine +</a:t>
            </a:r>
          </a:p>
          <a:p>
            <a:pPr>
              <a:lnSpc>
                <a:spcPts val="1296"/>
              </a:lnSpc>
              <a:spcBef>
                <a:spcPts val="0"/>
              </a:spcBef>
              <a:spcAft>
                <a:spcPts val="0"/>
              </a:spcAft>
              <a:defRPr sz="1200" b="1">
                <a:solidFill>
                  <a:srgbClr val="173A42"/>
                </a:solidFill>
                <a:latin typeface="DejaVu Sans"/>
              </a:defRPr>
            </a:pPr>
            <a:r>
              <a:t>storage</a:t>
            </a:r>
          </a:p>
        </p:txBody>
      </p:sp>
      <p:sp>
        <p:nvSpPr>
          <p:cNvPr id="47" name="Rounded Rectangle 46"/>
          <p:cNvSpPr/>
          <p:nvPr/>
        </p:nvSpPr>
        <p:spPr>
          <a:xfrm>
            <a:off x="2768600" y="4013200"/>
            <a:ext cx="1676400" cy="762000"/>
          </a:xfrm>
          <a:prstGeom prst="roundRect">
            <a:avLst>
              <a:gd name="adj" fmla="val 13333"/>
            </a:avLst>
          </a:prstGeom>
          <a:solidFill>
            <a:srgbClr val="FFFFFF"/>
          </a:solidFill>
          <a:ln w="8890">
            <a:solidFill>
              <a:srgbClr val="DC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895600" y="4140200"/>
            <a:ext cx="1422400" cy="533400"/>
          </a:xfrm>
          <a:prstGeom prst="rect">
            <a:avLst/>
          </a:prstGeom>
          <a:noFill/>
        </p:spPr>
        <p:txBody>
          <a:bodyPr wrap="none" lIns="0" rIns="0" tIns="0" bIns="0">
            <a:spAutoFit/>
          </a:bodyPr>
          <a:lstStyle/>
          <a:p>
            <a:pPr>
              <a:lnSpc>
                <a:spcPts val="1296"/>
              </a:lnSpc>
              <a:spcBef>
                <a:spcPts val="0"/>
              </a:spcBef>
              <a:spcAft>
                <a:spcPts val="0"/>
              </a:spcAft>
              <a:defRPr sz="1200" b="1">
                <a:solidFill>
                  <a:srgbClr val="173A42"/>
                </a:solidFill>
                <a:latin typeface="DejaVu Sans"/>
              </a:defRPr>
            </a:pPr>
            <a:r>
              <a:t>Refresh</a:t>
            </a:r>
          </a:p>
          <a:p>
            <a:pPr>
              <a:lnSpc>
                <a:spcPts val="1296"/>
              </a:lnSpc>
              <a:spcBef>
                <a:spcPts val="0"/>
              </a:spcBef>
              <a:spcAft>
                <a:spcPts val="0"/>
              </a:spcAft>
              <a:defRPr sz="1200" b="1">
                <a:solidFill>
                  <a:srgbClr val="173A42"/>
                </a:solidFill>
                <a:latin typeface="DejaVu Sans"/>
              </a:defRPr>
            </a:pPr>
            <a:r>
              <a:t>quotes*</a:t>
            </a:r>
          </a:p>
        </p:txBody>
      </p:sp>
      <p:sp>
        <p:nvSpPr>
          <p:cNvPr id="49" name="Rounded Rectangle 48"/>
          <p:cNvSpPr/>
          <p:nvPr/>
        </p:nvSpPr>
        <p:spPr>
          <a:xfrm>
            <a:off x="889000" y="4013200"/>
            <a:ext cx="1676400" cy="762000"/>
          </a:xfrm>
          <a:prstGeom prst="roundRect">
            <a:avLst>
              <a:gd name="adj" fmla="val 13333"/>
            </a:avLst>
          </a:prstGeom>
          <a:solidFill>
            <a:srgbClr val="FFFFFF"/>
          </a:solidFill>
          <a:ln w="8890">
            <a:solidFill>
              <a:srgbClr val="DCE6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16000" y="4140200"/>
            <a:ext cx="1422400" cy="533400"/>
          </a:xfrm>
          <a:prstGeom prst="rect">
            <a:avLst/>
          </a:prstGeom>
          <a:noFill/>
        </p:spPr>
        <p:txBody>
          <a:bodyPr wrap="none" lIns="0" rIns="0" tIns="0" bIns="0">
            <a:spAutoFit/>
          </a:bodyPr>
          <a:lstStyle/>
          <a:p>
            <a:pPr>
              <a:lnSpc>
                <a:spcPts val="1296"/>
              </a:lnSpc>
              <a:spcBef>
                <a:spcPts val="0"/>
              </a:spcBef>
              <a:spcAft>
                <a:spcPts val="0"/>
              </a:spcAft>
              <a:defRPr sz="1200" b="1">
                <a:solidFill>
                  <a:srgbClr val="173A42"/>
                </a:solidFill>
                <a:latin typeface="DejaVu Sans"/>
              </a:defRPr>
            </a:pPr>
            <a:r>
              <a:t>Review</a:t>
            </a:r>
          </a:p>
          <a:p>
            <a:pPr>
              <a:lnSpc>
                <a:spcPts val="1296"/>
              </a:lnSpc>
              <a:spcBef>
                <a:spcPts val="0"/>
              </a:spcBef>
              <a:spcAft>
                <a:spcPts val="0"/>
              </a:spcAft>
              <a:defRPr sz="1200" b="1">
                <a:solidFill>
                  <a:srgbClr val="173A42"/>
                </a:solidFill>
                <a:latin typeface="DejaVu Sans"/>
              </a:defRPr>
            </a:pPr>
            <a:r>
              <a:t>prices</a:t>
            </a:r>
          </a:p>
        </p:txBody>
      </p:sp>
      <p:sp>
        <p:nvSpPr>
          <p:cNvPr id="51" name="TextBox 50"/>
          <p:cNvSpPr txBox="1"/>
          <p:nvPr/>
        </p:nvSpPr>
        <p:spPr>
          <a:xfrm>
            <a:off x="914400" y="5143500"/>
            <a:ext cx="7264400" cy="2540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Any terminal state → get result → delete</a:t>
            </a:r>
          </a:p>
        </p:txBody>
      </p:sp>
      <p:sp>
        <p:nvSpPr>
          <p:cNvPr id="52" name="Rounded Rectangle 51"/>
          <p:cNvSpPr/>
          <p:nvPr/>
        </p:nvSpPr>
        <p:spPr>
          <a:xfrm>
            <a:off x="8864600" y="28956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093200" y="2819400"/>
            <a:ext cx="2235200" cy="1397000"/>
          </a:xfrm>
          <a:prstGeom prst="rect">
            <a:avLst/>
          </a:prstGeom>
          <a:noFill/>
        </p:spPr>
        <p:txBody>
          <a:bodyPr wrap="none" lIns="0" rIns="0" tIns="0" bIns="0">
            <a:spAutoFit/>
          </a:bodyPr>
          <a:lstStyle/>
          <a:p>
            <a:pPr>
              <a:lnSpc>
                <a:spcPts val="1822"/>
              </a:lnSpc>
              <a:spcBef>
                <a:spcPts val="0"/>
              </a:spcBef>
              <a:spcAft>
                <a:spcPts val="0"/>
              </a:spcAft>
              <a:defRPr sz="1350" b="0">
                <a:solidFill>
                  <a:srgbClr val="173A42"/>
                </a:solidFill>
                <a:latin typeface="DejaVu Sans"/>
              </a:defRPr>
            </a:pPr>
            <a:r>
              <a:t>Skill injected into the</a:t>
            </a:r>
          </a:p>
          <a:p>
            <a:pPr>
              <a:lnSpc>
                <a:spcPts val="1822"/>
              </a:lnSpc>
              <a:spcBef>
                <a:spcPts val="0"/>
              </a:spcBef>
              <a:spcAft>
                <a:spcPts val="0"/>
              </a:spcAft>
              <a:defRPr sz="1350" b="0">
                <a:solidFill>
                  <a:srgbClr val="173A42"/>
                </a:solidFill>
                <a:latin typeface="DejaVu Sans"/>
              </a:defRPr>
            </a:pPr>
            <a:r>
              <a:t>prompt</a:t>
            </a:r>
          </a:p>
        </p:txBody>
      </p:sp>
      <p:sp>
        <p:nvSpPr>
          <p:cNvPr id="54" name="Rounded Rectangle 53"/>
          <p:cNvSpPr/>
          <p:nvPr/>
        </p:nvSpPr>
        <p:spPr>
          <a:xfrm>
            <a:off x="8864600" y="3438207"/>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093200" y="3362007"/>
            <a:ext cx="2235200" cy="1397000"/>
          </a:xfrm>
          <a:prstGeom prst="rect">
            <a:avLst/>
          </a:prstGeom>
          <a:noFill/>
        </p:spPr>
        <p:txBody>
          <a:bodyPr wrap="none" lIns="0" rIns="0" tIns="0" bIns="0">
            <a:spAutoFit/>
          </a:bodyPr>
          <a:lstStyle/>
          <a:p>
            <a:pPr>
              <a:lnSpc>
                <a:spcPts val="1822"/>
              </a:lnSpc>
              <a:spcBef>
                <a:spcPts val="0"/>
              </a:spcBef>
              <a:spcAft>
                <a:spcPts val="0"/>
              </a:spcAft>
              <a:defRPr sz="1350" b="0">
                <a:solidFill>
                  <a:srgbClr val="173A42"/>
                </a:solidFill>
                <a:latin typeface="DejaVu Sans"/>
              </a:defRPr>
            </a:pPr>
            <a:r>
              <a:t>Validate before HTTP</a:t>
            </a:r>
          </a:p>
        </p:txBody>
      </p:sp>
      <p:sp>
        <p:nvSpPr>
          <p:cNvPr id="56" name="Rounded Rectangle 55"/>
          <p:cNvSpPr/>
          <p:nvPr/>
        </p:nvSpPr>
        <p:spPr>
          <a:xfrm>
            <a:off x="8864600" y="3749357"/>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093200" y="3673157"/>
            <a:ext cx="2235200" cy="1397000"/>
          </a:xfrm>
          <a:prstGeom prst="rect">
            <a:avLst/>
          </a:prstGeom>
          <a:noFill/>
        </p:spPr>
        <p:txBody>
          <a:bodyPr wrap="none" lIns="0" rIns="0" tIns="0" bIns="0">
            <a:spAutoFit/>
          </a:bodyPr>
          <a:lstStyle/>
          <a:p>
            <a:pPr>
              <a:lnSpc>
                <a:spcPts val="1822"/>
              </a:lnSpc>
              <a:spcBef>
                <a:spcPts val="0"/>
              </a:spcBef>
              <a:spcAft>
                <a:spcPts val="0"/>
              </a:spcAft>
              <a:defRPr sz="1350" b="0">
                <a:solidFill>
                  <a:srgbClr val="173A42"/>
                </a:solidFill>
                <a:latin typeface="DejaVu Sans"/>
              </a:defRPr>
            </a:pPr>
            <a:r>
              <a:t>One request at a time</a:t>
            </a:r>
          </a:p>
        </p:txBody>
      </p:sp>
      <p:sp>
        <p:nvSpPr>
          <p:cNvPr id="58" name="Rounded Rectangle 57"/>
          <p:cNvSpPr/>
          <p:nvPr/>
        </p:nvSpPr>
        <p:spPr>
          <a:xfrm>
            <a:off x="8864600" y="4060507"/>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093200" y="3984307"/>
            <a:ext cx="2235200" cy="1397000"/>
          </a:xfrm>
          <a:prstGeom prst="rect">
            <a:avLst/>
          </a:prstGeom>
          <a:noFill/>
        </p:spPr>
        <p:txBody>
          <a:bodyPr wrap="none" lIns="0" rIns="0" tIns="0" bIns="0">
            <a:spAutoFit/>
          </a:bodyPr>
          <a:lstStyle/>
          <a:p>
            <a:pPr>
              <a:lnSpc>
                <a:spcPts val="1822"/>
              </a:lnSpc>
              <a:spcBef>
                <a:spcPts val="0"/>
              </a:spcBef>
              <a:spcAft>
                <a:spcPts val="0"/>
              </a:spcAft>
              <a:defRPr sz="1350" b="0">
                <a:solidFill>
                  <a:srgbClr val="173A42"/>
                </a:solidFill>
                <a:latin typeface="DejaVu Sans"/>
              </a:defRPr>
            </a:pPr>
            <a:r>
              <a:t>Persist and reconcile</a:t>
            </a:r>
          </a:p>
          <a:p>
            <a:pPr>
              <a:lnSpc>
                <a:spcPts val="1822"/>
              </a:lnSpc>
              <a:spcBef>
                <a:spcPts val="0"/>
              </a:spcBef>
              <a:spcAft>
                <a:spcPts val="0"/>
              </a:spcAft>
              <a:defRPr sz="1350" b="0">
                <a:solidFill>
                  <a:srgbClr val="173A42"/>
                </a:solidFill>
                <a:latin typeface="DejaVu Sans"/>
              </a:defRPr>
            </a:pPr>
            <a:r>
              <a:t>state</a:t>
            </a:r>
          </a:p>
        </p:txBody>
      </p:sp>
      <p:sp>
        <p:nvSpPr>
          <p:cNvPr id="60" name="Rounded Rectangle 59"/>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A midnight crossing interrupts business actions for daily synchronization.</a:t>
            </a:r>
          </a:p>
        </p:txBody>
      </p:sp>
      <p:cxnSp>
        <p:nvCxnSpPr>
          <p:cNvPr id="62" name="Connector 61"/>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64" name="TextBox 63"/>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04 / HARNESS DESIGN</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Reliable execution protects your score.</a:t>
            </a:r>
          </a:p>
        </p:txBody>
      </p:sp>
      <p:sp>
        <p:nvSpPr>
          <p:cNvPr id="5" name="Rounded Rectangle 4"/>
          <p:cNvSpPr/>
          <p:nvPr/>
        </p:nvSpPr>
        <p:spPr>
          <a:xfrm>
            <a:off x="660400" y="2209800"/>
            <a:ext cx="5308600" cy="3352800"/>
          </a:xfrm>
          <a:prstGeom prst="roundRect">
            <a:avLst>
              <a:gd name="adj" fmla="val 378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60400" y="2209800"/>
            <a:ext cx="5308600" cy="50800"/>
          </a:xfrm>
          <a:prstGeom prst="rect">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9800" y="2489200"/>
            <a:ext cx="4749800" cy="4445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BEFORE AND DURING ACTIONS</a:t>
            </a:r>
          </a:p>
        </p:txBody>
      </p:sp>
      <p:sp>
        <p:nvSpPr>
          <p:cNvPr id="8" name="Rounded Rectangle 7"/>
          <p:cNvSpPr/>
          <p:nvPr/>
        </p:nvSpPr>
        <p:spPr>
          <a:xfrm>
            <a:off x="939800" y="30734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68400" y="29972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Validate IDs, quantities, prices, and stock</a:t>
            </a:r>
          </a:p>
        </p:txBody>
      </p:sp>
      <p:sp>
        <p:nvSpPr>
          <p:cNvPr id="10" name="Rounded Rectangle 9"/>
          <p:cNvSpPr/>
          <p:nvPr/>
        </p:nvSpPr>
        <p:spPr>
          <a:xfrm>
            <a:off x="939800" y="34290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68400" y="33528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Serialize requests; check each response</a:t>
            </a:r>
          </a:p>
        </p:txBody>
      </p:sp>
      <p:sp>
        <p:nvSpPr>
          <p:cNvPr id="12" name="Rounded Rectangle 11"/>
          <p:cNvSpPr/>
          <p:nvPr/>
        </p:nvSpPr>
        <p:spPr>
          <a:xfrm>
            <a:off x="939800" y="37846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68400" y="37084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Retry once with the same request key</a:t>
            </a:r>
          </a:p>
        </p:txBody>
      </p:sp>
      <p:sp>
        <p:nvSpPr>
          <p:cNvPr id="14" name="Rounded Rectangle 13"/>
          <p:cNvSpPr/>
          <p:nvPr/>
        </p:nvSpPr>
        <p:spPr>
          <a:xfrm>
            <a:off x="939800" y="4140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68400" y="40640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Check status and reconcile on resume</a:t>
            </a:r>
          </a:p>
        </p:txBody>
      </p:sp>
      <p:sp>
        <p:nvSpPr>
          <p:cNvPr id="16" name="Rounded Rectangle 15"/>
          <p:cNvSpPr/>
          <p:nvPr/>
        </p:nvSpPr>
        <p:spPr>
          <a:xfrm>
            <a:off x="6223000" y="2209800"/>
            <a:ext cx="5308600" cy="3352800"/>
          </a:xfrm>
          <a:prstGeom prst="roundRect">
            <a:avLst>
              <a:gd name="adj" fmla="val 378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23000" y="2209800"/>
            <a:ext cx="5308600" cy="50800"/>
          </a:xfrm>
          <a:prstGeom prst="rect">
            <a:avLst/>
          </a:prstGeom>
          <a:solidFill>
            <a:srgbClr val="5E8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02400" y="2489200"/>
            <a:ext cx="4749800" cy="444500"/>
          </a:xfrm>
          <a:prstGeom prst="rect">
            <a:avLst/>
          </a:prstGeom>
          <a:noFill/>
        </p:spPr>
        <p:txBody>
          <a:bodyPr wrap="none" lIns="0" rIns="0" tIns="0" bIns="0">
            <a:spAutoFit/>
          </a:bodyPr>
          <a:lstStyle/>
          <a:p>
            <a:pPr>
              <a:lnSpc>
                <a:spcPts val="1524"/>
              </a:lnSpc>
              <a:spcBef>
                <a:spcPts val="0"/>
              </a:spcBef>
              <a:spcAft>
                <a:spcPts val="0"/>
              </a:spcAft>
              <a:defRPr sz="1200" b="1">
                <a:solidFill>
                  <a:srgbClr val="557079"/>
                </a:solidFill>
                <a:latin typeface="DejaVu Sans"/>
              </a:defRPr>
            </a:pPr>
            <a:r>
              <a:t>WHEN THE EPISODE STOPS</a:t>
            </a:r>
          </a:p>
        </p:txBody>
      </p:sp>
      <p:sp>
        <p:nvSpPr>
          <p:cNvPr id="19" name="Rounded Rectangle 18"/>
          <p:cNvSpPr/>
          <p:nvPr/>
        </p:nvSpPr>
        <p:spPr>
          <a:xfrm>
            <a:off x="6502400" y="30734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31000" y="29972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Process terminal state from any response</a:t>
            </a:r>
          </a:p>
        </p:txBody>
      </p:sp>
      <p:sp>
        <p:nvSpPr>
          <p:cNvPr id="21" name="Rounded Rectangle 20"/>
          <p:cNvSpPr/>
          <p:nvPr/>
        </p:nvSpPr>
        <p:spPr>
          <a:xfrm>
            <a:off x="6502400" y="34290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31000" y="33528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Record GET /result before deletion</a:t>
            </a:r>
          </a:p>
        </p:txBody>
      </p:sp>
      <p:sp>
        <p:nvSpPr>
          <p:cNvPr id="23" name="Rounded Rectangle 22"/>
          <p:cNvSpPr/>
          <p:nvPr/>
        </p:nvSpPr>
        <p:spPr>
          <a:xfrm>
            <a:off x="6502400" y="37846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31000" y="37084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Preserve the Pi session and final result</a:t>
            </a:r>
          </a:p>
        </p:txBody>
      </p:sp>
      <p:sp>
        <p:nvSpPr>
          <p:cNvPr id="25" name="Rounded Rectangle 24"/>
          <p:cNvSpPr/>
          <p:nvPr/>
        </p:nvSpPr>
        <p:spPr>
          <a:xfrm>
            <a:off x="6502400" y="4140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31000" y="40640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Delete; never auto-create a replacement</a:t>
            </a:r>
          </a:p>
        </p:txBody>
      </p:sp>
      <p:sp>
        <p:nvSpPr>
          <p:cNvPr id="27" name="Rounded Rectangle 26"/>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Never retry an ambiguous purchase with a new Idempotency-Key.</a:t>
            </a:r>
          </a:p>
        </p:txBody>
      </p:sp>
      <p:cxnSp>
        <p:nvCxnSpPr>
          <p:cNvPr id="29" name="Connector 28"/>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31" name="TextBox 30"/>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04 / HARNESS DESIGN</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Know which limits are actually enforced.</a:t>
            </a:r>
          </a:p>
        </p:txBody>
      </p:sp>
      <p:sp>
        <p:nvSpPr>
          <p:cNvPr id="5" name="Rounded Rectangle 4"/>
          <p:cNvSpPr/>
          <p:nvPr/>
        </p:nvSpPr>
        <p:spPr>
          <a:xfrm>
            <a:off x="660400" y="2247900"/>
            <a:ext cx="3488266" cy="15875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6300" y="2451100"/>
            <a:ext cx="3056466" cy="622300"/>
          </a:xfrm>
          <a:prstGeom prst="rect">
            <a:avLst/>
          </a:prstGeom>
          <a:noFill/>
        </p:spPr>
        <p:txBody>
          <a:bodyPr wrap="none" lIns="0" rIns="0" tIns="0" bIns="0">
            <a:spAutoFit/>
          </a:bodyPr>
          <a:lstStyle/>
          <a:p>
            <a:pPr>
              <a:lnSpc>
                <a:spcPts val="4064"/>
              </a:lnSpc>
              <a:spcBef>
                <a:spcPts val="0"/>
              </a:spcBef>
              <a:spcAft>
                <a:spcPts val="0"/>
              </a:spcAft>
              <a:defRPr sz="3200" b="1">
                <a:solidFill>
                  <a:srgbClr val="008C7B"/>
                </a:solidFill>
                <a:latin typeface="DejaVu Sans"/>
              </a:defRPr>
            </a:pPr>
            <a:r>
              <a:t>3,600 s</a:t>
            </a:r>
          </a:p>
        </p:txBody>
      </p:sp>
      <p:sp>
        <p:nvSpPr>
          <p:cNvPr id="7" name="TextBox 6"/>
          <p:cNvSpPr txBox="1"/>
          <p:nvPr/>
        </p:nvSpPr>
        <p:spPr>
          <a:xfrm>
            <a:off x="876300" y="3187700"/>
            <a:ext cx="3056466" cy="546100"/>
          </a:xfrm>
          <a:prstGeom prst="rect">
            <a:avLst/>
          </a:prstGeom>
          <a:noFill/>
        </p:spPr>
        <p:txBody>
          <a:bodyPr wrap="none" lIns="0" rIns="0" tIns="0" bIns="0">
            <a:spAutoFit/>
          </a:bodyPr>
          <a:lstStyle/>
          <a:p>
            <a:pPr>
              <a:lnSpc>
                <a:spcPts val="1714"/>
              </a:lnSpc>
              <a:spcBef>
                <a:spcPts val="0"/>
              </a:spcBef>
              <a:spcAft>
                <a:spcPts val="0"/>
              </a:spcAft>
              <a:defRPr sz="1350" b="0">
                <a:solidFill>
                  <a:srgbClr val="557079"/>
                </a:solidFill>
                <a:latin typeface="DejaVu Sans"/>
              </a:defRPr>
            </a:pPr>
            <a:r>
              <a:t>Practice environment lifetime</a:t>
            </a:r>
          </a:p>
        </p:txBody>
      </p:sp>
      <p:sp>
        <p:nvSpPr>
          <p:cNvPr id="8" name="Rounded Rectangle 7"/>
          <p:cNvSpPr/>
          <p:nvPr/>
        </p:nvSpPr>
        <p:spPr>
          <a:xfrm>
            <a:off x="4351866" y="2247900"/>
            <a:ext cx="3488266" cy="15875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67766" y="2451100"/>
            <a:ext cx="3056466" cy="622300"/>
          </a:xfrm>
          <a:prstGeom prst="rect">
            <a:avLst/>
          </a:prstGeom>
          <a:noFill/>
        </p:spPr>
        <p:txBody>
          <a:bodyPr wrap="none" lIns="0" rIns="0" tIns="0" bIns="0">
            <a:spAutoFit/>
          </a:bodyPr>
          <a:lstStyle/>
          <a:p>
            <a:pPr>
              <a:lnSpc>
                <a:spcPts val="4064"/>
              </a:lnSpc>
              <a:spcBef>
                <a:spcPts val="0"/>
              </a:spcBef>
              <a:spcAft>
                <a:spcPts val="0"/>
              </a:spcAft>
              <a:defRPr sz="3200" b="1">
                <a:solidFill>
                  <a:srgbClr val="008C7B"/>
                </a:solidFill>
                <a:latin typeface="DejaVu Sans"/>
              </a:defRPr>
            </a:pPr>
            <a:r>
              <a:t>365 days</a:t>
            </a:r>
          </a:p>
        </p:txBody>
      </p:sp>
      <p:sp>
        <p:nvSpPr>
          <p:cNvPr id="10" name="TextBox 9"/>
          <p:cNvSpPr txBox="1"/>
          <p:nvPr/>
        </p:nvSpPr>
        <p:spPr>
          <a:xfrm>
            <a:off x="4567766" y="3187700"/>
            <a:ext cx="3056466" cy="546100"/>
          </a:xfrm>
          <a:prstGeom prst="rect">
            <a:avLst/>
          </a:prstGeom>
          <a:noFill/>
        </p:spPr>
        <p:txBody>
          <a:bodyPr wrap="none" lIns="0" rIns="0" tIns="0" bIns="0">
            <a:spAutoFit/>
          </a:bodyPr>
          <a:lstStyle/>
          <a:p>
            <a:pPr>
              <a:lnSpc>
                <a:spcPts val="1714"/>
              </a:lnSpc>
              <a:spcBef>
                <a:spcPts val="0"/>
              </a:spcBef>
              <a:spcAft>
                <a:spcPts val="0"/>
              </a:spcAft>
              <a:defRPr sz="1350" b="0">
                <a:solidFill>
                  <a:srgbClr val="557079"/>
                </a:solidFill>
                <a:latin typeface="DejaVu Sans"/>
              </a:defRPr>
            </a:pPr>
            <a:r>
              <a:t>Practice simulated-day cap</a:t>
            </a:r>
          </a:p>
        </p:txBody>
      </p:sp>
      <p:sp>
        <p:nvSpPr>
          <p:cNvPr id="11" name="Rounded Rectangle 10"/>
          <p:cNvSpPr/>
          <p:nvPr/>
        </p:nvSpPr>
        <p:spPr>
          <a:xfrm>
            <a:off x="8043333" y="2247900"/>
            <a:ext cx="3488266" cy="15875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59233" y="2451100"/>
            <a:ext cx="3056466" cy="622300"/>
          </a:xfrm>
          <a:prstGeom prst="rect">
            <a:avLst/>
          </a:prstGeom>
          <a:noFill/>
        </p:spPr>
        <p:txBody>
          <a:bodyPr wrap="none" lIns="0" rIns="0" tIns="0" bIns="0">
            <a:spAutoFit/>
          </a:bodyPr>
          <a:lstStyle/>
          <a:p>
            <a:pPr>
              <a:lnSpc>
                <a:spcPts val="4064"/>
              </a:lnSpc>
              <a:spcBef>
                <a:spcPts val="0"/>
              </a:spcBef>
              <a:spcAft>
                <a:spcPts val="0"/>
              </a:spcAft>
              <a:defRPr sz="3200" b="1">
                <a:solidFill>
                  <a:srgbClr val="008C7B"/>
                </a:solidFill>
                <a:latin typeface="DejaVu Sans"/>
              </a:defRPr>
            </a:pPr>
            <a:r>
              <a:t>Not set</a:t>
            </a:r>
          </a:p>
        </p:txBody>
      </p:sp>
      <p:sp>
        <p:nvSpPr>
          <p:cNvPr id="13" name="TextBox 12"/>
          <p:cNvSpPr txBox="1"/>
          <p:nvPr/>
        </p:nvSpPr>
        <p:spPr>
          <a:xfrm>
            <a:off x="8259233" y="3187700"/>
            <a:ext cx="3056466" cy="546100"/>
          </a:xfrm>
          <a:prstGeom prst="rect">
            <a:avLst/>
          </a:prstGeom>
          <a:noFill/>
        </p:spPr>
        <p:txBody>
          <a:bodyPr wrap="none" lIns="0" rIns="0" tIns="0" bIns="0">
            <a:spAutoFit/>
          </a:bodyPr>
          <a:lstStyle/>
          <a:p>
            <a:pPr>
              <a:lnSpc>
                <a:spcPts val="1714"/>
              </a:lnSpc>
              <a:spcBef>
                <a:spcPts val="0"/>
              </a:spcBef>
              <a:spcAft>
                <a:spcPts val="0"/>
              </a:spcAft>
              <a:defRPr sz="1350" b="0">
                <a:solidFill>
                  <a:srgbClr val="557079"/>
                </a:solidFill>
                <a:latin typeface="DejaVu Sans"/>
              </a:defRPr>
            </a:pPr>
            <a:r>
              <a:t>Pi total token / call budget</a:t>
            </a:r>
          </a:p>
        </p:txBody>
      </p:sp>
      <p:sp>
        <p:nvSpPr>
          <p:cNvPr id="14" name="Rounded Rectangle 13"/>
          <p:cNvSpPr/>
          <p:nvPr/>
        </p:nvSpPr>
        <p:spPr>
          <a:xfrm>
            <a:off x="736600" y="42037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5200" y="4127500"/>
            <a:ext cx="10464800" cy="1397000"/>
          </a:xfrm>
          <a:prstGeom prst="rect">
            <a:avLst/>
          </a:prstGeom>
          <a:noFill/>
        </p:spPr>
        <p:txBody>
          <a:bodyPr wrap="none" lIns="0" rIns="0" tIns="0" bIns="0">
            <a:spAutoFit/>
          </a:bodyPr>
          <a:lstStyle/>
          <a:p>
            <a:pPr>
              <a:lnSpc>
                <a:spcPts val="2295"/>
              </a:lnSpc>
              <a:spcBef>
                <a:spcPts val="0"/>
              </a:spcBef>
              <a:spcAft>
                <a:spcPts val="0"/>
              </a:spcAft>
              <a:defRPr sz="1700" b="0">
                <a:solidFill>
                  <a:srgbClr val="173A42"/>
                </a:solidFill>
                <a:latin typeface="DejaVu Sans"/>
              </a:defRPr>
            </a:pPr>
            <a:r>
              <a:t>Model usage is recorded, but no total token budget is enforced.</a:t>
            </a:r>
          </a:p>
        </p:txBody>
      </p:sp>
      <p:sp>
        <p:nvSpPr>
          <p:cNvPr id="16" name="Rounded Rectangle 15"/>
          <p:cNvSpPr/>
          <p:nvPr/>
        </p:nvSpPr>
        <p:spPr>
          <a:xfrm>
            <a:off x="736600" y="4648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5200" y="4572000"/>
            <a:ext cx="10464800" cy="1397000"/>
          </a:xfrm>
          <a:prstGeom prst="rect">
            <a:avLst/>
          </a:prstGeom>
          <a:noFill/>
        </p:spPr>
        <p:txBody>
          <a:bodyPr wrap="none" lIns="0" rIns="0" tIns="0" bIns="0">
            <a:spAutoFit/>
          </a:bodyPr>
          <a:lstStyle/>
          <a:p>
            <a:pPr>
              <a:lnSpc>
                <a:spcPts val="2295"/>
              </a:lnSpc>
              <a:spcBef>
                <a:spcPts val="0"/>
              </a:spcBef>
              <a:spcAft>
                <a:spcPts val="0"/>
              </a:spcAft>
              <a:defRPr sz="1700" b="0">
                <a:solidFill>
                  <a:srgbClr val="173A42"/>
                </a:solidFill>
                <a:latin typeface="DejaVu Sans"/>
              </a:defRPr>
            </a:pPr>
            <a:r>
              <a:t>Context, tool schemas, and responses consume model tokens.</a:t>
            </a:r>
          </a:p>
        </p:txBody>
      </p:sp>
      <p:sp>
        <p:nvSpPr>
          <p:cNvPr id="18" name="Rounded Rectangle 17"/>
          <p:cNvSpPr/>
          <p:nvPr/>
        </p:nvSpPr>
        <p:spPr>
          <a:xfrm>
            <a:off x="736600" y="50927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5200" y="5016500"/>
            <a:ext cx="10464800" cy="1397000"/>
          </a:xfrm>
          <a:prstGeom prst="rect">
            <a:avLst/>
          </a:prstGeom>
          <a:noFill/>
        </p:spPr>
        <p:txBody>
          <a:bodyPr wrap="none" lIns="0" rIns="0" tIns="0" bIns="0">
            <a:spAutoFit/>
          </a:bodyPr>
          <a:lstStyle/>
          <a:p>
            <a:pPr>
              <a:lnSpc>
                <a:spcPts val="2295"/>
              </a:lnSpc>
              <a:spcBef>
                <a:spcPts val="0"/>
              </a:spcBef>
              <a:spcAft>
                <a:spcPts val="0"/>
              </a:spcAft>
              <a:defRPr sz="1700" b="0">
                <a:solidFill>
                  <a:srgbClr val="173A42"/>
                </a:solidFill>
                <a:latin typeface="DejaVu Sans"/>
              </a:defRPr>
            </a:pPr>
            <a:r>
              <a:t>Official model and compute allowances remain organizer decisions.</a:t>
            </a:r>
          </a:p>
        </p:txBody>
      </p:sp>
      <p:sp>
        <p:nvSpPr>
          <p:cNvPr id="20" name="Rounded Rectangle 19"/>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Configured service limits and participant compute policies are separate.</a:t>
            </a:r>
          </a:p>
        </p:txBody>
      </p:sp>
      <p:cxnSp>
        <p:nvCxnSpPr>
          <p:cNvPr id="22" name="Connector 21"/>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24" name="TextBox 23"/>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05 / DEVELOPMENT AND REVIEW</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Distinguish recorded usage from attribution.</a:t>
            </a:r>
          </a:p>
        </p:txBody>
      </p:sp>
      <p:sp>
        <p:nvSpPr>
          <p:cNvPr id="5" name="Rounded Rectangle 4"/>
          <p:cNvSpPr/>
          <p:nvPr/>
        </p:nvSpPr>
        <p:spPr>
          <a:xfrm>
            <a:off x="660400" y="2120900"/>
            <a:ext cx="10871200" cy="431800"/>
          </a:xfrm>
          <a:prstGeom prst="roundRect">
            <a:avLst>
              <a:gd name="adj" fmla="val 14705"/>
            </a:avLst>
          </a:prstGeom>
          <a:solidFill>
            <a:srgbClr val="173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500" y="2247900"/>
            <a:ext cx="21590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VIEW</a:t>
            </a:r>
          </a:p>
        </p:txBody>
      </p:sp>
      <p:sp>
        <p:nvSpPr>
          <p:cNvPr id="7" name="TextBox 6"/>
          <p:cNvSpPr txBox="1"/>
          <p:nvPr/>
        </p:nvSpPr>
        <p:spPr>
          <a:xfrm>
            <a:off x="3302000" y="2247900"/>
            <a:ext cx="37465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WHAT IS RECORDED</a:t>
            </a:r>
          </a:p>
        </p:txBody>
      </p:sp>
      <p:sp>
        <p:nvSpPr>
          <p:cNvPr id="8" name="TextBox 7"/>
          <p:cNvSpPr txBox="1"/>
          <p:nvPr/>
        </p:nvSpPr>
        <p:spPr>
          <a:xfrm>
            <a:off x="7366000" y="2247900"/>
            <a:ext cx="40132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HOW TO INTERPRET IT</a:t>
            </a:r>
          </a:p>
        </p:txBody>
      </p:sp>
      <p:sp>
        <p:nvSpPr>
          <p:cNvPr id="9" name="Rectangle 8"/>
          <p:cNvSpPr/>
          <p:nvPr/>
        </p:nvSpPr>
        <p:spPr>
          <a:xfrm>
            <a:off x="660400" y="2552700"/>
            <a:ext cx="10871200" cy="61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5500" y="2705100"/>
            <a:ext cx="2159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Pi session</a:t>
            </a:r>
          </a:p>
        </p:txBody>
      </p:sp>
      <p:sp>
        <p:nvSpPr>
          <p:cNvPr id="11" name="TextBox 10"/>
          <p:cNvSpPr txBox="1"/>
          <p:nvPr/>
        </p:nvSpPr>
        <p:spPr>
          <a:xfrm>
            <a:off x="3302000" y="2705100"/>
            <a:ext cx="3746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Raw provider usage</a:t>
            </a:r>
          </a:p>
        </p:txBody>
      </p:sp>
      <p:sp>
        <p:nvSpPr>
          <p:cNvPr id="12" name="TextBox 11"/>
          <p:cNvSpPr txBox="1"/>
          <p:nvPr/>
        </p:nvSpPr>
        <p:spPr>
          <a:xfrm>
            <a:off x="7366000" y="2705100"/>
            <a:ext cx="4013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Inspect model messages</a:t>
            </a:r>
          </a:p>
        </p:txBody>
      </p:sp>
      <p:sp>
        <p:nvSpPr>
          <p:cNvPr id="13" name="Rectangle 12"/>
          <p:cNvSpPr/>
          <p:nvPr/>
        </p:nvSpPr>
        <p:spPr>
          <a:xfrm>
            <a:off x="660400" y="3167380"/>
            <a:ext cx="10871200" cy="614680"/>
          </a:xfrm>
          <a:prstGeom prst="rect">
            <a:avLst/>
          </a:prstGeom>
          <a:solidFill>
            <a:srgbClr val="ED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500" y="3319779"/>
            <a:ext cx="2159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Viewer totals</a:t>
            </a:r>
          </a:p>
        </p:txBody>
      </p:sp>
      <p:sp>
        <p:nvSpPr>
          <p:cNvPr id="15" name="TextBox 14"/>
          <p:cNvSpPr txBox="1"/>
          <p:nvPr/>
        </p:nvSpPr>
        <p:spPr>
          <a:xfrm>
            <a:off x="3302000" y="3319779"/>
            <a:ext cx="3746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Input / output tokens; calls</a:t>
            </a:r>
          </a:p>
        </p:txBody>
      </p:sp>
      <p:sp>
        <p:nvSpPr>
          <p:cNvPr id="16" name="TextBox 15"/>
          <p:cNvSpPr txBox="1"/>
          <p:nvPr/>
        </p:nvSpPr>
        <p:spPr>
          <a:xfrm>
            <a:off x="7366000" y="3319779"/>
            <a:ext cx="4013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Compare usage with progress</a:t>
            </a:r>
          </a:p>
        </p:txBody>
      </p:sp>
      <p:sp>
        <p:nvSpPr>
          <p:cNvPr id="17" name="Rectangle 16"/>
          <p:cNvSpPr/>
          <p:nvPr/>
        </p:nvSpPr>
        <p:spPr>
          <a:xfrm>
            <a:off x="660400" y="3782060"/>
            <a:ext cx="10871200" cy="61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500" y="3934460"/>
            <a:ext cx="2159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Per action</a:t>
            </a:r>
          </a:p>
        </p:txBody>
      </p:sp>
      <p:sp>
        <p:nvSpPr>
          <p:cNvPr id="19" name="TextBox 18"/>
          <p:cNvSpPr txBox="1"/>
          <p:nvPr/>
        </p:nvSpPr>
        <p:spPr>
          <a:xfrm>
            <a:off x="3302000" y="3934460"/>
            <a:ext cx="3746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Unavailable for Pi traces</a:t>
            </a:r>
          </a:p>
        </p:txBody>
      </p:sp>
      <p:sp>
        <p:nvSpPr>
          <p:cNvPr id="20" name="TextBox 19"/>
          <p:cNvSpPr txBox="1"/>
          <p:nvPr/>
        </p:nvSpPr>
        <p:spPr>
          <a:xfrm>
            <a:off x="7366000" y="3934460"/>
            <a:ext cx="4013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Do not interpret as zero</a:t>
            </a:r>
          </a:p>
        </p:txBody>
      </p:sp>
      <p:sp>
        <p:nvSpPr>
          <p:cNvPr id="21" name="Rectangle 20"/>
          <p:cNvSpPr/>
          <p:nvPr/>
        </p:nvSpPr>
        <p:spPr>
          <a:xfrm>
            <a:off x="660400" y="4396740"/>
            <a:ext cx="10871200" cy="614680"/>
          </a:xfrm>
          <a:prstGeom prst="rect">
            <a:avLst/>
          </a:prstGeom>
          <a:solidFill>
            <a:srgbClr val="ED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00" y="4549140"/>
            <a:ext cx="2159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Per simulated day</a:t>
            </a:r>
          </a:p>
        </p:txBody>
      </p:sp>
      <p:sp>
        <p:nvSpPr>
          <p:cNvPr id="23" name="TextBox 22"/>
          <p:cNvSpPr txBox="1"/>
          <p:nvPr/>
        </p:nvSpPr>
        <p:spPr>
          <a:xfrm>
            <a:off x="3302000" y="4549140"/>
            <a:ext cx="3746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Unavailable for Pi traces</a:t>
            </a:r>
          </a:p>
        </p:txBody>
      </p:sp>
      <p:sp>
        <p:nvSpPr>
          <p:cNvPr id="24" name="TextBox 23"/>
          <p:cNvSpPr txBox="1"/>
          <p:nvPr/>
        </p:nvSpPr>
        <p:spPr>
          <a:xfrm>
            <a:off x="7366000" y="4549140"/>
            <a:ext cx="4013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Requires decision-time attribution</a:t>
            </a:r>
          </a:p>
        </p:txBody>
      </p:sp>
      <p:sp>
        <p:nvSpPr>
          <p:cNvPr id="25" name="Rectangle 24"/>
          <p:cNvSpPr/>
          <p:nvPr/>
        </p:nvSpPr>
        <p:spPr>
          <a:xfrm>
            <a:off x="660400" y="5011420"/>
            <a:ext cx="10871200" cy="61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00" y="5163820"/>
            <a:ext cx="21590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Controller state</a:t>
            </a:r>
          </a:p>
        </p:txBody>
      </p:sp>
      <p:sp>
        <p:nvSpPr>
          <p:cNvPr id="27" name="TextBox 26"/>
          <p:cNvSpPr txBox="1"/>
          <p:nvPr/>
        </p:nvSpPr>
        <p:spPr>
          <a:xfrm>
            <a:off x="3302000" y="5163820"/>
            <a:ext cx="3746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Persistent session checkpoints</a:t>
            </a:r>
          </a:p>
        </p:txBody>
      </p:sp>
      <p:sp>
        <p:nvSpPr>
          <p:cNvPr id="28" name="TextBox 27"/>
          <p:cNvSpPr txBox="1"/>
          <p:nvPr/>
        </p:nvSpPr>
        <p:spPr>
          <a:xfrm>
            <a:off x="7366000" y="5163820"/>
            <a:ext cx="40132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Recovery data, not token usage</a:t>
            </a:r>
          </a:p>
        </p:txBody>
      </p:sp>
      <p:sp>
        <p:nvSpPr>
          <p:cNvPr id="29" name="Rounded Rectangle 28"/>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Legacy run formats can carry finer attribution; current Pi traces do not.</a:t>
            </a:r>
          </a:p>
        </p:txBody>
      </p:sp>
      <p:cxnSp>
        <p:nvCxnSpPr>
          <p:cNvPr id="31" name="Connector 30"/>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33" name="TextBox 32"/>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05 / DEVELOPMENT AND REVIEW</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Start with one complete practice episode.</a:t>
            </a:r>
          </a:p>
        </p:txBody>
      </p:sp>
      <p:sp>
        <p:nvSpPr>
          <p:cNvPr id="5" name="Rounded Rectangle 4"/>
          <p:cNvSpPr/>
          <p:nvPr/>
        </p:nvSpPr>
        <p:spPr>
          <a:xfrm>
            <a:off x="660400" y="2209800"/>
            <a:ext cx="7302500" cy="3327400"/>
          </a:xfrm>
          <a:prstGeom prst="roundRect">
            <a:avLst>
              <a:gd name="adj" fmla="val 3816"/>
            </a:avLst>
          </a:prstGeom>
          <a:solidFill>
            <a:srgbClr val="173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9000" y="2413000"/>
            <a:ext cx="67564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CAEFA1"/>
                </a:solidFill>
                <a:latin typeface="DejaVu Sans"/>
              </a:defRPr>
            </a:pPr>
            <a:r>
              <a:t>LOCAL PRACTICE</a:t>
            </a:r>
          </a:p>
        </p:txBody>
      </p:sp>
      <p:sp>
        <p:nvSpPr>
          <p:cNvPr id="7" name="TextBox 6"/>
          <p:cNvSpPr txBox="1"/>
          <p:nvPr/>
        </p:nvSpPr>
        <p:spPr>
          <a:xfrm>
            <a:off x="889000" y="2857500"/>
            <a:ext cx="6819900" cy="2590800"/>
          </a:xfrm>
          <a:prstGeom prst="rect">
            <a:avLst/>
          </a:prstGeom>
          <a:noFill/>
        </p:spPr>
        <p:txBody>
          <a:bodyPr wrap="none" lIns="0" rIns="0" tIns="0" bIns="0">
            <a:spAutoFit/>
          </a:bodyPr>
          <a:lstStyle/>
          <a:p>
            <a:pPr>
              <a:lnSpc>
                <a:spcPts val="2142"/>
              </a:lnSpc>
              <a:spcBef>
                <a:spcPts val="0"/>
              </a:spcBef>
              <a:spcAft>
                <a:spcPts val="0"/>
              </a:spcAft>
              <a:defRPr sz="1400" b="0">
                <a:solidFill>
                  <a:srgbClr val="FFFFFF"/>
                </a:solidFill>
                <a:latin typeface="DejaVu Sans Mono"/>
              </a:defRPr>
            </a:pPr>
            <a:r>
              <a:t># One-time setup</a:t>
            </a:r>
          </a:p>
          <a:p>
            <a:pPr>
              <a:lnSpc>
                <a:spcPts val="2142"/>
              </a:lnSpc>
              <a:spcBef>
                <a:spcPts val="0"/>
              </a:spcBef>
              <a:spcAft>
                <a:spcPts val="0"/>
              </a:spcAft>
              <a:defRPr sz="1400" b="0">
                <a:solidFill>
                  <a:srgbClr val="FFFFFF"/>
                </a:solidFill>
                <a:latin typeface="DejaVu Sans Mono"/>
              </a:defRPr>
            </a:pPr>
            <a:r>
              <a:t>./scripts/install_pi.sh</a:t>
            </a:r>
          </a:p>
          <a:p>
            <a:pPr>
              <a:lnSpc>
                <a:spcPts val="2142"/>
              </a:lnSpc>
              <a:spcBef>
                <a:spcPts val="0"/>
              </a:spcBef>
              <a:spcAft>
                <a:spcPts val="0"/>
              </a:spcAft>
              <a:defRPr sz="1400" b="0">
                <a:solidFill>
                  <a:srgbClr val="FFFFFF"/>
                </a:solidFill>
                <a:latin typeface="DejaVu Sans Mono"/>
              </a:defRPr>
            </a:pPr>
            <a:r>
              <a:t># Run each command in a separate terminal:</a:t>
            </a:r>
          </a:p>
          <a:p>
            <a:pPr>
              <a:lnSpc>
                <a:spcPts val="2142"/>
              </a:lnSpc>
              <a:spcBef>
                <a:spcPts val="0"/>
              </a:spcBef>
              <a:spcAft>
                <a:spcPts val="0"/>
              </a:spcAft>
              <a:defRPr sz="1400" b="0">
                <a:solidFill>
                  <a:srgbClr val="FFFFFF"/>
                </a:solidFill>
                <a:latin typeface="DejaVu Sans Mono"/>
              </a:defRPr>
            </a:pPr>
            <a:r>
              <a:t>bash start_env.sh configs/environment.json</a:t>
            </a:r>
          </a:p>
          <a:p>
            <a:pPr>
              <a:lnSpc>
                <a:spcPts val="2142"/>
              </a:lnSpc>
              <a:spcBef>
                <a:spcPts val="0"/>
              </a:spcBef>
              <a:spcAft>
                <a:spcPts val="0"/>
              </a:spcAft>
              <a:defRPr sz="1400" b="0">
                <a:solidFill>
                  <a:srgbClr val="FFFFFF"/>
                </a:solidFill>
                <a:latin typeface="DejaVu Sans Mono"/>
              </a:defRPr>
            </a:pPr>
            <a:r>
              <a:t>./scripts/serve_qwen_vllm.sh</a:t>
            </a:r>
          </a:p>
          <a:p>
            <a:pPr>
              <a:lnSpc>
                <a:spcPts val="2142"/>
              </a:lnSpc>
              <a:spcBef>
                <a:spcPts val="0"/>
              </a:spcBef>
              <a:spcAft>
                <a:spcPts val="0"/>
              </a:spcAft>
              <a:defRPr sz="1400" b="0">
                <a:solidFill>
                  <a:srgbClr val="FFFFFF"/>
                </a:solidFill>
                <a:latin typeface="DejaVu Sans Mono"/>
              </a:defRPr>
            </a:pPr>
            <a:r>
              <a:t>./scripts/run_pi_agent.sh</a:t>
            </a:r>
          </a:p>
          <a:p>
            <a:pPr>
              <a:lnSpc>
                <a:spcPts val="2142"/>
              </a:lnSpc>
              <a:spcBef>
                <a:spcPts val="0"/>
              </a:spcBef>
              <a:spcAft>
                <a:spcPts val="0"/>
              </a:spcAft>
              <a:defRPr sz="1400" b="0">
                <a:solidFill>
                  <a:srgbClr val="FFFFFF"/>
                </a:solidFill>
                <a:latin typeface="DejaVu Sans Mono"/>
              </a:defRPr>
            </a:pPr>
            <a:r>
              <a:t>./scripts/view_runs.sh</a:t>
            </a:r>
          </a:p>
        </p:txBody>
      </p:sp>
      <p:sp>
        <p:nvSpPr>
          <p:cNvPr id="8" name="Rounded Rectangle 7"/>
          <p:cNvSpPr/>
          <p:nvPr/>
        </p:nvSpPr>
        <p:spPr>
          <a:xfrm>
            <a:off x="8293100" y="24130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21700" y="2336800"/>
            <a:ext cx="3009900" cy="1397000"/>
          </a:xfrm>
          <a:prstGeom prst="rect">
            <a:avLst/>
          </a:prstGeom>
          <a:noFill/>
        </p:spPr>
        <p:txBody>
          <a:bodyPr wrap="none" lIns="0" rIns="0" tIns="0" bIns="0">
            <a:spAutoFit/>
          </a:bodyPr>
          <a:lstStyle/>
          <a:p>
            <a:pPr>
              <a:lnSpc>
                <a:spcPts val="2092"/>
              </a:lnSpc>
              <a:spcBef>
                <a:spcPts val="0"/>
              </a:spcBef>
              <a:spcAft>
                <a:spcPts val="0"/>
              </a:spcAft>
              <a:defRPr sz="1550" b="0">
                <a:solidFill>
                  <a:srgbClr val="173A42"/>
                </a:solidFill>
                <a:latin typeface="DejaVu Sans"/>
              </a:defRPr>
            </a:pPr>
            <a:r>
              <a:t>Start from the repository root.</a:t>
            </a:r>
          </a:p>
        </p:txBody>
      </p:sp>
      <p:sp>
        <p:nvSpPr>
          <p:cNvPr id="10" name="Rounded Rectangle 9"/>
          <p:cNvSpPr/>
          <p:nvPr/>
        </p:nvSpPr>
        <p:spPr>
          <a:xfrm>
            <a:off x="8293100" y="283845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21700" y="2762250"/>
            <a:ext cx="3009900" cy="1397000"/>
          </a:xfrm>
          <a:prstGeom prst="rect">
            <a:avLst/>
          </a:prstGeom>
          <a:noFill/>
        </p:spPr>
        <p:txBody>
          <a:bodyPr wrap="none" lIns="0" rIns="0" tIns="0" bIns="0">
            <a:spAutoFit/>
          </a:bodyPr>
          <a:lstStyle/>
          <a:p>
            <a:pPr>
              <a:lnSpc>
                <a:spcPts val="2092"/>
              </a:lnSpc>
              <a:spcBef>
                <a:spcPts val="0"/>
              </a:spcBef>
              <a:spcAft>
                <a:spcPts val="0"/>
              </a:spcAft>
              <a:defRPr sz="1550" b="0">
                <a:solidFill>
                  <a:srgbClr val="173A42"/>
                </a:solidFill>
                <a:latin typeface="DejaVu Sans"/>
              </a:defRPr>
            </a:pPr>
            <a:r>
              <a:t>The local model server needs</a:t>
            </a:r>
          </a:p>
          <a:p>
            <a:pPr>
              <a:lnSpc>
                <a:spcPts val="2092"/>
              </a:lnSpc>
              <a:spcBef>
                <a:spcPts val="0"/>
              </a:spcBef>
              <a:spcAft>
                <a:spcPts val="0"/>
              </a:spcAft>
              <a:defRPr sz="1550" b="0">
                <a:solidFill>
                  <a:srgbClr val="173A42"/>
                </a:solidFill>
                <a:latin typeface="DejaVu Sans"/>
              </a:defRPr>
            </a:pPr>
            <a:r>
              <a:t>installed weights and suitable</a:t>
            </a:r>
          </a:p>
          <a:p>
            <a:pPr>
              <a:lnSpc>
                <a:spcPts val="2092"/>
              </a:lnSpc>
              <a:spcBef>
                <a:spcPts val="0"/>
              </a:spcBef>
              <a:spcAft>
                <a:spcPts val="0"/>
              </a:spcAft>
              <a:defRPr sz="1550" b="0">
                <a:solidFill>
                  <a:srgbClr val="173A42"/>
                </a:solidFill>
                <a:latin typeface="DejaVu Sans"/>
              </a:defRPr>
            </a:pPr>
            <a:r>
              <a:t>hardware.</a:t>
            </a:r>
          </a:p>
        </p:txBody>
      </p:sp>
      <p:sp>
        <p:nvSpPr>
          <p:cNvPr id="12" name="Rounded Rectangle 11"/>
          <p:cNvSpPr/>
          <p:nvPr/>
        </p:nvSpPr>
        <p:spPr>
          <a:xfrm>
            <a:off x="8293100" y="3795395"/>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21700" y="3719195"/>
            <a:ext cx="3009900" cy="1397000"/>
          </a:xfrm>
          <a:prstGeom prst="rect">
            <a:avLst/>
          </a:prstGeom>
          <a:noFill/>
        </p:spPr>
        <p:txBody>
          <a:bodyPr wrap="none" lIns="0" rIns="0" tIns="0" bIns="0">
            <a:spAutoFit/>
          </a:bodyPr>
          <a:lstStyle/>
          <a:p>
            <a:pPr>
              <a:lnSpc>
                <a:spcPts val="2092"/>
              </a:lnSpc>
              <a:spcBef>
                <a:spcPts val="0"/>
              </a:spcBef>
              <a:spcAft>
                <a:spcPts val="0"/>
              </a:spcAft>
              <a:defRPr sz="1550" b="0">
                <a:solidFill>
                  <a:srgbClr val="173A42"/>
                </a:solidFill>
                <a:latin typeface="DejaVu Sans"/>
              </a:defRPr>
            </a:pPr>
            <a:r>
              <a:t>Open localhost:8080 to</a:t>
            </a:r>
          </a:p>
          <a:p>
            <a:pPr>
              <a:lnSpc>
                <a:spcPts val="2092"/>
              </a:lnSpc>
              <a:spcBef>
                <a:spcPts val="0"/>
              </a:spcBef>
              <a:spcAft>
                <a:spcPts val="0"/>
              </a:spcAft>
              <a:defRPr sz="1550" b="0">
                <a:solidFill>
                  <a:srgbClr val="173A42"/>
                </a:solidFill>
                <a:latin typeface="DejaVu Sans"/>
              </a:defRPr>
            </a:pPr>
            <a:r>
              <a:t>inspect the trace.</a:t>
            </a:r>
          </a:p>
        </p:txBody>
      </p:sp>
      <p:sp>
        <p:nvSpPr>
          <p:cNvPr id="14" name="Rounded Rectangle 13"/>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Practice scripts are not the private test-access or submission interface.</a:t>
            </a:r>
          </a:p>
        </p:txBody>
      </p:sp>
      <p:cxnSp>
        <p:nvCxnSpPr>
          <p:cNvPr id="16" name="Connector 15"/>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18" name="TextBox 17"/>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05 / DEVELOPMENT AND REVIEW</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Review the run, then improve one decision.</a:t>
            </a:r>
          </a:p>
        </p:txBody>
      </p:sp>
      <p:sp>
        <p:nvSpPr>
          <p:cNvPr id="5" name="Rounded Rectangle 4"/>
          <p:cNvSpPr/>
          <p:nvPr/>
        </p:nvSpPr>
        <p:spPr>
          <a:xfrm>
            <a:off x="660400" y="2082800"/>
            <a:ext cx="10871200" cy="533400"/>
          </a:xfrm>
          <a:prstGeom prst="roundRect">
            <a:avLst>
              <a:gd name="adj" fmla="val 15000"/>
            </a:avLst>
          </a:prstGeom>
          <a:solidFill>
            <a:srgbClr val="173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1700" y="2260600"/>
            <a:ext cx="3302000" cy="228600"/>
          </a:xfrm>
          <a:prstGeom prst="rect">
            <a:avLst/>
          </a:prstGeom>
          <a:noFill/>
        </p:spPr>
        <p:txBody>
          <a:bodyPr wrap="none" lIns="0" rIns="0" tIns="0" bIns="0">
            <a:spAutoFit/>
          </a:bodyPr>
          <a:lstStyle/>
          <a:p>
            <a:pPr>
              <a:lnSpc>
                <a:spcPts val="1397"/>
              </a:lnSpc>
              <a:spcBef>
                <a:spcPts val="0"/>
              </a:spcBef>
              <a:spcAft>
                <a:spcPts val="0"/>
              </a:spcAft>
              <a:defRPr sz="1100" b="1">
                <a:solidFill>
                  <a:srgbClr val="CAEFA1"/>
                </a:solidFill>
                <a:latin typeface="DejaVu Sans"/>
              </a:defRPr>
            </a:pPr>
            <a:r>
              <a:t>RUN EXPLORER</a:t>
            </a:r>
          </a:p>
        </p:txBody>
      </p:sp>
      <p:sp>
        <p:nvSpPr>
          <p:cNvPr id="7" name="TextBox 6"/>
          <p:cNvSpPr txBox="1"/>
          <p:nvPr/>
        </p:nvSpPr>
        <p:spPr>
          <a:xfrm>
            <a:off x="8369300" y="2247900"/>
            <a:ext cx="2857500" cy="292100"/>
          </a:xfrm>
          <a:prstGeom prst="rect">
            <a:avLst/>
          </a:prstGeom>
          <a:noFill/>
        </p:spPr>
        <p:txBody>
          <a:bodyPr wrap="none" lIns="0" rIns="0" tIns="0" bIns="0">
            <a:spAutoFit/>
          </a:bodyPr>
          <a:lstStyle/>
          <a:p>
            <a:pPr>
              <a:lnSpc>
                <a:spcPts val="1524"/>
              </a:lnSpc>
              <a:spcBef>
                <a:spcPts val="0"/>
              </a:spcBef>
              <a:spcAft>
                <a:spcPts val="0"/>
              </a:spcAft>
              <a:defRPr sz="1200" b="0">
                <a:solidFill>
                  <a:srgbClr val="FFFFFF"/>
                </a:solidFill>
                <a:latin typeface="DejaVu Sans Mono"/>
              </a:defRPr>
            </a:pPr>
            <a:r>
              <a:t>http://localhost:8080</a:t>
            </a:r>
          </a:p>
        </p:txBody>
      </p:sp>
      <p:sp>
        <p:nvSpPr>
          <p:cNvPr id="8" name="Rounded Rectangle 7"/>
          <p:cNvSpPr/>
          <p:nvPr/>
        </p:nvSpPr>
        <p:spPr>
          <a:xfrm>
            <a:off x="660400" y="2819400"/>
            <a:ext cx="5308600" cy="2730500"/>
          </a:xfrm>
          <a:prstGeom prst="roundRect">
            <a:avLst>
              <a:gd name="adj" fmla="val 4651"/>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0400" y="2819400"/>
            <a:ext cx="5308600" cy="50800"/>
          </a:xfrm>
          <a:prstGeom prst="rect">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800" y="3098800"/>
            <a:ext cx="4749800" cy="444500"/>
          </a:xfrm>
          <a:prstGeom prst="rect">
            <a:avLst/>
          </a:prstGeom>
          <a:noFill/>
        </p:spPr>
        <p:txBody>
          <a:bodyPr wrap="none" lIns="0" rIns="0" tIns="0" bIns="0">
            <a:spAutoFit/>
          </a:bodyPr>
          <a:lstStyle/>
          <a:p>
            <a:pPr>
              <a:lnSpc>
                <a:spcPts val="1524"/>
              </a:lnSpc>
              <a:spcBef>
                <a:spcPts val="0"/>
              </a:spcBef>
              <a:spcAft>
                <a:spcPts val="0"/>
              </a:spcAft>
              <a:defRPr sz="1200" b="1">
                <a:solidFill>
                  <a:srgbClr val="008C7B"/>
                </a:solidFill>
                <a:latin typeface="DejaVu Sans"/>
              </a:defRPr>
            </a:pPr>
            <a:r>
              <a:t>BUSINESS PERFORMANCE</a:t>
            </a:r>
          </a:p>
        </p:txBody>
      </p:sp>
      <p:sp>
        <p:nvSpPr>
          <p:cNvPr id="11" name="Rounded Rectangle 10"/>
          <p:cNvSpPr/>
          <p:nvPr/>
        </p:nvSpPr>
        <p:spPr>
          <a:xfrm>
            <a:off x="939800" y="36830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68400" y="36068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Live profit and terminal score</a:t>
            </a:r>
          </a:p>
        </p:txBody>
      </p:sp>
      <p:sp>
        <p:nvSpPr>
          <p:cNvPr id="13" name="Rounded Rectangle 12"/>
          <p:cNvSpPr/>
          <p:nvPr/>
        </p:nvSpPr>
        <p:spPr>
          <a:xfrm>
            <a:off x="939800" y="40386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68400" y="39624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Daily purchases, sales, and cash collection</a:t>
            </a:r>
          </a:p>
        </p:txBody>
      </p:sp>
      <p:sp>
        <p:nvSpPr>
          <p:cNvPr id="15" name="Rounded Rectangle 14"/>
          <p:cNvSpPr/>
          <p:nvPr/>
        </p:nvSpPr>
        <p:spPr>
          <a:xfrm>
            <a:off x="939800" y="4394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68400" y="43180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Machine and storage snapshots</a:t>
            </a:r>
          </a:p>
        </p:txBody>
      </p:sp>
      <p:sp>
        <p:nvSpPr>
          <p:cNvPr id="17" name="Rounded Rectangle 16"/>
          <p:cNvSpPr/>
          <p:nvPr/>
        </p:nvSpPr>
        <p:spPr>
          <a:xfrm>
            <a:off x="6223000" y="2819400"/>
            <a:ext cx="5308600" cy="2730500"/>
          </a:xfrm>
          <a:prstGeom prst="roundRect">
            <a:avLst>
              <a:gd name="adj" fmla="val 4651"/>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23000" y="2819400"/>
            <a:ext cx="5308600" cy="50800"/>
          </a:xfrm>
          <a:prstGeom prst="rect">
            <a:avLst/>
          </a:prstGeom>
          <a:solidFill>
            <a:srgbClr val="5E8D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02400" y="3098800"/>
            <a:ext cx="4749800" cy="444500"/>
          </a:xfrm>
          <a:prstGeom prst="rect">
            <a:avLst/>
          </a:prstGeom>
          <a:noFill/>
        </p:spPr>
        <p:txBody>
          <a:bodyPr wrap="none" lIns="0" rIns="0" tIns="0" bIns="0">
            <a:spAutoFit/>
          </a:bodyPr>
          <a:lstStyle/>
          <a:p>
            <a:pPr>
              <a:lnSpc>
                <a:spcPts val="1524"/>
              </a:lnSpc>
              <a:spcBef>
                <a:spcPts val="0"/>
              </a:spcBef>
              <a:spcAft>
                <a:spcPts val="0"/>
              </a:spcAft>
              <a:defRPr sz="1200" b="1">
                <a:solidFill>
                  <a:srgbClr val="557079"/>
                </a:solidFill>
                <a:latin typeface="DejaVu Sans"/>
              </a:defRPr>
            </a:pPr>
            <a:r>
              <a:t>HARNESS PERFORMANCE</a:t>
            </a:r>
          </a:p>
        </p:txBody>
      </p:sp>
      <p:sp>
        <p:nvSpPr>
          <p:cNvPr id="20" name="Rounded Rectangle 19"/>
          <p:cNvSpPr/>
          <p:nvPr/>
        </p:nvSpPr>
        <p:spPr>
          <a:xfrm>
            <a:off x="6502400" y="36830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31000" y="36068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Action outcomes and exact payloads</a:t>
            </a:r>
          </a:p>
        </p:txBody>
      </p:sp>
      <p:sp>
        <p:nvSpPr>
          <p:cNvPr id="22" name="Rounded Rectangle 21"/>
          <p:cNvSpPr/>
          <p:nvPr/>
        </p:nvSpPr>
        <p:spPr>
          <a:xfrm>
            <a:off x="6502400" y="40386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31000" y="39624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Aggregate model usage and calls</a:t>
            </a:r>
          </a:p>
        </p:txBody>
      </p:sp>
      <p:sp>
        <p:nvSpPr>
          <p:cNvPr id="24" name="Rounded Rectangle 23"/>
          <p:cNvSpPr/>
          <p:nvPr/>
        </p:nvSpPr>
        <p:spPr>
          <a:xfrm>
            <a:off x="6502400" y="4394200"/>
            <a:ext cx="63500" cy="63500"/>
          </a:xfrm>
          <a:prstGeom prst="roundRect">
            <a:avLst>
              <a:gd name="adj" fmla="val 15000"/>
            </a:avLst>
          </a:prstGeom>
          <a:solidFill>
            <a:srgbClr val="008C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31000" y="4318000"/>
            <a:ext cx="4508500" cy="1397000"/>
          </a:xfrm>
          <a:prstGeom prst="rect">
            <a:avLst/>
          </a:prstGeom>
          <a:noFill/>
        </p:spPr>
        <p:txBody>
          <a:bodyPr wrap="none" lIns="0" rIns="0" tIns="0" bIns="0">
            <a:spAutoFit/>
          </a:bodyPr>
          <a:lstStyle/>
          <a:p>
            <a:pPr>
              <a:lnSpc>
                <a:spcPts val="2160"/>
              </a:lnSpc>
              <a:spcBef>
                <a:spcPts val="0"/>
              </a:spcBef>
              <a:spcAft>
                <a:spcPts val="0"/>
              </a:spcAft>
              <a:defRPr sz="1600" b="0">
                <a:solidFill>
                  <a:srgbClr val="173A42"/>
                </a:solidFill>
                <a:latin typeface="DejaVu Sans"/>
              </a:defRPr>
            </a:pPr>
            <a:r>
              <a:t>Controller state and stop reason</a:t>
            </a:r>
          </a:p>
        </p:txBody>
      </p:sp>
      <p:sp>
        <p:nvSpPr>
          <p:cNvPr id="26" name="Rounded Rectangle 25"/>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The viewer is read-only. Inspecting a recorded run consumes no simulated time.</a:t>
            </a:r>
          </a:p>
        </p:txBody>
      </p:sp>
      <p:cxnSp>
        <p:nvCxnSpPr>
          <p:cNvPr id="28" name="Connector 27"/>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30" name="TextBox 29"/>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CAEFA1"/>
                </a:solidFill>
                <a:latin typeface="DejaVu Sans"/>
              </a:defRPr>
            </a:pPr>
            <a:r>
              <a:t>06 / READY FOR THE TEST</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FFFFFF"/>
                </a:solidFill>
                <a:latin typeface="DejaVu Sans"/>
              </a:defRPr>
            </a:pPr>
            <a:r>
              <a:t>Arrive with a reproducible harness.</a:t>
            </a:r>
          </a:p>
        </p:txBody>
      </p:sp>
      <p:sp>
        <p:nvSpPr>
          <p:cNvPr id="5" name="Rounded Rectangle 4"/>
          <p:cNvSpPr/>
          <p:nvPr/>
        </p:nvSpPr>
        <p:spPr>
          <a:xfrm>
            <a:off x="685800" y="2273300"/>
            <a:ext cx="342900" cy="342900"/>
          </a:xfrm>
          <a:prstGeom prst="roundRect">
            <a:avLst>
              <a:gd name="adj" fmla="val 15000"/>
            </a:avLst>
          </a:prstGeom>
          <a:solidFill>
            <a:srgbClr val="CAEF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0100" y="2336800"/>
            <a:ext cx="228600" cy="266700"/>
          </a:xfrm>
          <a:prstGeom prst="rect">
            <a:avLst/>
          </a:prstGeom>
          <a:noFill/>
        </p:spPr>
        <p:txBody>
          <a:bodyPr wrap="none" lIns="0" rIns="0" tIns="0" bIns="0">
            <a:spAutoFit/>
          </a:bodyPr>
          <a:lstStyle/>
          <a:p>
            <a:pPr>
              <a:lnSpc>
                <a:spcPts val="1651"/>
              </a:lnSpc>
              <a:spcBef>
                <a:spcPts val="0"/>
              </a:spcBef>
              <a:spcAft>
                <a:spcPts val="0"/>
              </a:spcAft>
              <a:defRPr sz="1300" b="1">
                <a:solidFill>
                  <a:srgbClr val="173A42"/>
                </a:solidFill>
                <a:latin typeface="DejaVu Sans"/>
              </a:defRPr>
            </a:pPr>
            <a:r>
              <a:t>1</a:t>
            </a:r>
          </a:p>
        </p:txBody>
      </p:sp>
      <p:sp>
        <p:nvSpPr>
          <p:cNvPr id="7" name="TextBox 6"/>
          <p:cNvSpPr txBox="1"/>
          <p:nvPr/>
        </p:nvSpPr>
        <p:spPr>
          <a:xfrm>
            <a:off x="1295400" y="2298700"/>
            <a:ext cx="10096500" cy="495300"/>
          </a:xfrm>
          <a:prstGeom prst="rect">
            <a:avLst/>
          </a:prstGeom>
          <a:noFill/>
        </p:spPr>
        <p:txBody>
          <a:bodyPr wrap="none" lIns="0" rIns="0" tIns="0" bIns="0">
            <a:spAutoFit/>
          </a:bodyPr>
          <a:lstStyle/>
          <a:p>
            <a:pPr>
              <a:lnSpc>
                <a:spcPts val="2400"/>
              </a:lnSpc>
              <a:spcBef>
                <a:spcPts val="0"/>
              </a:spcBef>
              <a:spcAft>
                <a:spcPts val="0"/>
              </a:spcAft>
              <a:defRPr sz="2000" b="0">
                <a:solidFill>
                  <a:srgbClr val="FFFFFF"/>
                </a:solidFill>
                <a:latin typeface="DejaVu Sans"/>
              </a:defRPr>
            </a:pPr>
            <a:r>
              <a:t>A documented entry point and pinned dependencies</a:t>
            </a:r>
          </a:p>
        </p:txBody>
      </p:sp>
      <p:sp>
        <p:nvSpPr>
          <p:cNvPr id="8" name="Rounded Rectangle 7"/>
          <p:cNvSpPr/>
          <p:nvPr/>
        </p:nvSpPr>
        <p:spPr>
          <a:xfrm>
            <a:off x="685800" y="2895600"/>
            <a:ext cx="342900" cy="342900"/>
          </a:xfrm>
          <a:prstGeom prst="roundRect">
            <a:avLst>
              <a:gd name="adj" fmla="val 15000"/>
            </a:avLst>
          </a:prstGeom>
          <a:solidFill>
            <a:srgbClr val="CAEF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0100" y="2959100"/>
            <a:ext cx="228600" cy="266700"/>
          </a:xfrm>
          <a:prstGeom prst="rect">
            <a:avLst/>
          </a:prstGeom>
          <a:noFill/>
        </p:spPr>
        <p:txBody>
          <a:bodyPr wrap="none" lIns="0" rIns="0" tIns="0" bIns="0">
            <a:spAutoFit/>
          </a:bodyPr>
          <a:lstStyle/>
          <a:p>
            <a:pPr>
              <a:lnSpc>
                <a:spcPts val="1651"/>
              </a:lnSpc>
              <a:spcBef>
                <a:spcPts val="0"/>
              </a:spcBef>
              <a:spcAft>
                <a:spcPts val="0"/>
              </a:spcAft>
              <a:defRPr sz="1300" b="1">
                <a:solidFill>
                  <a:srgbClr val="173A42"/>
                </a:solidFill>
                <a:latin typeface="DejaVu Sans"/>
              </a:defRPr>
            </a:pPr>
            <a:r>
              <a:t>2</a:t>
            </a:r>
          </a:p>
        </p:txBody>
      </p:sp>
      <p:sp>
        <p:nvSpPr>
          <p:cNvPr id="10" name="TextBox 9"/>
          <p:cNvSpPr txBox="1"/>
          <p:nvPr/>
        </p:nvSpPr>
        <p:spPr>
          <a:xfrm>
            <a:off x="1295400" y="2921000"/>
            <a:ext cx="10096500" cy="495300"/>
          </a:xfrm>
          <a:prstGeom prst="rect">
            <a:avLst/>
          </a:prstGeom>
          <a:noFill/>
        </p:spPr>
        <p:txBody>
          <a:bodyPr wrap="none" lIns="0" rIns="0" tIns="0" bIns="0">
            <a:spAutoFit/>
          </a:bodyPr>
          <a:lstStyle/>
          <a:p>
            <a:pPr>
              <a:lnSpc>
                <a:spcPts val="2400"/>
              </a:lnSpc>
              <a:spcBef>
                <a:spcPts val="0"/>
              </a:spcBef>
              <a:spcAft>
                <a:spcPts val="0"/>
              </a:spcAft>
              <a:defRPr sz="2000" b="0">
                <a:solidFill>
                  <a:srgbClr val="FFFFFF"/>
                </a:solidFill>
                <a:latin typeface="DejaVu Sans"/>
              </a:defRPr>
            </a:pPr>
            <a:r>
              <a:t>Configuration for prompts, model selection, and budgets</a:t>
            </a:r>
          </a:p>
        </p:txBody>
      </p:sp>
      <p:sp>
        <p:nvSpPr>
          <p:cNvPr id="11" name="Rounded Rectangle 10"/>
          <p:cNvSpPr/>
          <p:nvPr/>
        </p:nvSpPr>
        <p:spPr>
          <a:xfrm>
            <a:off x="685800" y="3517900"/>
            <a:ext cx="342900" cy="342900"/>
          </a:xfrm>
          <a:prstGeom prst="roundRect">
            <a:avLst>
              <a:gd name="adj" fmla="val 15000"/>
            </a:avLst>
          </a:prstGeom>
          <a:solidFill>
            <a:srgbClr val="CAEF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 y="3581400"/>
            <a:ext cx="228600" cy="266700"/>
          </a:xfrm>
          <a:prstGeom prst="rect">
            <a:avLst/>
          </a:prstGeom>
          <a:noFill/>
        </p:spPr>
        <p:txBody>
          <a:bodyPr wrap="none" lIns="0" rIns="0" tIns="0" bIns="0">
            <a:spAutoFit/>
          </a:bodyPr>
          <a:lstStyle/>
          <a:p>
            <a:pPr>
              <a:lnSpc>
                <a:spcPts val="1651"/>
              </a:lnSpc>
              <a:spcBef>
                <a:spcPts val="0"/>
              </a:spcBef>
              <a:spcAft>
                <a:spcPts val="0"/>
              </a:spcAft>
              <a:defRPr sz="1300" b="1">
                <a:solidFill>
                  <a:srgbClr val="173A42"/>
                </a:solidFill>
                <a:latin typeface="DejaVu Sans"/>
              </a:defRPr>
            </a:pPr>
            <a:r>
              <a:t>3</a:t>
            </a:r>
          </a:p>
        </p:txBody>
      </p:sp>
      <p:sp>
        <p:nvSpPr>
          <p:cNvPr id="13" name="TextBox 12"/>
          <p:cNvSpPr txBox="1"/>
          <p:nvPr/>
        </p:nvSpPr>
        <p:spPr>
          <a:xfrm>
            <a:off x="1295400" y="3543300"/>
            <a:ext cx="10096500" cy="495300"/>
          </a:xfrm>
          <a:prstGeom prst="rect">
            <a:avLst/>
          </a:prstGeom>
          <a:noFill/>
        </p:spPr>
        <p:txBody>
          <a:bodyPr wrap="none" lIns="0" rIns="0" tIns="0" bIns="0">
            <a:spAutoFit/>
          </a:bodyPr>
          <a:lstStyle/>
          <a:p>
            <a:pPr>
              <a:lnSpc>
                <a:spcPts val="2400"/>
              </a:lnSpc>
              <a:spcBef>
                <a:spcPts val="0"/>
              </a:spcBef>
              <a:spcAft>
                <a:spcPts val="0"/>
              </a:spcAft>
              <a:defRPr sz="2000" b="0">
                <a:solidFill>
                  <a:srgbClr val="FFFFFF"/>
                </a:solidFill>
                <a:latin typeface="DejaVu Sans"/>
              </a:defRPr>
            </a:pPr>
            <a:r>
              <a:t>A successful end-to-end practice run with logs</a:t>
            </a:r>
          </a:p>
        </p:txBody>
      </p:sp>
      <p:sp>
        <p:nvSpPr>
          <p:cNvPr id="14" name="Rounded Rectangle 13"/>
          <p:cNvSpPr/>
          <p:nvPr/>
        </p:nvSpPr>
        <p:spPr>
          <a:xfrm>
            <a:off x="685800" y="4140200"/>
            <a:ext cx="342900" cy="342900"/>
          </a:xfrm>
          <a:prstGeom prst="roundRect">
            <a:avLst>
              <a:gd name="adj" fmla="val 15000"/>
            </a:avLst>
          </a:prstGeom>
          <a:solidFill>
            <a:srgbClr val="CAEF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 y="4203700"/>
            <a:ext cx="228600" cy="266700"/>
          </a:xfrm>
          <a:prstGeom prst="rect">
            <a:avLst/>
          </a:prstGeom>
          <a:noFill/>
        </p:spPr>
        <p:txBody>
          <a:bodyPr wrap="none" lIns="0" rIns="0" tIns="0" bIns="0">
            <a:spAutoFit/>
          </a:bodyPr>
          <a:lstStyle/>
          <a:p>
            <a:pPr>
              <a:lnSpc>
                <a:spcPts val="1651"/>
              </a:lnSpc>
              <a:spcBef>
                <a:spcPts val="0"/>
              </a:spcBef>
              <a:spcAft>
                <a:spcPts val="0"/>
              </a:spcAft>
              <a:defRPr sz="1300" b="1">
                <a:solidFill>
                  <a:srgbClr val="173A42"/>
                </a:solidFill>
                <a:latin typeface="DejaVu Sans"/>
              </a:defRPr>
            </a:pPr>
            <a:r>
              <a:t>4</a:t>
            </a:r>
          </a:p>
        </p:txBody>
      </p:sp>
      <p:sp>
        <p:nvSpPr>
          <p:cNvPr id="16" name="TextBox 15"/>
          <p:cNvSpPr txBox="1"/>
          <p:nvPr/>
        </p:nvSpPr>
        <p:spPr>
          <a:xfrm>
            <a:off x="1295400" y="4165600"/>
            <a:ext cx="10096500" cy="495300"/>
          </a:xfrm>
          <a:prstGeom prst="rect">
            <a:avLst/>
          </a:prstGeom>
          <a:noFill/>
        </p:spPr>
        <p:txBody>
          <a:bodyPr wrap="none" lIns="0" rIns="0" tIns="0" bIns="0">
            <a:spAutoFit/>
          </a:bodyPr>
          <a:lstStyle/>
          <a:p>
            <a:pPr>
              <a:lnSpc>
                <a:spcPts val="2400"/>
              </a:lnSpc>
              <a:spcBef>
                <a:spcPts val="0"/>
              </a:spcBef>
              <a:spcAft>
                <a:spcPts val="0"/>
              </a:spcAft>
              <a:defRPr sz="2000" b="0">
                <a:solidFill>
                  <a:srgbClr val="FFFFFF"/>
                </a:solidFill>
                <a:latin typeface="DejaVu Sans"/>
              </a:defRPr>
            </a:pPr>
            <a:r>
              <a:t>Correct retries, termination handling, and cleanup</a:t>
            </a:r>
          </a:p>
        </p:txBody>
      </p:sp>
      <p:sp>
        <p:nvSpPr>
          <p:cNvPr id="17" name="Rounded Rectangle 16"/>
          <p:cNvSpPr/>
          <p:nvPr/>
        </p:nvSpPr>
        <p:spPr>
          <a:xfrm>
            <a:off x="685800" y="4762500"/>
            <a:ext cx="342900" cy="342900"/>
          </a:xfrm>
          <a:prstGeom prst="roundRect">
            <a:avLst>
              <a:gd name="adj" fmla="val 15000"/>
            </a:avLst>
          </a:prstGeom>
          <a:solidFill>
            <a:srgbClr val="CAEF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0100" y="4826000"/>
            <a:ext cx="228600" cy="266700"/>
          </a:xfrm>
          <a:prstGeom prst="rect">
            <a:avLst/>
          </a:prstGeom>
          <a:noFill/>
        </p:spPr>
        <p:txBody>
          <a:bodyPr wrap="none" lIns="0" rIns="0" tIns="0" bIns="0">
            <a:spAutoFit/>
          </a:bodyPr>
          <a:lstStyle/>
          <a:p>
            <a:pPr>
              <a:lnSpc>
                <a:spcPts val="1651"/>
              </a:lnSpc>
              <a:spcBef>
                <a:spcPts val="0"/>
              </a:spcBef>
              <a:spcAft>
                <a:spcPts val="0"/>
              </a:spcAft>
              <a:defRPr sz="1300" b="1">
                <a:solidFill>
                  <a:srgbClr val="173A42"/>
                </a:solidFill>
                <a:latin typeface="DejaVu Sans"/>
              </a:defRPr>
            </a:pPr>
            <a:r>
              <a:t>5</a:t>
            </a:r>
          </a:p>
        </p:txBody>
      </p:sp>
      <p:sp>
        <p:nvSpPr>
          <p:cNvPr id="19" name="TextBox 18"/>
          <p:cNvSpPr txBox="1"/>
          <p:nvPr/>
        </p:nvSpPr>
        <p:spPr>
          <a:xfrm>
            <a:off x="1295400" y="4787900"/>
            <a:ext cx="10096500" cy="495300"/>
          </a:xfrm>
          <a:prstGeom prst="rect">
            <a:avLst/>
          </a:prstGeom>
          <a:noFill/>
        </p:spPr>
        <p:txBody>
          <a:bodyPr wrap="none" lIns="0" rIns="0" tIns="0" bIns="0">
            <a:spAutoFit/>
          </a:bodyPr>
          <a:lstStyle/>
          <a:p>
            <a:pPr>
              <a:lnSpc>
                <a:spcPts val="2400"/>
              </a:lnSpc>
              <a:spcBef>
                <a:spcPts val="0"/>
              </a:spcBef>
              <a:spcAft>
                <a:spcPts val="0"/>
              </a:spcAft>
              <a:defRPr sz="2000" b="0">
                <a:solidFill>
                  <a:srgbClr val="FFFFFF"/>
                </a:solidFill>
                <a:latin typeface="DejaVu Sans"/>
              </a:defRPr>
            </a:pPr>
            <a:r>
              <a:t>A brief explanation of your design and observed trade-offs</a:t>
            </a:r>
          </a:p>
        </p:txBody>
      </p:sp>
      <p:sp>
        <p:nvSpPr>
          <p:cNvPr id="20" name="Rounded Rectangle 19"/>
          <p:cNvSpPr/>
          <p:nvPr/>
        </p:nvSpPr>
        <p:spPr>
          <a:xfrm>
            <a:off x="660400" y="5842000"/>
            <a:ext cx="10871200" cy="546100"/>
          </a:xfrm>
          <a:prstGeom prst="roundRect">
            <a:avLst>
              <a:gd name="adj" fmla="val 15000"/>
            </a:avLst>
          </a:prstGeom>
          <a:solidFill>
            <a:srgbClr val="193F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CAEFA1"/>
                </a:solidFill>
                <a:latin typeface="DejaVu Sans"/>
              </a:defRPr>
            </a:pPr>
            <a:r>
              <a:t>To be announced: submission packaging, deadline, allowed models, test handoff, and tie-breaks.</a:t>
            </a:r>
          </a:p>
        </p:txBody>
      </p:sp>
      <p:cxnSp>
        <p:nvCxnSpPr>
          <p:cNvPr id="22" name="Connector 21"/>
          <p:cNvCxnSpPr/>
          <p:nvPr/>
        </p:nvCxnSpPr>
        <p:spPr>
          <a:xfrm>
            <a:off x="660400" y="6565900"/>
            <a:ext cx="10871200" cy="0"/>
          </a:xfrm>
          <a:prstGeom prst="line">
            <a:avLst/>
          </a:prstGeom>
          <a:ln w="8255">
            <a:solidFill>
              <a:srgbClr val="32515A"/>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A6C1C6"/>
                </a:solidFill>
                <a:latin typeface="DejaVu Sans"/>
              </a:defRPr>
            </a:pPr>
            <a:r>
              <a:t>VENDING BENCH  /  PARTICIPANT BRIEFING</a:t>
            </a:r>
          </a:p>
        </p:txBody>
      </p:sp>
      <p:sp>
        <p:nvSpPr>
          <p:cNvPr id="24" name="TextBox 23"/>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CAEFA1"/>
                </a:solidFill>
                <a:latin typeface="DejaVu San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REFERENCE / API LIFECYCLE</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REST lifecycle: create, act, retrieve, delete.</a:t>
            </a:r>
          </a:p>
        </p:txBody>
      </p:sp>
      <p:sp>
        <p:nvSpPr>
          <p:cNvPr id="5" name="Rounded Rectangle 4"/>
          <p:cNvSpPr/>
          <p:nvPr/>
        </p:nvSpPr>
        <p:spPr>
          <a:xfrm>
            <a:off x="660400" y="2120900"/>
            <a:ext cx="10871200" cy="431800"/>
          </a:xfrm>
          <a:prstGeom prst="roundRect">
            <a:avLst>
              <a:gd name="adj" fmla="val 14705"/>
            </a:avLst>
          </a:prstGeom>
          <a:solidFill>
            <a:srgbClr val="173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500" y="2247900"/>
            <a:ext cx="31115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REQUEST</a:t>
            </a:r>
          </a:p>
        </p:txBody>
      </p:sp>
      <p:sp>
        <p:nvSpPr>
          <p:cNvPr id="7" name="TextBox 6"/>
          <p:cNvSpPr txBox="1"/>
          <p:nvPr/>
        </p:nvSpPr>
        <p:spPr>
          <a:xfrm>
            <a:off x="4254500" y="2247900"/>
            <a:ext cx="27305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SUCCESS</a:t>
            </a:r>
          </a:p>
        </p:txBody>
      </p:sp>
      <p:sp>
        <p:nvSpPr>
          <p:cNvPr id="8" name="TextBox 7"/>
          <p:cNvSpPr txBox="1"/>
          <p:nvPr/>
        </p:nvSpPr>
        <p:spPr>
          <a:xfrm>
            <a:off x="7302500" y="2247900"/>
            <a:ext cx="40767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NOTES</a:t>
            </a:r>
          </a:p>
        </p:txBody>
      </p:sp>
      <p:sp>
        <p:nvSpPr>
          <p:cNvPr id="9" name="Rectangle 8"/>
          <p:cNvSpPr/>
          <p:nvPr/>
        </p:nvSpPr>
        <p:spPr>
          <a:xfrm>
            <a:off x="660400" y="2552700"/>
            <a:ext cx="10871200" cy="61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5500" y="2705100"/>
            <a:ext cx="31115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POST /env</a:t>
            </a:r>
          </a:p>
        </p:txBody>
      </p:sp>
      <p:sp>
        <p:nvSpPr>
          <p:cNvPr id="11" name="TextBox 10"/>
          <p:cNvSpPr txBox="1"/>
          <p:nvPr/>
        </p:nvSpPr>
        <p:spPr>
          <a:xfrm>
            <a:off x="4254500" y="2705100"/>
            <a:ext cx="2730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201: {env_id}</a:t>
            </a:r>
          </a:p>
        </p:txBody>
      </p:sp>
      <p:sp>
        <p:nvSpPr>
          <p:cNvPr id="12" name="TextBox 11"/>
          <p:cNvSpPr txBox="1"/>
          <p:nvPr/>
        </p:nvSpPr>
        <p:spPr>
          <a:xfrm>
            <a:off x="7302500" y="2705100"/>
            <a:ext cx="40767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Coordinator-controlled test selection</a:t>
            </a:r>
          </a:p>
        </p:txBody>
      </p:sp>
      <p:sp>
        <p:nvSpPr>
          <p:cNvPr id="13" name="Rectangle 12"/>
          <p:cNvSpPr/>
          <p:nvPr/>
        </p:nvSpPr>
        <p:spPr>
          <a:xfrm>
            <a:off x="660400" y="3167380"/>
            <a:ext cx="10871200" cy="614680"/>
          </a:xfrm>
          <a:prstGeom prst="rect">
            <a:avLst/>
          </a:prstGeom>
          <a:solidFill>
            <a:srgbClr val="ED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500" y="3319779"/>
            <a:ext cx="31115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POST /env/{id}/{action}</a:t>
            </a:r>
          </a:p>
        </p:txBody>
      </p:sp>
      <p:sp>
        <p:nvSpPr>
          <p:cNvPr id="15" name="TextBox 14"/>
          <p:cNvSpPr txBox="1"/>
          <p:nvPr/>
        </p:nvSpPr>
        <p:spPr>
          <a:xfrm>
            <a:off x="4254500" y="3319779"/>
            <a:ext cx="2730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200: action envelope</a:t>
            </a:r>
          </a:p>
        </p:txBody>
      </p:sp>
      <p:sp>
        <p:nvSpPr>
          <p:cNvPr id="16" name="TextBox 15"/>
          <p:cNvSpPr txBox="1"/>
          <p:nvPr/>
        </p:nvSpPr>
        <p:spPr>
          <a:xfrm>
            <a:off x="7302500" y="3319779"/>
            <a:ext cx="40767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Optional Idempotency-Key</a:t>
            </a:r>
          </a:p>
        </p:txBody>
      </p:sp>
      <p:sp>
        <p:nvSpPr>
          <p:cNvPr id="17" name="Rectangle 16"/>
          <p:cNvSpPr/>
          <p:nvPr/>
        </p:nvSpPr>
        <p:spPr>
          <a:xfrm>
            <a:off x="660400" y="3782060"/>
            <a:ext cx="10871200" cy="61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500" y="3934460"/>
            <a:ext cx="31115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GET /env/{id}/status</a:t>
            </a:r>
          </a:p>
        </p:txBody>
      </p:sp>
      <p:sp>
        <p:nvSpPr>
          <p:cNvPr id="19" name="TextBox 18"/>
          <p:cNvSpPr txBox="1"/>
          <p:nvPr/>
        </p:nvSpPr>
        <p:spPr>
          <a:xfrm>
            <a:off x="4254500" y="3934460"/>
            <a:ext cx="2730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200: {state}</a:t>
            </a:r>
          </a:p>
        </p:txBody>
      </p:sp>
      <p:sp>
        <p:nvSpPr>
          <p:cNvPr id="20" name="TextBox 19"/>
          <p:cNvSpPr txBox="1"/>
          <p:nvPr/>
        </p:nvSpPr>
        <p:spPr>
          <a:xfrm>
            <a:off x="7302500" y="3934460"/>
            <a:ext cx="40767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running / ended / unavailable</a:t>
            </a:r>
          </a:p>
        </p:txBody>
      </p:sp>
      <p:sp>
        <p:nvSpPr>
          <p:cNvPr id="21" name="Rectangle 20"/>
          <p:cNvSpPr/>
          <p:nvPr/>
        </p:nvSpPr>
        <p:spPr>
          <a:xfrm>
            <a:off x="660400" y="4396740"/>
            <a:ext cx="10871200" cy="614680"/>
          </a:xfrm>
          <a:prstGeom prst="rect">
            <a:avLst/>
          </a:prstGeom>
          <a:solidFill>
            <a:srgbClr val="ED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00" y="4549140"/>
            <a:ext cx="31115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GET /env/{id}/result</a:t>
            </a:r>
          </a:p>
        </p:txBody>
      </p:sp>
      <p:sp>
        <p:nvSpPr>
          <p:cNvPr id="23" name="TextBox 22"/>
          <p:cNvSpPr txBox="1"/>
          <p:nvPr/>
        </p:nvSpPr>
        <p:spPr>
          <a:xfrm>
            <a:off x="4254500" y="4549140"/>
            <a:ext cx="2730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200: terminal summary</a:t>
            </a:r>
          </a:p>
        </p:txBody>
      </p:sp>
      <p:sp>
        <p:nvSpPr>
          <p:cNvPr id="24" name="TextBox 23"/>
          <p:cNvSpPr txBox="1"/>
          <p:nvPr/>
        </p:nvSpPr>
        <p:spPr>
          <a:xfrm>
            <a:off x="7302500" y="4549140"/>
            <a:ext cx="40767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409 while running</a:t>
            </a:r>
          </a:p>
        </p:txBody>
      </p:sp>
      <p:sp>
        <p:nvSpPr>
          <p:cNvPr id="25" name="Rectangle 24"/>
          <p:cNvSpPr/>
          <p:nvPr/>
        </p:nvSpPr>
        <p:spPr>
          <a:xfrm>
            <a:off x="660400" y="5011420"/>
            <a:ext cx="10871200" cy="614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00" y="5163820"/>
            <a:ext cx="3111500" cy="436880"/>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DELETE /env/{id}</a:t>
            </a:r>
          </a:p>
        </p:txBody>
      </p:sp>
      <p:sp>
        <p:nvSpPr>
          <p:cNvPr id="27" name="TextBox 26"/>
          <p:cNvSpPr txBox="1"/>
          <p:nvPr/>
        </p:nvSpPr>
        <p:spPr>
          <a:xfrm>
            <a:off x="4254500" y="5163820"/>
            <a:ext cx="27305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204: empty response</a:t>
            </a:r>
          </a:p>
        </p:txBody>
      </p:sp>
      <p:sp>
        <p:nvSpPr>
          <p:cNvPr id="28" name="TextBox 27"/>
          <p:cNvSpPr txBox="1"/>
          <p:nvPr/>
        </p:nvSpPr>
        <p:spPr>
          <a:xfrm>
            <a:off x="7302500" y="5163820"/>
            <a:ext cx="4076700" cy="436880"/>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Idempotent cleanup</a:t>
            </a:r>
          </a:p>
        </p:txBody>
      </p:sp>
      <p:sp>
        <p:nvSpPr>
          <p:cNvPr id="29" name="Rounded Rectangle 28"/>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The final accepted action can return 200 with state ended. Later actions are rejected.</a:t>
            </a:r>
          </a:p>
        </p:txBody>
      </p:sp>
      <p:cxnSp>
        <p:nvCxnSpPr>
          <p:cNvPr id="31" name="Connector 30"/>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33" name="TextBox 32"/>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REFERENCE / REQUEST SHAPES</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Use the exact schemas. Money is integer cents.</a:t>
            </a:r>
          </a:p>
        </p:txBody>
      </p:sp>
      <p:sp>
        <p:nvSpPr>
          <p:cNvPr id="5" name="Rounded Rectangle 4"/>
          <p:cNvSpPr/>
          <p:nvPr/>
        </p:nvSpPr>
        <p:spPr>
          <a:xfrm>
            <a:off x="660400" y="2120900"/>
            <a:ext cx="10871200" cy="431800"/>
          </a:xfrm>
          <a:prstGeom prst="roundRect">
            <a:avLst>
              <a:gd name="adj" fmla="val 14705"/>
            </a:avLst>
          </a:prstGeom>
          <a:solidFill>
            <a:srgbClr val="173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500" y="2247900"/>
            <a:ext cx="24765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ACTION</a:t>
            </a:r>
          </a:p>
        </p:txBody>
      </p:sp>
      <p:sp>
        <p:nvSpPr>
          <p:cNvPr id="7" name="TextBox 6"/>
          <p:cNvSpPr txBox="1"/>
          <p:nvPr/>
        </p:nvSpPr>
        <p:spPr>
          <a:xfrm>
            <a:off x="3619500" y="2247900"/>
            <a:ext cx="7759700" cy="228600"/>
          </a:xfrm>
          <a:prstGeom prst="rect">
            <a:avLst/>
          </a:prstGeom>
          <a:noFill/>
        </p:spPr>
        <p:txBody>
          <a:bodyPr wrap="none" lIns="0" rIns="0" tIns="0" bIns="0">
            <a:spAutoFit/>
          </a:bodyPr>
          <a:lstStyle/>
          <a:p>
            <a:pPr>
              <a:lnSpc>
                <a:spcPts val="1524"/>
              </a:lnSpc>
              <a:spcBef>
                <a:spcPts val="0"/>
              </a:spcBef>
              <a:spcAft>
                <a:spcPts val="0"/>
              </a:spcAft>
              <a:defRPr sz="1200" b="1">
                <a:solidFill>
                  <a:srgbClr val="FFFFFF"/>
                </a:solidFill>
                <a:latin typeface="DejaVu Sans"/>
              </a:defRPr>
            </a:pPr>
            <a:r>
              <a:t>PAYLOAD</a:t>
            </a:r>
          </a:p>
        </p:txBody>
      </p:sp>
      <p:sp>
        <p:nvSpPr>
          <p:cNvPr id="8" name="Rectangle 7"/>
          <p:cNvSpPr/>
          <p:nvPr/>
        </p:nvSpPr>
        <p:spPr>
          <a:xfrm>
            <a:off x="660400" y="2552700"/>
            <a:ext cx="10871200" cy="51223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500" y="2705100"/>
            <a:ext cx="2476500" cy="334433"/>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make_offer</a:t>
            </a:r>
          </a:p>
        </p:txBody>
      </p:sp>
      <p:sp>
        <p:nvSpPr>
          <p:cNvPr id="10" name="TextBox 9"/>
          <p:cNvSpPr txBox="1"/>
          <p:nvPr/>
        </p:nvSpPr>
        <p:spPr>
          <a:xfrm>
            <a:off x="3619500" y="2705100"/>
            <a:ext cx="7759700" cy="334433"/>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supplier_id, product_id, quantity, unit_price_cents</a:t>
            </a:r>
          </a:p>
        </p:txBody>
      </p:sp>
      <p:sp>
        <p:nvSpPr>
          <p:cNvPr id="11" name="Rectangle 10"/>
          <p:cNvSpPr/>
          <p:nvPr/>
        </p:nvSpPr>
        <p:spPr>
          <a:xfrm>
            <a:off x="660400" y="3064933"/>
            <a:ext cx="10871200" cy="512233"/>
          </a:xfrm>
          <a:prstGeom prst="rect">
            <a:avLst/>
          </a:prstGeom>
          <a:solidFill>
            <a:srgbClr val="ED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5500" y="3217333"/>
            <a:ext cx="2476500" cy="334433"/>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set_price</a:t>
            </a:r>
          </a:p>
        </p:txBody>
      </p:sp>
      <p:sp>
        <p:nvSpPr>
          <p:cNvPr id="13" name="TextBox 12"/>
          <p:cNvSpPr txBox="1"/>
          <p:nvPr/>
        </p:nvSpPr>
        <p:spPr>
          <a:xfrm>
            <a:off x="3619500" y="3217333"/>
            <a:ext cx="7759700" cy="334433"/>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product_id, unit_price_cents</a:t>
            </a:r>
          </a:p>
        </p:txBody>
      </p:sp>
      <p:sp>
        <p:nvSpPr>
          <p:cNvPr id="14" name="Rectangle 13"/>
          <p:cNvSpPr/>
          <p:nvPr/>
        </p:nvSpPr>
        <p:spPr>
          <a:xfrm>
            <a:off x="660400" y="3577166"/>
            <a:ext cx="10871200" cy="51223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5500" y="3729566"/>
            <a:ext cx="2476500" cy="334433"/>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stock_items</a:t>
            </a:r>
          </a:p>
        </p:txBody>
      </p:sp>
      <p:sp>
        <p:nvSpPr>
          <p:cNvPr id="16" name="TextBox 15"/>
          <p:cNvSpPr txBox="1"/>
          <p:nvPr/>
        </p:nvSpPr>
        <p:spPr>
          <a:xfrm>
            <a:off x="3619500" y="3729566"/>
            <a:ext cx="7759700" cy="334433"/>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slot_id, product_id, quantity</a:t>
            </a:r>
          </a:p>
        </p:txBody>
      </p:sp>
      <p:sp>
        <p:nvSpPr>
          <p:cNvPr id="17" name="Rectangle 16"/>
          <p:cNvSpPr/>
          <p:nvPr/>
        </p:nvSpPr>
        <p:spPr>
          <a:xfrm>
            <a:off x="660400" y="4089400"/>
            <a:ext cx="10871200" cy="512233"/>
          </a:xfrm>
          <a:prstGeom prst="rect">
            <a:avLst/>
          </a:prstGeom>
          <a:solidFill>
            <a:srgbClr val="ED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500" y="4241800"/>
            <a:ext cx="2476500" cy="334433"/>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unstock_items</a:t>
            </a:r>
          </a:p>
        </p:txBody>
      </p:sp>
      <p:sp>
        <p:nvSpPr>
          <p:cNvPr id="19" name="TextBox 18"/>
          <p:cNvSpPr txBox="1"/>
          <p:nvPr/>
        </p:nvSpPr>
        <p:spPr>
          <a:xfrm>
            <a:off x="3619500" y="4241800"/>
            <a:ext cx="7759700" cy="334433"/>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slot_id, quantity</a:t>
            </a:r>
          </a:p>
        </p:txBody>
      </p:sp>
      <p:sp>
        <p:nvSpPr>
          <p:cNvPr id="20" name="Rectangle 19"/>
          <p:cNvSpPr/>
          <p:nvPr/>
        </p:nvSpPr>
        <p:spPr>
          <a:xfrm>
            <a:off x="660400" y="4601633"/>
            <a:ext cx="10871200" cy="51223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500" y="4754033"/>
            <a:ext cx="2476500" cy="334433"/>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search_products</a:t>
            </a:r>
          </a:p>
        </p:txBody>
      </p:sp>
      <p:sp>
        <p:nvSpPr>
          <p:cNvPr id="22" name="TextBox 21"/>
          <p:cNvSpPr txBox="1"/>
          <p:nvPr/>
        </p:nvSpPr>
        <p:spPr>
          <a:xfrm>
            <a:off x="3619500" y="4754033"/>
            <a:ext cx="7759700" cy="334433"/>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Optional product_id</a:t>
            </a:r>
          </a:p>
        </p:txBody>
      </p:sp>
      <p:sp>
        <p:nvSpPr>
          <p:cNvPr id="23" name="Rectangle 22"/>
          <p:cNvSpPr/>
          <p:nvPr/>
        </p:nvSpPr>
        <p:spPr>
          <a:xfrm>
            <a:off x="660400" y="5113866"/>
            <a:ext cx="10871200" cy="512233"/>
          </a:xfrm>
          <a:prstGeom prst="rect">
            <a:avLst/>
          </a:prstGeom>
          <a:solidFill>
            <a:srgbClr val="EDF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5500" y="5266266"/>
            <a:ext cx="2476500" cy="334433"/>
          </a:xfrm>
          <a:prstGeom prst="rect">
            <a:avLst/>
          </a:prstGeom>
          <a:noFill/>
        </p:spPr>
        <p:txBody>
          <a:bodyPr wrap="none" lIns="0" rIns="0" tIns="0" bIns="0">
            <a:spAutoFit/>
          </a:bodyPr>
          <a:lstStyle/>
          <a:p>
            <a:pPr>
              <a:lnSpc>
                <a:spcPts val="1844"/>
              </a:lnSpc>
              <a:spcBef>
                <a:spcPts val="0"/>
              </a:spcBef>
              <a:spcAft>
                <a:spcPts val="0"/>
              </a:spcAft>
              <a:defRPr sz="1550" b="1">
                <a:solidFill>
                  <a:srgbClr val="008C7B"/>
                </a:solidFill>
                <a:latin typeface="DejaVu Sans"/>
              </a:defRPr>
            </a:pPr>
            <a:r>
              <a:t>Other listed actions</a:t>
            </a:r>
          </a:p>
        </p:txBody>
      </p:sp>
      <p:sp>
        <p:nvSpPr>
          <p:cNvPr id="25" name="TextBox 24"/>
          <p:cNvSpPr txBox="1"/>
          <p:nvPr/>
        </p:nvSpPr>
        <p:spPr>
          <a:xfrm>
            <a:off x="3619500" y="5266266"/>
            <a:ext cx="7759700" cy="334433"/>
          </a:xfrm>
          <a:prstGeom prst="rect">
            <a:avLst/>
          </a:prstGeom>
          <a:noFill/>
        </p:spPr>
        <p:txBody>
          <a:bodyPr wrap="none" lIns="0" rIns="0" tIns="0" bIns="0">
            <a:spAutoFit/>
          </a:bodyPr>
          <a:lstStyle/>
          <a:p>
            <a:pPr>
              <a:lnSpc>
                <a:spcPts val="1844"/>
              </a:lnSpc>
              <a:spcBef>
                <a:spcPts val="0"/>
              </a:spcBef>
              <a:spcAft>
                <a:spcPts val="0"/>
              </a:spcAft>
              <a:defRPr sz="1550" b="0">
                <a:solidFill>
                  <a:srgbClr val="173A42"/>
                </a:solidFill>
                <a:latin typeface="DejaVu Sans"/>
              </a:defRPr>
            </a:pPr>
            <a:r>
              <a:t>{}</a:t>
            </a:r>
          </a:p>
        </p:txBody>
      </p:sp>
      <p:sp>
        <p:nvSpPr>
          <p:cNvPr id="26" name="Rounded Rectangle 25"/>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Reject extra fields, fractional quantities, invalid IDs, and out-of-bounds prices locally.</a:t>
            </a:r>
          </a:p>
        </p:txBody>
      </p:sp>
      <p:cxnSp>
        <p:nvCxnSpPr>
          <p:cNvPr id="28" name="Connector 27"/>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30" name="TextBox 29"/>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0400" y="355600"/>
            <a:ext cx="10287000" cy="228600"/>
          </a:xfrm>
          <a:prstGeom prst="rect">
            <a:avLst/>
          </a:prstGeom>
          <a:noFill/>
        </p:spPr>
        <p:txBody>
          <a:bodyPr wrap="none" lIns="0" rIns="0" tIns="0" bIns="0">
            <a:spAutoFit/>
          </a:bodyPr>
          <a:lstStyle/>
          <a:p>
            <a:pPr>
              <a:lnSpc>
                <a:spcPts val="1270"/>
              </a:lnSpc>
              <a:spcBef>
                <a:spcPts val="0"/>
              </a:spcBef>
              <a:spcAft>
                <a:spcPts val="0"/>
              </a:spcAft>
              <a:defRPr sz="1000" b="1">
                <a:solidFill>
                  <a:srgbClr val="008C7B"/>
                </a:solidFill>
                <a:latin typeface="DejaVu Sans"/>
              </a:defRPr>
            </a:pPr>
            <a:r>
              <a:t>REFERENCE / ONE ACTION</a:t>
            </a:r>
          </a:p>
        </p:txBody>
      </p:sp>
      <p:sp>
        <p:nvSpPr>
          <p:cNvPr id="4" name="TextBox 3"/>
          <p:cNvSpPr txBox="1"/>
          <p:nvPr/>
        </p:nvSpPr>
        <p:spPr>
          <a:xfrm>
            <a:off x="660400" y="825500"/>
            <a:ext cx="10871200" cy="1143000"/>
          </a:xfrm>
          <a:prstGeom prst="rect">
            <a:avLst/>
          </a:prstGeom>
          <a:noFill/>
        </p:spPr>
        <p:txBody>
          <a:bodyPr wrap="none" lIns="0" rIns="0" tIns="0" bIns="0">
            <a:spAutoFit/>
          </a:bodyPr>
          <a:lstStyle/>
          <a:p>
            <a:pPr>
              <a:lnSpc>
                <a:spcPts val="3596"/>
              </a:lnSpc>
              <a:spcBef>
                <a:spcPts val="0"/>
              </a:spcBef>
              <a:spcAft>
                <a:spcPts val="0"/>
              </a:spcAft>
              <a:defRPr sz="3100" b="1">
                <a:solidFill>
                  <a:srgbClr val="173A42"/>
                </a:solidFill>
                <a:latin typeface="DejaVu Sans"/>
              </a:defRPr>
            </a:pPr>
            <a:r>
              <a:t>One validated request. One logged outcome.</a:t>
            </a:r>
          </a:p>
        </p:txBody>
      </p:sp>
      <p:sp>
        <p:nvSpPr>
          <p:cNvPr id="5" name="Rounded Rectangle 4"/>
          <p:cNvSpPr/>
          <p:nvPr/>
        </p:nvSpPr>
        <p:spPr>
          <a:xfrm>
            <a:off x="660400" y="2082800"/>
            <a:ext cx="5308600" cy="3543300"/>
          </a:xfrm>
          <a:prstGeom prst="roundRect">
            <a:avLst>
              <a:gd name="adj" fmla="val 3584"/>
            </a:avLst>
          </a:prstGeom>
          <a:solidFill>
            <a:srgbClr val="173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9000" y="2311400"/>
            <a:ext cx="4826000" cy="241300"/>
          </a:xfrm>
          <a:prstGeom prst="rect">
            <a:avLst/>
          </a:prstGeom>
          <a:noFill/>
        </p:spPr>
        <p:txBody>
          <a:bodyPr wrap="none" lIns="0" rIns="0" tIns="0" bIns="0">
            <a:spAutoFit/>
          </a:bodyPr>
          <a:lstStyle/>
          <a:p>
            <a:pPr>
              <a:lnSpc>
                <a:spcPts val="1270"/>
              </a:lnSpc>
              <a:spcBef>
                <a:spcPts val="0"/>
              </a:spcBef>
              <a:spcAft>
                <a:spcPts val="0"/>
              </a:spcAft>
              <a:defRPr sz="1000" b="1">
                <a:solidFill>
                  <a:srgbClr val="CAEFA1"/>
                </a:solidFill>
                <a:latin typeface="DejaVu Sans"/>
              </a:defRPr>
            </a:pPr>
            <a:r>
              <a:t>REQUEST</a:t>
            </a:r>
          </a:p>
        </p:txBody>
      </p:sp>
      <p:sp>
        <p:nvSpPr>
          <p:cNvPr id="7" name="TextBox 6"/>
          <p:cNvSpPr txBox="1"/>
          <p:nvPr/>
        </p:nvSpPr>
        <p:spPr>
          <a:xfrm>
            <a:off x="889000" y="2730500"/>
            <a:ext cx="4851400" cy="2794000"/>
          </a:xfrm>
          <a:prstGeom prst="rect">
            <a:avLst/>
          </a:prstGeom>
          <a:noFill/>
        </p:spPr>
        <p:txBody>
          <a:bodyPr wrap="none" lIns="0" rIns="0" tIns="0" bIns="0">
            <a:spAutoFit/>
          </a:bodyPr>
          <a:lstStyle/>
          <a:p>
            <a:pPr>
              <a:lnSpc>
                <a:spcPts val="1849"/>
              </a:lnSpc>
              <a:spcBef>
                <a:spcPts val="0"/>
              </a:spcBef>
              <a:spcAft>
                <a:spcPts val="0"/>
              </a:spcAft>
              <a:defRPr sz="1350" b="0">
                <a:solidFill>
                  <a:srgbClr val="FFFFFF"/>
                </a:solidFill>
                <a:latin typeface="DejaVu Sans Mono"/>
              </a:defRPr>
            </a:pPr>
            <a:r>
              <a:t>POST /env/{env_id}/make_offer</a:t>
            </a:r>
          </a:p>
          <a:p>
            <a:pPr>
              <a:lnSpc>
                <a:spcPts val="1849"/>
              </a:lnSpc>
              <a:spcBef>
                <a:spcPts val="0"/>
              </a:spcBef>
              <a:spcAft>
                <a:spcPts val="0"/>
              </a:spcAft>
              <a:defRPr sz="1350" b="0">
                <a:solidFill>
                  <a:srgbClr val="FFFFFF"/>
                </a:solidFill>
                <a:latin typeface="DejaVu Sans Mono"/>
              </a:defRPr>
            </a:pPr>
            <a:r>
              <a:t>Idempotency-Key: purchase-0001</a:t>
            </a:r>
          </a:p>
          <a:p>
            <a:pPr>
              <a:lnSpc>
                <a:spcPts val="1849"/>
              </a:lnSpc>
              <a:spcBef>
                <a:spcPts val="0"/>
              </a:spcBef>
              <a:spcAft>
                <a:spcPts val="0"/>
              </a:spcAft>
              <a:defRPr sz="1350" b="0">
                <a:solidFill>
                  <a:srgbClr val="FFFFFF"/>
                </a:solidFill>
                <a:latin typeface="DejaVu Sans Mono"/>
              </a:defRPr>
            </a:pPr>
          </a:p>
          <a:p>
            <a:pPr>
              <a:lnSpc>
                <a:spcPts val="1849"/>
              </a:lnSpc>
              <a:spcBef>
                <a:spcPts val="0"/>
              </a:spcBef>
              <a:spcAft>
                <a:spcPts val="0"/>
              </a:spcAft>
              <a:defRPr sz="1350" b="0">
                <a:solidFill>
                  <a:srgbClr val="FFFFFF"/>
                </a:solidFill>
                <a:latin typeface="DejaVu Sans Mono"/>
              </a:defRPr>
            </a:pPr>
            <a:r>
              <a:t>{</a:t>
            </a:r>
          </a:p>
          <a:p>
            <a:pPr>
              <a:lnSpc>
                <a:spcPts val="1849"/>
              </a:lnSpc>
              <a:spcBef>
                <a:spcPts val="0"/>
              </a:spcBef>
              <a:spcAft>
                <a:spcPts val="0"/>
              </a:spcAft>
              <a:defRPr sz="1350" b="0">
                <a:solidFill>
                  <a:srgbClr val="FFFFFF"/>
                </a:solidFill>
                <a:latin typeface="DejaVu Sans Mono"/>
              </a:defRPr>
            </a:pPr>
            <a:r>
              <a:t>  "supplier_id": "s01",</a:t>
            </a:r>
          </a:p>
          <a:p>
            <a:pPr>
              <a:lnSpc>
                <a:spcPts val="1849"/>
              </a:lnSpc>
              <a:spcBef>
                <a:spcPts val="0"/>
              </a:spcBef>
              <a:spcAft>
                <a:spcPts val="0"/>
              </a:spcAft>
              <a:defRPr sz="1350" b="0">
                <a:solidFill>
                  <a:srgbClr val="FFFFFF"/>
                </a:solidFill>
                <a:latin typeface="DejaVu Sans Mono"/>
              </a:defRPr>
            </a:pPr>
            <a:r>
              <a:t>  "product_id": "p01",</a:t>
            </a:r>
          </a:p>
          <a:p>
            <a:pPr>
              <a:lnSpc>
                <a:spcPts val="1849"/>
              </a:lnSpc>
              <a:spcBef>
                <a:spcPts val="0"/>
              </a:spcBef>
              <a:spcAft>
                <a:spcPts val="0"/>
              </a:spcAft>
              <a:defRPr sz="1350" b="0">
                <a:solidFill>
                  <a:srgbClr val="FFFFFF"/>
                </a:solidFill>
                <a:latin typeface="DejaVu Sans Mono"/>
              </a:defRPr>
            </a:pPr>
            <a:r>
              <a:t>  "quantity": 10,</a:t>
            </a:r>
          </a:p>
          <a:p>
            <a:pPr>
              <a:lnSpc>
                <a:spcPts val="1849"/>
              </a:lnSpc>
              <a:spcBef>
                <a:spcPts val="0"/>
              </a:spcBef>
              <a:spcAft>
                <a:spcPts val="0"/>
              </a:spcAft>
              <a:defRPr sz="1350" b="0">
                <a:solidFill>
                  <a:srgbClr val="FFFFFF"/>
                </a:solidFill>
                <a:latin typeface="DejaVu Sans Mono"/>
              </a:defRPr>
            </a:pPr>
            <a:r>
              <a:t>  "unit_price_cents": 100</a:t>
            </a:r>
          </a:p>
          <a:p>
            <a:pPr>
              <a:lnSpc>
                <a:spcPts val="1849"/>
              </a:lnSpc>
              <a:spcBef>
                <a:spcPts val="0"/>
              </a:spcBef>
              <a:spcAft>
                <a:spcPts val="0"/>
              </a:spcAft>
              <a:defRPr sz="1350" b="0">
                <a:solidFill>
                  <a:srgbClr val="FFFFFF"/>
                </a:solidFill>
                <a:latin typeface="DejaVu Sans Mono"/>
              </a:defRPr>
            </a:pPr>
            <a:r>
              <a:t>}</a:t>
            </a:r>
          </a:p>
        </p:txBody>
      </p:sp>
      <p:sp>
        <p:nvSpPr>
          <p:cNvPr id="8" name="Rounded Rectangle 7"/>
          <p:cNvSpPr/>
          <p:nvPr/>
        </p:nvSpPr>
        <p:spPr>
          <a:xfrm>
            <a:off x="6223000" y="2082800"/>
            <a:ext cx="5308600" cy="3543300"/>
          </a:xfrm>
          <a:prstGeom prst="roundRect">
            <a:avLst>
              <a:gd name="adj" fmla="val 3584"/>
            </a:avLst>
          </a:prstGeom>
          <a:solidFill>
            <a:srgbClr val="173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51600" y="2311400"/>
            <a:ext cx="4826000" cy="241300"/>
          </a:xfrm>
          <a:prstGeom prst="rect">
            <a:avLst/>
          </a:prstGeom>
          <a:noFill/>
        </p:spPr>
        <p:txBody>
          <a:bodyPr wrap="none" lIns="0" rIns="0" tIns="0" bIns="0">
            <a:spAutoFit/>
          </a:bodyPr>
          <a:lstStyle/>
          <a:p>
            <a:pPr>
              <a:lnSpc>
                <a:spcPts val="1270"/>
              </a:lnSpc>
              <a:spcBef>
                <a:spcPts val="0"/>
              </a:spcBef>
              <a:spcAft>
                <a:spcPts val="0"/>
              </a:spcAft>
              <a:defRPr sz="1000" b="1">
                <a:solidFill>
                  <a:srgbClr val="CAEFA1"/>
                </a:solidFill>
                <a:latin typeface="DejaVu Sans"/>
              </a:defRPr>
            </a:pPr>
            <a:r>
              <a:t>RESPONSE EXCERPT</a:t>
            </a:r>
          </a:p>
        </p:txBody>
      </p:sp>
      <p:sp>
        <p:nvSpPr>
          <p:cNvPr id="10" name="TextBox 9"/>
          <p:cNvSpPr txBox="1"/>
          <p:nvPr/>
        </p:nvSpPr>
        <p:spPr>
          <a:xfrm>
            <a:off x="6451600" y="2730500"/>
            <a:ext cx="4851400" cy="2794000"/>
          </a:xfrm>
          <a:prstGeom prst="rect">
            <a:avLst/>
          </a:prstGeom>
          <a:noFill/>
        </p:spPr>
        <p:txBody>
          <a:bodyPr wrap="none" lIns="0" rIns="0" tIns="0" bIns="0">
            <a:spAutoFit/>
          </a:bodyPr>
          <a:lstStyle/>
          <a:p>
            <a:pPr>
              <a:lnSpc>
                <a:spcPts val="1849"/>
              </a:lnSpc>
              <a:spcBef>
                <a:spcPts val="0"/>
              </a:spcBef>
              <a:spcAft>
                <a:spcPts val="0"/>
              </a:spcAft>
              <a:defRPr sz="1350" b="0">
                <a:solidFill>
                  <a:srgbClr val="FFFFFF"/>
                </a:solidFill>
                <a:latin typeface="DejaVu Sans Mono"/>
              </a:defRPr>
            </a:pPr>
            <a:r>
              <a:t>{</a:t>
            </a:r>
          </a:p>
          <a:p>
            <a:pPr>
              <a:lnSpc>
                <a:spcPts val="1849"/>
              </a:lnSpc>
              <a:spcBef>
                <a:spcPts val="0"/>
              </a:spcBef>
              <a:spcAft>
                <a:spcPts val="0"/>
              </a:spcAft>
              <a:defRPr sz="1350" b="0">
                <a:solidFill>
                  <a:srgbClr val="FFFFFF"/>
                </a:solidFill>
                <a:latin typeface="DejaVu Sans Mono"/>
              </a:defRPr>
            </a:pPr>
            <a:r>
              <a:t>  "state": "running",</a:t>
            </a:r>
          </a:p>
          <a:p>
            <a:pPr>
              <a:lnSpc>
                <a:spcPts val="1849"/>
              </a:lnSpc>
              <a:spcBef>
                <a:spcPts val="0"/>
              </a:spcBef>
              <a:spcAft>
                <a:spcPts val="0"/>
              </a:spcAft>
              <a:defRPr sz="1350" b="0">
                <a:solidFill>
                  <a:srgbClr val="FFFFFF"/>
                </a:solidFill>
                <a:latin typeface="DejaVu Sans Mono"/>
              </a:defRPr>
            </a:pPr>
            <a:r>
              <a:t>  "elapsed_minutes": 75,</a:t>
            </a:r>
          </a:p>
          <a:p>
            <a:pPr>
              <a:lnSpc>
                <a:spcPts val="1849"/>
              </a:lnSpc>
              <a:spcBef>
                <a:spcPts val="0"/>
              </a:spcBef>
              <a:spcAft>
                <a:spcPts val="0"/>
              </a:spcAft>
              <a:defRPr sz="1350" b="0">
                <a:solidFill>
                  <a:srgbClr val="FFFFFF"/>
                </a:solidFill>
                <a:latin typeface="DejaVu Sans Mono"/>
              </a:defRPr>
            </a:pPr>
            <a:r>
              <a:t>  "result": {</a:t>
            </a:r>
          </a:p>
          <a:p>
            <a:pPr>
              <a:lnSpc>
                <a:spcPts val="1849"/>
              </a:lnSpc>
              <a:spcBef>
                <a:spcPts val="0"/>
              </a:spcBef>
              <a:spcAft>
                <a:spcPts val="0"/>
              </a:spcAft>
              <a:defRPr sz="1350" b="0">
                <a:solidFill>
                  <a:srgbClr val="FFFFFF"/>
                </a:solidFill>
                <a:latin typeface="DejaVu Sans Mono"/>
              </a:defRPr>
            </a:pPr>
            <a:r>
              <a:t>    "outcome": "counteroffer",</a:t>
            </a:r>
          </a:p>
          <a:p>
            <a:pPr>
              <a:lnSpc>
                <a:spcPts val="1849"/>
              </a:lnSpc>
              <a:spcBef>
                <a:spcPts val="0"/>
              </a:spcBef>
              <a:spcAft>
                <a:spcPts val="0"/>
              </a:spcAft>
              <a:defRPr sz="1350" b="0">
                <a:solidFill>
                  <a:srgbClr val="FFFFFF"/>
                </a:solidFill>
                <a:latin typeface="DejaVu Sans Mono"/>
              </a:defRPr>
            </a:pPr>
            <a:r>
              <a:t>    "unit_price_cents": 110</a:t>
            </a:r>
          </a:p>
          <a:p>
            <a:pPr>
              <a:lnSpc>
                <a:spcPts val="1849"/>
              </a:lnSpc>
              <a:spcBef>
                <a:spcPts val="0"/>
              </a:spcBef>
              <a:spcAft>
                <a:spcPts val="0"/>
              </a:spcAft>
              <a:defRPr sz="1350" b="0">
                <a:solidFill>
                  <a:srgbClr val="FFFFFF"/>
                </a:solidFill>
                <a:latin typeface="DejaVu Sans Mono"/>
              </a:defRPr>
            </a:pPr>
            <a:r>
              <a:t>  }</a:t>
            </a:r>
          </a:p>
          <a:p>
            <a:pPr>
              <a:lnSpc>
                <a:spcPts val="1849"/>
              </a:lnSpc>
              <a:spcBef>
                <a:spcPts val="0"/>
              </a:spcBef>
              <a:spcAft>
                <a:spcPts val="0"/>
              </a:spcAft>
              <a:defRPr sz="1350" b="0">
                <a:solidFill>
                  <a:srgbClr val="FFFFFF"/>
                </a:solidFill>
                <a:latin typeface="DejaVu Sans Mono"/>
              </a:defRPr>
            </a:pPr>
            <a:r>
              <a:t>}</a:t>
            </a:r>
          </a:p>
        </p:txBody>
      </p:sp>
      <p:sp>
        <p:nvSpPr>
          <p:cNvPr id="11" name="Rounded Rectangle 10"/>
          <p:cNvSpPr/>
          <p:nvPr/>
        </p:nvSpPr>
        <p:spPr>
          <a:xfrm>
            <a:off x="660400" y="5842000"/>
            <a:ext cx="10871200" cy="546100"/>
          </a:xfrm>
          <a:prstGeom prst="roundRect">
            <a:avLst>
              <a:gd name="adj" fmla="val 15000"/>
            </a:avLst>
          </a:prstGeom>
          <a:solidFill>
            <a:srgbClr val="E8F3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8200" y="5994400"/>
            <a:ext cx="10502900" cy="355600"/>
          </a:xfrm>
          <a:prstGeom prst="rect">
            <a:avLst/>
          </a:prstGeom>
          <a:noFill/>
        </p:spPr>
        <p:txBody>
          <a:bodyPr wrap="none" lIns="0" rIns="0" tIns="0" bIns="0">
            <a:spAutoFit/>
          </a:bodyPr>
          <a:lstStyle/>
          <a:p>
            <a:pPr>
              <a:lnSpc>
                <a:spcPts val="1380"/>
              </a:lnSpc>
              <a:spcBef>
                <a:spcPts val="0"/>
              </a:spcBef>
              <a:spcAft>
                <a:spcPts val="0"/>
              </a:spcAft>
              <a:defRPr sz="1200" b="1">
                <a:solidFill>
                  <a:srgbClr val="173A42"/>
                </a:solidFill>
                <a:latin typeface="DejaVu Sans"/>
              </a:defRPr>
            </a:pPr>
            <a:r>
              <a:t>Illustrative response excerpt. A counteroffer moves no cash or goods.</a:t>
            </a:r>
          </a:p>
        </p:txBody>
      </p:sp>
      <p:cxnSp>
        <p:nvCxnSpPr>
          <p:cNvPr id="13" name="Connector 12"/>
          <p:cNvCxnSpPr/>
          <p:nvPr/>
        </p:nvCxnSpPr>
        <p:spPr>
          <a:xfrm>
            <a:off x="660400" y="6565900"/>
            <a:ext cx="10871200" cy="0"/>
          </a:xfrm>
          <a:prstGeom prst="line">
            <a:avLst/>
          </a:prstGeom>
          <a:ln w="8255">
            <a:solidFill>
              <a:srgbClr val="DCE6E2"/>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60400" y="6654800"/>
            <a:ext cx="8509000" cy="127000"/>
          </a:xfrm>
          <a:prstGeom prst="rect">
            <a:avLst/>
          </a:prstGeom>
          <a:noFill/>
        </p:spPr>
        <p:txBody>
          <a:bodyPr wrap="none" lIns="0" rIns="0" tIns="0" bIns="0">
            <a:spAutoFit/>
          </a:bodyPr>
          <a:lstStyle/>
          <a:p>
            <a:pPr>
              <a:lnSpc>
                <a:spcPts val="952"/>
              </a:lnSpc>
              <a:spcBef>
                <a:spcPts val="0"/>
              </a:spcBef>
              <a:spcAft>
                <a:spcPts val="0"/>
              </a:spcAft>
              <a:defRPr sz="750" b="0">
                <a:solidFill>
                  <a:srgbClr val="557079"/>
                </a:solidFill>
                <a:latin typeface="DejaVu Sans"/>
              </a:defRPr>
            </a:pPr>
            <a:r>
              <a:t>VENDING BENCH  /  PARTICIPANT BRIEFING</a:t>
            </a:r>
          </a:p>
        </p:txBody>
      </p:sp>
      <p:sp>
        <p:nvSpPr>
          <p:cNvPr id="15" name="TextBox 14"/>
          <p:cNvSpPr txBox="1"/>
          <p:nvPr/>
        </p:nvSpPr>
        <p:spPr>
          <a:xfrm>
            <a:off x="11188700" y="6642100"/>
            <a:ext cx="342900" cy="152400"/>
          </a:xfrm>
          <a:prstGeom prst="rect">
            <a:avLst/>
          </a:prstGeom>
          <a:noFill/>
        </p:spPr>
        <p:txBody>
          <a:bodyPr wrap="none" lIns="0" rIns="0" tIns="0" bIns="0">
            <a:spAutoFit/>
          </a:bodyPr>
          <a:lstStyle/>
          <a:p>
            <a:pPr>
              <a:lnSpc>
                <a:spcPts val="1143"/>
              </a:lnSpc>
              <a:spcBef>
                <a:spcPts val="0"/>
              </a:spcBef>
              <a:spcAft>
                <a:spcPts val="0"/>
              </a:spcAft>
              <a:defRPr sz="900" b="1">
                <a:solidFill>
                  <a:srgbClr val="008C7B"/>
                </a:solidFill>
                <a:latin typeface="DejaVu Sans"/>
              </a:defRPr>
            </a:pPr>
            <a: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Vending Bench — Harness Design Challenge</dc:title>
  <dc:subject>Participant briefing for a pre-generated test environment</dc:subject>
  <dc:creator>Vending Bench</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